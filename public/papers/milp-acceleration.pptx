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MILP는 NP-hard. 속도 향상은 '탐색 트리를 작게' 또는 '노드당 비용을 작게'로 귀결.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4~9가 각 축을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Achterberg 외 논문은 Gurobi 구현 기준의 분류와 일부 신규 기법을 기술.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branching은 정확하지만 비싸고, pseudocost는 싸지만 초기엔 부정확. 하이브리드.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 솔버의 clause learning을 MIP로 이식.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동일 설비·동일 기계 모델에서 순열 대칭이 트리를 폭증시킴.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UB가 좋으면 가지치기가 일찍 일어난다. MIP start가 그 입구.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Benders는 복잡 변수(정수) / 쉬운 변수(연속)를 나눔. 열 생성은 변수가 너무 많을 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교과서적 기법. 특정 논문 인용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공식 매뉴얼에서 최종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우선순위: 정식화 &gt; 초기해 &gt; 파라미터 &gt; 분해.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Operations Research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MILP 솔버 연산 가속화,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논문으로 읽는 수리적 방법론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· Branching · Symmetry · Primal heuristics · Decomposition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느린가: NP-hard와 분지한계(B&amp;B)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583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1400" dirty="0"/>
          </a:p>
        </p:txBody>
      </p:sp>
      <p:pic>
        <p:nvPicPr>
          <p:cNvPr id="6" name="eq lp" descr="l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289" y="2077974"/>
            <a:ext cx="5342382" cy="416052"/>
          </a:xfrm>
          <a:prstGeom prst="rect">
            <a:avLst/>
          </a:prstGeom>
        </p:spPr>
      </p:pic>
      <p:sp>
        <p:nvSpPr>
          <p:cNvPr id="7" name="formula card"/>
          <p:cNvSpPr/>
          <p:nvPr/>
        </p:nvSpPr>
        <p:spPr>
          <a:xfrm>
            <a:off x="548640" y="2926080"/>
            <a:ext cx="6583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108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상대 갭 (MIPGap 도달 시 종료)</a:t>
            </a:r>
            <a:endParaRPr lang="en-US" sz="1400" dirty="0"/>
          </a:p>
        </p:txBody>
      </p:sp>
      <p:pic>
        <p:nvPicPr>
          <p:cNvPr id="9" name="eq gap" descr="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3593592"/>
            <a:ext cx="2249424" cy="7680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4846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트리 크기는 정수 변수 수에 지수적으로 증가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 = 노드 수 × 노드당 LP 비용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가속 기법은 둘 중 하나를 줄인다</a:t>
            </a:r>
            <a:endParaRPr lang="en-US" sz="1800" dirty="0"/>
          </a:p>
        </p:txBody>
      </p:sp>
      <p:sp>
        <p:nvSpPr>
          <p:cNvPr id="11" name="nodes card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90956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수를 줄이는 기법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909560" y="20574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· 분지 규칙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Conflict 학습 · 대칭성 처리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좋은 초기해(UB)</a:t>
            </a:r>
            <a:endParaRPr lang="en-US" sz="1400" dirty="0"/>
          </a:p>
        </p:txBody>
      </p:sp>
      <p:sp>
        <p:nvSpPr>
          <p:cNvPr id="14" name="cost card"/>
          <p:cNvSpPr/>
          <p:nvPr/>
        </p:nvSpPr>
        <p:spPr>
          <a:xfrm>
            <a:off x="7680960" y="384048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90956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노드당 비용을 줄이는 기법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909560" y="452628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강한 정식화(작은 Big-M)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분해(Benders · 열 생성)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Barrier/Simplex 선택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&amp; Wunderling (2013), Mixed Integer Programming: Analyzing 12 Years of Progress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지도: 4개 축, 9편</a:t>
            </a:r>
            <a:endParaRPr lang="en-US" sz="3200" dirty="0"/>
          </a:p>
        </p:txBody>
      </p:sp>
      <p:sp>
        <p:nvSpPr>
          <p:cNvPr id="4" name="map0 card"/>
          <p:cNvSpPr/>
          <p:nvPr/>
        </p:nvSpPr>
        <p:spPr>
          <a:xfrm>
            <a:off x="548640" y="1463040"/>
            <a:ext cx="2651760" cy="438912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전처리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4884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2019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Reductions in MIP</a:t>
            </a:r>
            <a:endParaRPr lang="en-US" sz="1400" dirty="0"/>
          </a:p>
        </p:txBody>
      </p:sp>
      <p:sp>
        <p:nvSpPr>
          <p:cNvPr id="7" name="map1 card"/>
          <p:cNvSpPr/>
          <p:nvPr/>
        </p:nvSpPr>
        <p:spPr>
          <a:xfrm>
            <a:off x="3383280" y="1463040"/>
            <a:ext cx="2651760" cy="438912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탐색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14884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Achterberg·Koch·Martin 2005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Branching Rules Revisited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2007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Conflict Analysis in MIP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 2003 (대칭성)</a:t>
            </a:r>
            <a:endParaRPr lang="en-US" sz="1400" dirty="0"/>
          </a:p>
        </p:txBody>
      </p:sp>
      <p:sp>
        <p:nvSpPr>
          <p:cNvPr id="10" name="map2 card"/>
          <p:cNvSpPr/>
          <p:nvPr/>
        </p:nvSpPr>
        <p:spPr>
          <a:xfrm>
            <a:off x="6217920" y="1463040"/>
            <a:ext cx="2651760" cy="438912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해 찾기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14884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Fischetti &amp; Lodi 2003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Local Branching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Danna et al. 2005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</a:t>
            </a:r>
            <a:endParaRPr lang="en-US" sz="1400" dirty="0"/>
          </a:p>
        </p:txBody>
      </p:sp>
      <p:sp>
        <p:nvSpPr>
          <p:cNvPr id="13" name="map3 card"/>
          <p:cNvSpPr/>
          <p:nvPr/>
        </p:nvSpPr>
        <p:spPr>
          <a:xfrm>
            <a:off x="9052560" y="1463040"/>
            <a:ext cx="2651760" cy="438912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분해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14884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 et al. 2017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 문헌 리뷰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 &amp; Desrosiers 2005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벤치마크: MIPLIB 2017 (Gleixner et al., 2021, Math. Prog. Comp. 13) — 1,065개 인스턴스, 240개 벤치마크 부분집합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Presolve: 풀기 전에 모델을 줄인다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고정·제거, 중복 제약 삭제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경계(bound) 강화로 LP 완화를 조임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강화(coefficient tightening)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결과: 같은 문제를 더 작고 강한 모델로</a:t>
            </a:r>
            <a:endParaRPr lang="en-US" sz="2000" dirty="0"/>
          </a:p>
        </p:txBody>
      </p:sp>
      <p:sp>
        <p:nvSpPr>
          <p:cNvPr id="5" name="formula card"/>
          <p:cNvSpPr/>
          <p:nvPr/>
        </p:nvSpPr>
        <p:spPr>
          <a:xfrm>
            <a:off x="6583680" y="1371600"/>
            <a:ext cx="50292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활동량 범위로 제약 판정</a:t>
            </a:r>
            <a:endParaRPr lang="en-US" sz="1400" dirty="0"/>
          </a:p>
        </p:txBody>
      </p:sp>
      <p:pic>
        <p:nvPicPr>
          <p:cNvPr id="7" name="eq actL" descr="act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7377" y="1984248"/>
            <a:ext cx="1621805" cy="512064"/>
          </a:xfrm>
          <a:prstGeom prst="rect">
            <a:avLst/>
          </a:prstGeom>
        </p:spPr>
      </p:pic>
      <p:pic>
        <p:nvPicPr>
          <p:cNvPr id="8" name="eq actU" descr="act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378" y="2624328"/>
            <a:ext cx="1663804" cy="512064"/>
          </a:xfrm>
          <a:prstGeom prst="rect">
            <a:avLst/>
          </a:prstGeom>
        </p:spPr>
      </p:pic>
      <p:pic>
        <p:nvPicPr>
          <p:cNvPr id="9" name="eq pre1" descr="pre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670" y="3340989"/>
            <a:ext cx="2903220" cy="358902"/>
          </a:xfrm>
          <a:prstGeom prst="rect">
            <a:avLst/>
          </a:prstGeom>
        </p:spPr>
      </p:pic>
      <p:pic>
        <p:nvPicPr>
          <p:cNvPr id="10" name="eq pre2" descr="pre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679" y="3981069"/>
            <a:ext cx="2759202" cy="358902"/>
          </a:xfrm>
          <a:prstGeom prst="rect">
            <a:avLst/>
          </a:prstGeom>
        </p:spPr>
      </p:pic>
      <p:sp>
        <p:nvSpPr>
          <p:cNvPr id="11" name="presolve card"/>
          <p:cNvSpPr/>
          <p:nvPr/>
        </p:nvSpPr>
        <p:spPr>
          <a:xfrm>
            <a:off x="6583680" y="4709160"/>
            <a:ext cx="50292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681228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솔버 설정</a:t>
            </a:r>
            <a:endParaRPr lang="en-US" sz="1800" dirty="0"/>
          </a:p>
        </p:txBody>
      </p:sp>
      <p:sp>
        <p:nvSpPr>
          <p:cNvPr id="13" name="Text 6"/>
          <p:cNvSpPr txBox="1"/>
          <p:nvPr/>
        </p:nvSpPr>
        <p:spPr>
          <a:xfrm>
            <a:off x="681228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  Presolve = 2 (aggressive)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CPLEX  PREIND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논문: presolve가 '풀 수 없음 ↔ 풀 수 있음'을 가르기도 함</a:t>
            </a:r>
            <a:endParaRPr lang="en-US" sz="14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 (2019), Presolve Reductions in MIP, INFORMS J. Computing, doi:10.1287/ijoc.2018.0857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분지 규칙: Reliability Branching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766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점수</a:t>
            </a:r>
            <a:endParaRPr lang="en-US" sz="1400" dirty="0"/>
          </a:p>
        </p:txBody>
      </p:sp>
      <p:pic>
        <p:nvPicPr>
          <p:cNvPr id="6" name="eq score" descr="s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339" y="1965960"/>
            <a:ext cx="4725162" cy="45948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6639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Δ± : 변수 j를 내림/올림할 때 LP 하한 증가량</a:t>
            </a:r>
            <a:endParaRPr lang="en-US" sz="1200" dirty="0"/>
          </a:p>
        </p:txBody>
      </p:sp>
      <p:sp>
        <p:nvSpPr>
          <p:cNvPr id="8" name="formula card"/>
          <p:cNvSpPr/>
          <p:nvPr/>
        </p:nvSpPr>
        <p:spPr>
          <a:xfrm>
            <a:off x="548640" y="3291840"/>
            <a:ext cx="67665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474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 (n : 분지 횟수)</a:t>
            </a:r>
            <a:endParaRPr lang="en-US" sz="1400" dirty="0"/>
          </a:p>
        </p:txBody>
      </p:sp>
      <p:pic>
        <p:nvPicPr>
          <p:cNvPr id="10" name="eq pc" descr="p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34" y="3886200"/>
            <a:ext cx="1490572" cy="8778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2960" y="4835347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 &lt; η → strong branching,  n ≥ η → pseudocost 사용</a:t>
            </a:r>
            <a:endParaRPr lang="en-US" sz="1200" dirty="0"/>
          </a:p>
        </p:txBody>
      </p:sp>
      <p:sp>
        <p:nvSpPr>
          <p:cNvPr id="12" name="rel card"/>
          <p:cNvSpPr/>
          <p:nvPr/>
        </p:nvSpPr>
        <p:spPr>
          <a:xfrm>
            <a:off x="7680960" y="137160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90956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아이디어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909560" y="205740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초반 노드: 정확한 strong branching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신뢰가 쌓이면: 싼 pseudocost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트리 크기와 시간의 절충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CPLEX 11 이후 pseudo cost 규칙은 reliability branching과 사실상 동일 (IBM 커뮤니티 언급)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Operations Research Letters 33, 42–54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Conflict Analysis: 실패에서 배운다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노드가 비실현이면 원인이 된 bound 변경 집합을 찾는다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조합을 금지하는 제약(conflict constraint)을 생성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비슷한 하위 트리를 다시 탐색하지 않는다</a:t>
            </a:r>
            <a:endParaRPr lang="en-US" sz="2000" dirty="0"/>
          </a:p>
        </p:txBody>
      </p:sp>
      <p:sp>
        <p:nvSpPr>
          <p:cNvPr id="5" name="formula card"/>
          <p:cNvSpPr/>
          <p:nvPr/>
        </p:nvSpPr>
        <p:spPr>
          <a:xfrm>
            <a:off x="6583680" y="146304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제약 (이진 변수)</a:t>
            </a:r>
            <a:endParaRPr lang="en-US" sz="1400" dirty="0"/>
          </a:p>
        </p:txBody>
      </p:sp>
      <p:pic>
        <p:nvPicPr>
          <p:cNvPr id="7" name="eq conf0" descr="conf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19999"/>
            <a:ext cx="4480560" cy="314883"/>
          </a:xfrm>
          <a:prstGeom prst="rect">
            <a:avLst/>
          </a:prstGeom>
        </p:spPr>
      </p:pic>
      <p:pic>
        <p:nvPicPr>
          <p:cNvPr id="8" name="eq conf1" descr="conf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79" y="2788920"/>
            <a:ext cx="3673602" cy="36347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858000" y="324063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조합을 금지하는 제약을 추가</a:t>
            </a:r>
            <a:endParaRPr lang="en-US" sz="1200" dirty="0"/>
          </a:p>
        </p:txBody>
      </p:sp>
      <p:sp>
        <p:nvSpPr>
          <p:cNvPr id="10" name="conf card"/>
          <p:cNvSpPr/>
          <p:nvPr/>
        </p:nvSpPr>
        <p:spPr>
          <a:xfrm>
            <a:off x="6583680" y="374904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1228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생성되는 제약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812280" y="443484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변수만이면 set covering 제약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정수면 bound disjunction 제약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Discrete Optimization 4, 4–20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대칭성: 같은 해를 두 번 보지 않는다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035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기계 M대의 순서 제약</a:t>
            </a:r>
            <a:endParaRPr lang="en-US" sz="1400" dirty="0"/>
          </a:p>
        </p:txBody>
      </p:sp>
      <p:pic>
        <p:nvPicPr>
          <p:cNvPr id="6" name="eq sym" descr="sy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782" y="2002536"/>
            <a:ext cx="3532757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01752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수준: 순서 제약(symmetry breaking)을 직접 추가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솔버 수준: 대칭군의 궤도(orbit)로 변수 고정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Margot: isomorphism pruning + orbit fixing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주의: 대칭이 거의 없는 모델엔 이득이 없다</a:t>
            </a:r>
            <a:endParaRPr lang="en-US" sz="1800" dirty="0"/>
          </a:p>
        </p:txBody>
      </p:sp>
      <p:sp>
        <p:nvSpPr>
          <p:cNvPr id="8" name="sym card"/>
          <p:cNvSpPr/>
          <p:nvPr/>
        </p:nvSpPr>
        <p:spPr>
          <a:xfrm>
            <a:off x="7040880" y="1371600"/>
            <a:ext cx="457200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 사례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2057400"/>
            <a:ext cx="41148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Set covering, covering design, 오류정정 부호 (Margot 2003)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실무: 동일 스펙 기계, 동일 차량, 동일 설비 용량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 (2003), Exploiting orbits in symmetric ILP, Math. Programming 98, 3–21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초기해와 개선 휴리스틱: UB를 빨리 낮춘다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5760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Local branching: 현재 해 x̄의 k-이웃 탐색</a:t>
            </a:r>
            <a:endParaRPr lang="en-US" sz="1400" dirty="0"/>
          </a:p>
        </p:txBody>
      </p:sp>
      <p:pic>
        <p:nvPicPr>
          <p:cNvPr id="6" name="eq lb" descr="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1965960"/>
            <a:ext cx="4475988" cy="7338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 : x̄에서 1인 변수 집합</a:t>
            </a:r>
            <a:endParaRPr lang="en-US" sz="1200" dirty="0"/>
          </a:p>
        </p:txBody>
      </p:sp>
      <p:sp>
        <p:nvSpPr>
          <p:cNvPr id="8" name="formula card"/>
          <p:cNvSpPr/>
          <p:nvPr/>
        </p:nvSpPr>
        <p:spPr>
          <a:xfrm>
            <a:off x="548640" y="3657600"/>
            <a:ext cx="5760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RINS: 합의한 변수를 고정</a:t>
            </a:r>
            <a:endParaRPr lang="en-US" sz="1400" dirty="0"/>
          </a:p>
        </p:txBody>
      </p:sp>
      <p:pic>
        <p:nvPicPr>
          <p:cNvPr id="10" name="eq rins" descr="r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4251960"/>
            <a:ext cx="2857500" cy="4229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22960" y="5263286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x̄ : incumbent,  x* : LP 완화해 → 작은 MIP를 푼다</a:t>
            </a:r>
            <a:endParaRPr lang="en-US" sz="1200" dirty="0"/>
          </a:p>
        </p:txBody>
      </p:sp>
      <p:sp>
        <p:nvSpPr>
          <p:cNvPr id="12" name="ws card"/>
          <p:cNvSpPr/>
          <p:nvPr/>
        </p:nvSpPr>
        <p:spPr>
          <a:xfrm>
            <a:off x="6766560" y="1371600"/>
            <a:ext cx="484632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9516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 Start (Warm start)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995160" y="2057400"/>
            <a:ext cx="4389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탐욕·휴리스틱으로 만든 실행가능해를 입력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초기 UB 확보, 트리 대폭 절감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RINS는 CPLEX 9.0부터 포함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Fischetti &amp; Lodi (2003), Math. Prog. 98, 23–47 · Danna, Rothberg, Le Pape (2005), Math. Prog. 102, 71–90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분해: 큰 문제를 마스터와 부문제로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5577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 마스터 문제</a:t>
            </a:r>
            <a:endParaRPr lang="en-US" sz="1400" dirty="0"/>
          </a:p>
        </p:txBody>
      </p:sp>
      <p:pic>
        <p:nvPicPr>
          <p:cNvPr id="6" name="eq ben0" descr="ben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2056638"/>
            <a:ext cx="1792224" cy="397764"/>
          </a:xfrm>
          <a:prstGeom prst="rect">
            <a:avLst/>
          </a:prstGeom>
        </p:spPr>
      </p:pic>
      <p:pic>
        <p:nvPicPr>
          <p:cNvPr id="7" name="eq ben1" descr="ben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11" y="2712339"/>
            <a:ext cx="4898898" cy="427482"/>
          </a:xfrm>
          <a:prstGeom prst="rect">
            <a:avLst/>
          </a:prstGeom>
        </p:spPr>
      </p:pic>
      <p:pic>
        <p:nvPicPr>
          <p:cNvPr id="8" name="eq ben2" descr="ben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47" y="3382899"/>
            <a:ext cx="4780026" cy="427482"/>
          </a:xfrm>
          <a:prstGeom prst="rect">
            <a:avLst/>
          </a:prstGeom>
        </p:spPr>
      </p:pic>
      <p:sp>
        <p:nvSpPr>
          <p:cNvPr id="9" name="formula card"/>
          <p:cNvSpPr/>
          <p:nvPr/>
        </p:nvSpPr>
        <p:spPr>
          <a:xfrm>
            <a:off x="548640" y="4297680"/>
            <a:ext cx="55778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8229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생성: 축소비용 &lt; 0 인 열만 추가</a:t>
            </a:r>
            <a:endParaRPr lang="en-US" sz="1400" dirty="0"/>
          </a:p>
        </p:txBody>
      </p:sp>
      <p:pic>
        <p:nvPicPr>
          <p:cNvPr id="11" name="eq cg" descr="c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92040"/>
            <a:ext cx="5029200" cy="413421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22960" y="559247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π : 축소 마스터의 쌍대값</a:t>
            </a:r>
            <a:endParaRPr lang="en-US" sz="1200" dirty="0"/>
          </a:p>
        </p:txBody>
      </p:sp>
      <p:sp>
        <p:nvSpPr>
          <p:cNvPr id="13" name="dec card"/>
          <p:cNvSpPr/>
          <p:nvPr/>
        </p:nvSpPr>
        <p:spPr>
          <a:xfrm>
            <a:off x="658368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81228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 쓰나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6812280" y="2057400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Benders: 정수 결정 + 연속 흐름 구조 (설비입지, 확률계획)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생성: 차량경로, 승무원·절단 문제처럼 가능한 패턴이 폭발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공통: 쌍대 정보로 마스터를 키운다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 (2017), EJOR 259(3), 801–817 · Lübbecke &amp; Desrosiers (2005), Oper. Res. 53(6), 1007–1023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정식화: 약한 Big-M이 LP 완화를 망친다</a:t>
            </a:r>
            <a:endParaRPr lang="en-US" sz="32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4008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Big-M 연결 제약</a:t>
            </a:r>
            <a:endParaRPr lang="en-US" sz="1400" dirty="0"/>
          </a:p>
        </p:txBody>
      </p:sp>
      <p:pic>
        <p:nvPicPr>
          <p:cNvPr id="6" name="eq bm0" descr="bm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845" y="2164842"/>
            <a:ext cx="3120390" cy="425196"/>
          </a:xfrm>
          <a:prstGeom prst="rect">
            <a:avLst/>
          </a:prstGeom>
        </p:spPr>
      </p:pic>
      <p:pic>
        <p:nvPicPr>
          <p:cNvPr id="7" name="eq bm1" descr="bm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330" y="2880360"/>
            <a:ext cx="1629420" cy="5486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2960" y="3456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M이 클수록 y가 0에 가까워져 LP 완화가 약해진다</a:t>
            </a:r>
            <a:endParaRPr lang="en-US" sz="1200" dirty="0"/>
          </a:p>
        </p:txBody>
      </p:sp>
      <p:sp>
        <p:nvSpPr>
          <p:cNvPr id="9" name="formula card"/>
          <p:cNvSpPr/>
          <p:nvPr/>
        </p:nvSpPr>
        <p:spPr>
          <a:xfrm>
            <a:off x="548640" y="4023360"/>
            <a:ext cx="6400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206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개선: M을 실제 상한으로</a:t>
            </a:r>
            <a:endParaRPr lang="en-US" sz="1400" dirty="0"/>
          </a:p>
        </p:txBody>
      </p:sp>
      <p:pic>
        <p:nvPicPr>
          <p:cNvPr id="11" name="eq bm2" descr="bm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66" y="4617720"/>
            <a:ext cx="2098548" cy="36347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" y="5131613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또는 indicator / SOS 제약, 스케일링(kg → ton)</a:t>
            </a:r>
            <a:endParaRPr lang="en-US" sz="1200" dirty="0"/>
          </a:p>
        </p:txBody>
      </p:sp>
      <p:sp>
        <p:nvSpPr>
          <p:cNvPr id="13" name="prune card"/>
          <p:cNvSpPr/>
          <p:nvPr/>
        </p:nvSpPr>
        <p:spPr>
          <a:xfrm>
            <a:off x="7315200" y="1371600"/>
            <a:ext cx="42976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54380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Variable pruning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543800" y="205740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선행·후속 공정의 최소 소요(Head/Tail)로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불가능한 시점의 이진 변수를 사전에 제거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CFLP 프로젝트의 강한 정식화 비교 실험이 이 주제의 실증 사례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파라미터 치트시트 (Gurobi / CPLEX)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10896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목적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Gurobi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CPLEX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효과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허용 갭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MIPGap (기본 1e-4)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mip.tolerances.mipgap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후반 미세 수렴 생략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탐색 초점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MIPFocus 1/2/3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MIPEMPHASIS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해 / 증명 / 하한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휴리스틱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Heuristics, NoRelHeurTime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HEURFREQ, RINSHEUR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초기해 확보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전처리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Presolve = 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PREIND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 축소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튜닝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grbtune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tuning tool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옵션 탐색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메모리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NodefileStart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NODEFILEIND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디스크 스왑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파라미터명은 각 솔버 레퍼런스 매뉴얼 기준. 문제마다 효과가 다르므로 MIPLIB식 벤치마크로 검증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정리: 무엇부터 해볼까</a:t>
            </a:r>
            <a:endParaRPr lang="en-US" sz="3200" dirty="0"/>
          </a:p>
        </p:txBody>
      </p:sp>
      <p:sp>
        <p:nvSpPr>
          <p:cNvPr id="4" name="step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정식화 점검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Big-M, 대칭성, 변수 가지치기</a:t>
            </a:r>
            <a:endParaRPr lang="en-US" sz="1500" dirty="0"/>
          </a:p>
        </p:txBody>
      </p:sp>
      <p:sp>
        <p:nvSpPr>
          <p:cNvPr id="8" name="step2"/>
          <p:cNvSpPr/>
          <p:nvPr/>
        </p:nvSpPr>
        <p:spPr>
          <a:xfrm>
            <a:off x="338328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초기해 주입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 start, 휴리스틱</a:t>
            </a:r>
            <a:endParaRPr lang="en-US" sz="1500" dirty="0"/>
          </a:p>
        </p:txBody>
      </p:sp>
      <p:sp>
        <p:nvSpPr>
          <p:cNvPr id="12" name="step3"/>
          <p:cNvSpPr/>
          <p:nvPr/>
        </p:nvSpPr>
        <p:spPr>
          <a:xfrm>
            <a:off x="621792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파라미터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MIPGap, MIPFocus, grbtune</a:t>
            </a:r>
            <a:endParaRPr lang="en-US" sz="1500" dirty="0"/>
          </a:p>
        </p:txBody>
      </p:sp>
      <p:sp>
        <p:nvSpPr>
          <p:cNvPr id="16" name="step4"/>
          <p:cNvSpPr/>
          <p:nvPr/>
        </p:nvSpPr>
        <p:spPr>
          <a:xfrm>
            <a:off x="905256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525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Benders, 열 생성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효과는 문제 구조에 의존한다. 한 가지를 바꾸고 시간·갭·노드 수를 비교하는 것이 원칙.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참고문헌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T., Wunderling, R. (2013). Mixed Integer Programming: Analyzing 12 Years of Progress. In Facets of Combinatorial Optimization, Springer, 449–481.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T., Bixby, R., Gu, Z., Rothberg, E., Weninger, D. (2019). Presolve Reductions in Mixed Integer Programming. INFORMS J. Computing. doi:10.1287/ijoc.2018.0857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T., Koch, T., Martin, A. (2005). Branching rules revisited. Oper. Res. Lett. 33, 42–54.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T. (2007). Conflict analysis in mixed integer programming. Discrete Optimization 4, 4–20.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Margot, F. (2003). Exploiting orbits in symmetric ILP. Math. Programming 98, 3–21.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Fischetti, M., Lodi, A. (2003). Local branching. Math. Programming 98, 23–47.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Danna, E., Rothberg, E., Le Pape, C. (2005). Exploring relaxation induced neighborhoods to improve MIP solutions. Math. Programming 102, 71–90.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R., Crainic, T.G., Gendreau, M., Rei, W. (2017). The Benders decomposition algorithm: A literature review. EJOR 259(3), 801–817.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M., Desrosiers, J. (2005). Selected topics in column generation. Oper. Res. 53(6), 1007–1023.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Gleixner, A. et al. (2021). MIPLIB 2017: data-driven compilation of the 6th MIP library. Math. Prog. Comp. 13(3), 443–490.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2026-10-22T09:35:30Z</dcterms:created>
  <dcterms:modified xsi:type="dcterms:W3CDTF">2026-10-22T09:35:30Z</dcterms:modified>
</cp:coreProperties>
</file>