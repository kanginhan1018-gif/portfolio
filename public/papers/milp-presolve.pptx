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리뷰 · 과외 노트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풀기 전에 모델을 줄이고 조이는 법 — 과외 노트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6EA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 · Bixby · Gu · Rothberg · Weninger, Presolve Reductions in Mixed Integer Programming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C9D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Inhan Kang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presolve는 얼마나 중요한가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0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Table 3. Gurobi 소스를 고쳐 presolve만 끈 실험, 3,182개 모델, 시간 제한 3,600초</a:t>
            </a:r>
          </a:p>
        </p:txBody>
      </p:sp>
      <p:sp>
        <p:nvSpPr>
          <p:cNvPr id="102" name="th"/>
          <p:cNvSpPr txBox="1"/>
          <p:nvPr/>
        </p:nvSpPr>
        <p:spPr>
          <a:xfrm>
            <a:off x="698640" y="1371600"/>
            <a:ext cx="28916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풀이 시간 구간</a:t>
            </a:r>
          </a:p>
        </p:txBody>
      </p:sp>
      <p:sp>
        <p:nvSpPr>
          <p:cNvPr id="103" name="th"/>
          <p:cNvSpPr txBox="1"/>
          <p:nvPr/>
        </p:nvSpPr>
        <p:spPr>
          <a:xfrm>
            <a:off x="3890247" y="1371600"/>
            <a:ext cx="1827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수</a:t>
            </a:r>
          </a:p>
        </p:txBody>
      </p:sp>
      <p:sp>
        <p:nvSpPr>
          <p:cNvPr id="104" name="th"/>
          <p:cNvSpPr txBox="1"/>
          <p:nvPr/>
        </p:nvSpPr>
        <p:spPr>
          <a:xfrm>
            <a:off x="6017985" y="1371600"/>
            <a:ext cx="3317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presolve를 끄면 시간이</a:t>
            </a:r>
          </a:p>
        </p:txBody>
      </p:sp>
      <p:sp>
        <p:nvSpPr>
          <p:cNvPr id="105" name="th"/>
          <p:cNvSpPr txBox="1"/>
          <p:nvPr/>
        </p:nvSpPr>
        <p:spPr>
          <a:xfrm>
            <a:off x="9635140" y="1371600"/>
            <a:ext cx="1827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노드 수</a:t>
            </a:r>
          </a:p>
        </p:txBody>
      </p:sp>
      <p:sp>
        <p:nvSpPr>
          <p:cNvPr id="106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7" name="cell"/>
          <p:cNvSpPr txBox="1"/>
          <p:nvPr/>
        </p:nvSpPr>
        <p:spPr>
          <a:xfrm>
            <a:off x="698640" y="1771600"/>
            <a:ext cx="289160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</a:t>
            </a:r>
          </a:p>
        </p:txBody>
      </p:sp>
      <p:sp>
        <p:nvSpPr>
          <p:cNvPr id="108" name="cell"/>
          <p:cNvSpPr txBox="1"/>
          <p:nvPr/>
        </p:nvSpPr>
        <p:spPr>
          <a:xfrm>
            <a:off x="3890247" y="177160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3,047</a:t>
            </a:r>
          </a:p>
        </p:txBody>
      </p:sp>
      <p:sp>
        <p:nvSpPr>
          <p:cNvPr id="109" name="cell"/>
          <p:cNvSpPr txBox="1"/>
          <p:nvPr/>
        </p:nvSpPr>
        <p:spPr>
          <a:xfrm>
            <a:off x="6017985" y="1771600"/>
            <a:ext cx="331715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3.36배</a:t>
            </a:r>
          </a:p>
        </p:txBody>
      </p:sp>
      <p:sp>
        <p:nvSpPr>
          <p:cNvPr id="110" name="cell"/>
          <p:cNvSpPr txBox="1"/>
          <p:nvPr/>
        </p:nvSpPr>
        <p:spPr>
          <a:xfrm>
            <a:off x="9635140" y="177160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1.27배</a:t>
            </a:r>
          </a:p>
        </p:txBody>
      </p:sp>
      <p:sp>
        <p:nvSpPr>
          <p:cNvPr id="111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2" name="cell"/>
          <p:cNvSpPr txBox="1"/>
          <p:nvPr/>
        </p:nvSpPr>
        <p:spPr>
          <a:xfrm>
            <a:off x="698640" y="2243060"/>
            <a:ext cx="289160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10초 이상</a:t>
            </a:r>
          </a:p>
        </p:txBody>
      </p:sp>
      <p:sp>
        <p:nvSpPr>
          <p:cNvPr id="113" name="cell"/>
          <p:cNvSpPr txBox="1"/>
          <p:nvPr/>
        </p:nvSpPr>
        <p:spPr>
          <a:xfrm>
            <a:off x="3890247" y="224306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1,575</a:t>
            </a:r>
          </a:p>
        </p:txBody>
      </p:sp>
      <p:sp>
        <p:nvSpPr>
          <p:cNvPr id="114" name="cell"/>
          <p:cNvSpPr txBox="1"/>
          <p:nvPr/>
        </p:nvSpPr>
        <p:spPr>
          <a:xfrm>
            <a:off x="6017985" y="2243060"/>
            <a:ext cx="331715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9.05배</a:t>
            </a:r>
          </a:p>
        </p:txBody>
      </p:sp>
      <p:sp>
        <p:nvSpPr>
          <p:cNvPr id="115" name="cell"/>
          <p:cNvSpPr txBox="1"/>
          <p:nvPr/>
        </p:nvSpPr>
        <p:spPr>
          <a:xfrm>
            <a:off x="9635140" y="224306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2.29배</a:t>
            </a:r>
          </a:p>
        </p:txBody>
      </p:sp>
      <p:sp>
        <p:nvSpPr>
          <p:cNvPr id="116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7" name="cell"/>
          <p:cNvSpPr txBox="1"/>
          <p:nvPr/>
        </p:nvSpPr>
        <p:spPr>
          <a:xfrm>
            <a:off x="698640" y="2714520"/>
            <a:ext cx="289160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100초 이상</a:t>
            </a:r>
          </a:p>
        </p:txBody>
      </p:sp>
      <p:sp>
        <p:nvSpPr>
          <p:cNvPr id="118" name="cell"/>
          <p:cNvSpPr txBox="1"/>
          <p:nvPr/>
        </p:nvSpPr>
        <p:spPr>
          <a:xfrm>
            <a:off x="3890247" y="271452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1,099</a:t>
            </a:r>
          </a:p>
        </p:txBody>
      </p:sp>
      <p:sp>
        <p:nvSpPr>
          <p:cNvPr id="119" name="cell"/>
          <p:cNvSpPr txBox="1"/>
          <p:nvPr/>
        </p:nvSpPr>
        <p:spPr>
          <a:xfrm>
            <a:off x="6017985" y="2714520"/>
            <a:ext cx="331715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12.36배</a:t>
            </a:r>
          </a:p>
        </p:txBody>
      </p:sp>
      <p:sp>
        <p:nvSpPr>
          <p:cNvPr id="120" name="cell"/>
          <p:cNvSpPr txBox="1"/>
          <p:nvPr/>
        </p:nvSpPr>
        <p:spPr>
          <a:xfrm>
            <a:off x="9635140" y="271452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2.43배</a:t>
            </a:r>
          </a:p>
        </p:txBody>
      </p:sp>
      <p:sp>
        <p:nvSpPr>
          <p:cNvPr id="121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2" name="cell"/>
          <p:cNvSpPr txBox="1"/>
          <p:nvPr/>
        </p:nvSpPr>
        <p:spPr>
          <a:xfrm>
            <a:off x="698640" y="3185980"/>
            <a:ext cx="2891607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1,000초 이상</a:t>
            </a:r>
          </a:p>
        </p:txBody>
      </p:sp>
      <p:sp>
        <p:nvSpPr>
          <p:cNvPr id="123" name="cell"/>
          <p:cNvSpPr txBox="1"/>
          <p:nvPr/>
        </p:nvSpPr>
        <p:spPr>
          <a:xfrm>
            <a:off x="3890247" y="318598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692</a:t>
            </a:r>
          </a:p>
        </p:txBody>
      </p:sp>
      <p:sp>
        <p:nvSpPr>
          <p:cNvPr id="124" name="cell"/>
          <p:cNvSpPr txBox="1"/>
          <p:nvPr/>
        </p:nvSpPr>
        <p:spPr>
          <a:xfrm>
            <a:off x="6017985" y="3185980"/>
            <a:ext cx="3317155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19.48배</a:t>
            </a:r>
          </a:p>
        </p:txBody>
      </p:sp>
      <p:sp>
        <p:nvSpPr>
          <p:cNvPr id="125" name="cell"/>
          <p:cNvSpPr txBox="1"/>
          <p:nvPr/>
        </p:nvSpPr>
        <p:spPr>
          <a:xfrm>
            <a:off x="9635140" y="3185980"/>
            <a:ext cx="182773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2.17배</a:t>
            </a:r>
          </a:p>
        </p:txBody>
      </p:sp>
      <p:sp>
        <p:nvSpPr>
          <p:cNvPr id="126" name="note"/>
          <p:cNvSpPr txBox="1"/>
          <p:nvPr/>
        </p:nvSpPr>
        <p:spPr>
          <a:xfrm>
            <a:off x="548640" y="369744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시간 제한에 걸린 모델이 547개에서 1,035개로 488개 늘어납니다. 비교 지표는 shifted geometric mean(shift 1초)의 비입니다. 어려운 문제일수록 presolve 효과가 큽니다.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presolve가 하는 일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2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1장·2장</a:t>
            </a:r>
          </a:p>
        </p:txBody>
      </p:sp>
      <p:sp>
        <p:nvSpPr>
          <p:cNvPr id="128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9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줄 정의</a:t>
            </a:r>
          </a:p>
        </p:txBody>
      </p:sp>
      <p:sp>
        <p:nvSpPr>
          <p:cNvPr id="130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presolve는 솔버가 본격적으로 풀기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모델에서 불필요한 것을 지우고, 정식화를 더 강하게(LP 완화를 더 빡빡하게) 만드는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전처리 루틴의 모음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root presolve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첫 LP를 풀기 전에 한 번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node presolve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분지한계 트리의 노드마다 추가로 (분지로 경계가 바뀌었으니 또 줄일 수 있음)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기법은 30개 이상이고 6개 그룹: 단일 제약, 단일 변수, 다중 제약, 다중 변수, 전체 문제, 노드 presolve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자료는 그중 단일 제약 중심 기법과 이중 고정을 다룹니다.</a:t>
            </a:r>
          </a:p>
        </p:txBody>
      </p:sp>
      <p:sp>
        <p:nvSpPr>
          <p:cNvPr id="131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2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효과가 클까</a:t>
            </a:r>
          </a:p>
        </p:txBody>
      </p:sp>
      <p:sp>
        <p:nvSpPr>
          <p:cNvPr id="133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작아진 모델은 LP를 푸는 비용이 줄어듭니다.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조여진 모델은 LP 완화 값이 정수해에 더 가까워져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가지치기가 쉬워집니다.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기법이 만든 변화가 다른 기법의 재료가 됩니다. 그래서 하나씩은 작아도 전체는 9배입니다 (19번 슬라이드).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경계만으로도 redundant 행을 찾을 수 있는 모델이 3,182개 중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2,525개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경계를 정확히 쓰는 것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모든 기법의 출발점입니다.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기호: 활동량(activity)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34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식 (2.2), (2.3)</a:t>
            </a:r>
          </a:p>
        </p:txBody>
      </p:sp>
      <p:sp>
        <p:nvSpPr>
          <p:cNvPr id="135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6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표기</a:t>
            </a:r>
          </a:p>
        </p:txBody>
      </p:sp>
      <p:sp>
        <p:nvSpPr>
          <p:cNvPr id="137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MIP: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cᵀx  s.t.  Ax ∘ b,  ℓ ≤ x ≤ u,  x_j ∈ ℤ (j ∈ I)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∘ 는 행마다 =, ≤, ≥ 중 하나. 경계 ℓ, u 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무한대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일 수도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 i 의 좌변이 변수 경계 안에서 가질 수 있는 최솟값·최댓값을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활동량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이라 부릅니다.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inf{A_i x}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(계수가 양수인 항은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을, 음수인 항은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대입한 합)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sup{A_i x}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(계수가 양수인 항은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을, 음수인 항은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대입한 합)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두 값이 이후 모든 기법의 재료입니다.</a:t>
            </a:r>
          </a:p>
        </p:txBody>
      </p:sp>
      <p:sp>
        <p:nvSpPr>
          <p:cNvPr id="138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9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그렇게 대입하나</a:t>
            </a:r>
          </a:p>
        </p:txBody>
      </p:sp>
      <p:sp>
        <p:nvSpPr>
          <p:cNvPr id="140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좌변을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작게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만들려면: 계수가 +인 변수는 작게(하한), 계수가 −인 변수는 크게(상한).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좌변을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크게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만들려면: 계수가 +인 변수는 크게(상한), 계수가 −인 변수는 작게(하한).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변수들이 서로 독립적으로 경계 안을 움직인다고 보고 각 항을 따로 최적화한 값입니다.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실제로는 다른 제약 때문에 이 값에 도달 못 할 수 있지만,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밖으로는 절대 못 나갑니다.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그래서 안전한 판정 재료입니다.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활동량 숫자 예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4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정의는 Achterberg, Bixby, Gu, Rothberg, Weninger, Presolve Reductions in MIP (ZIB 16-44), 3.1절. 숫자는 제가 계산</a:t>
            </a:r>
          </a:p>
        </p:txBody>
      </p:sp>
      <p:sp>
        <p:nvSpPr>
          <p:cNvPr id="142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3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계산해 보기 (제가 만든 값)</a:t>
            </a:r>
          </a:p>
        </p:txBody>
      </p:sp>
      <p:sp>
        <p:nvSpPr>
          <p:cNvPr id="144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2x₁ − x₂ + 3x₃ ≤ 7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경계: 0 ≤ x₁ ≤ 3,  0 ≤ x₂ ≤ 4,  0 ≤ x₃ ≤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2·0 + (−1)·4 + 3·0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−4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(x₂ 계수가 −이므로 상한 4 대입)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2·3 + (−1)·0 + 3·2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 (x₂ 는 하한 0 대입)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그러면 좌변은 어떤 해에서도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[−4, 12]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안에 있습니다.</a:t>
            </a:r>
          </a:p>
        </p:txBody>
      </p:sp>
      <p:sp>
        <p:nvSpPr>
          <p:cNvPr id="145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6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이걸로 무엇을 판정하나 (≤ 형태)</a:t>
            </a:r>
          </a:p>
        </p:txBody>
      </p:sp>
      <p:sp>
        <p:nvSpPr>
          <p:cNvPr id="147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 ≤ b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→ 어떤 해에서도 안 깨지므로 이 제약은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redundant, 삭제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inf &gt; b</a:t>
            </a: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→ 어떤 해도 만족 못 하므로 모델이 </a:t>
            </a:r>
            <a:r>
              <a:rPr lang="en-US" sz="17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비실현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위 예에서 b = 7: inf = −4 ≤ 7 &lt; sup = 12 → 둘 다 아님. 지금은 쓸 수 있는 제약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만약 b = 15 였다면: sup = 12 ≤ 15 → 삭제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만약 b = −5 였다면: inf = −4 &gt; −5 → 비실현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(논문은 허용오차 ε = 10⁻⁶ 을 써서 sup ≤ b + ε, inf &gt; b + ε 로 판정)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redundant 제약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4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3.1절, 5.1절. 숫자 예시는 제가 만든 값</a:t>
            </a:r>
          </a:p>
        </p:txBody>
      </p:sp>
      <p:sp>
        <p:nvSpPr>
          <p:cNvPr id="149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0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정의와 판정</a:t>
            </a:r>
          </a:p>
        </p:txBody>
      </p:sp>
      <p:sp>
        <p:nvSpPr>
          <p:cNvPr id="151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r을 지워도 MIP의 해 집합이 그대로이면 r은 redundant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흔한 판정은 앞 슬라이드의 활동량: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sup{A_r x} ≤ b_r + ε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삭제.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예: x₁ + 2x₂ ≤ 10,  0 ≤ x₁ ≤ 3,  0 ≤ x₂ ≤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sup = 3 + 4 = 7 ≤ 10 이므로 이 행은 어떤 해에서도 깨지지 않습니다 → 삭제.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제약이 줄면 행렬이 작아져 LP가 빨라집니다.</a:t>
            </a:r>
          </a:p>
        </p:txBody>
      </p:sp>
      <p:sp>
        <p:nvSpPr>
          <p:cNvPr id="152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3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이게 왜 "단일 제약 + 변수 경계" 판정인가</a:t>
            </a:r>
          </a:p>
        </p:txBody>
      </p:sp>
      <p:sp>
        <p:nvSpPr>
          <p:cNvPr id="154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경계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만 보고 판정하기 때문입니다. 다른 제약은 보지 않습니다.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싸고 빠르고, 대부분의 모델에서 통합니다 (경계만으로 redundant 행이 있는 모델이 2,525개 / 3,182개).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제약까지 함께 봐야 알 수 있는 redundant는 이 판정이 놓칩니다. 그건 다중 제약 기법의 몫입니다.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redundant 제약, 무조건 지우면 안 된다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5.1절</a:t>
            </a:r>
          </a:p>
        </p:txBody>
      </p:sp>
      <p:sp>
        <p:nvSpPr>
          <p:cNvPr id="156" name="card"/>
          <p:cNvSpPr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7" name="head"/>
          <p:cNvSpPr txBox="1"/>
          <p:nvPr/>
        </p:nvSpPr>
        <p:spPr>
          <a:xfrm>
            <a:off x="777240" y="152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 5.1절이 지적하는 세 가지</a:t>
            </a:r>
          </a:p>
        </p:txBody>
      </p:sp>
      <p:sp>
        <p:nvSpPr>
          <p:cNvPr id="158" name="body"/>
          <p:cNvSpPr txBox="1"/>
          <p:nvPr/>
        </p:nvSpPr>
        <p:spPr>
          <a:xfrm>
            <a:off x="777240" y="1997360"/>
            <a:ext cx="1060704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판정 자체가 어렵습니다.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일반적인 redundancy 판정은 NP-complete입니다. 임의의 MIP에 비실현 행 0 ≤ −1 을 붙이면, 이 행이 필요한지가 원래 문제의 실현 가능성과 같아지기 때문입니다. 그래서 솔버는 싸게 확인되는 경우만 지웁니다.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MIP에서 redundant여도 LP 완화에서는 쓸모가 있습니다.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절단 평면(cut)이 바로 MIP-redundant 제약입니다. 정수 해를 하나도 자르지 않지만 LP 완화 영역을 조여 줍니다. 그래서 솔버가 지우는 것은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완화에서도 redundant인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제약입니다.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③ 실험도 이를 뒷받침합니다.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선형 종속인 등식 행을 찾아 지우는 기능을 켰더니 오히려 성능이 약 4% 나빠졌습니다(10초 이상 구간, 노드 수도 같은 비율로 증가). 저자들은 이유를 완전히 이해하지 못했다고 쓰며, 중복 행이 cut 생성의 재료로 쓰이기 때문일 것이라는 가설만 제시합니다.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정리: "쓸모없어 보이는 제약"을 사람이 일부러 지우는 건 신중해야 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경계 강화 (1): 식과 예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5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3.2절. 숫자 예시는 제가 만든 값</a:t>
            </a:r>
          </a:p>
        </p:txBody>
      </p:sp>
      <p:sp>
        <p:nvSpPr>
          <p:cNvPr id="160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1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다른 변수 경계로 x_k 의 경계를 조인다</a:t>
            </a:r>
          </a:p>
        </p:txBody>
      </p:sp>
      <p:sp>
        <p:nvSpPr>
          <p:cNvPr id="162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A_S x_S + a_k x_k ≤ b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(S 는 x_k 를 뺀 나머지 변수)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항의 최솟값을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ℓ_S = inf{A_S x_S}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라 하면 (a_k &gt; 0 일 때)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x_k ≤ (b − A_S x_S) / a_k ≤ (b − ℓ_S) / a_k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u_k := min{ u_k , (b − ℓ_S) / a_k }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(식 3.4)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a_k &lt; 0 이면 같은 방식으로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하한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을 올립니다 (식 3.5). x_k 가 정수면 내림(올림)해서 정수 경계로.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과정을 반복하는 것을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domain propagation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이라 합니다.</a:t>
            </a:r>
          </a:p>
        </p:txBody>
      </p:sp>
      <p:sp>
        <p:nvSpPr>
          <p:cNvPr id="163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4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 예 (제가 만든 값)</a:t>
            </a:r>
          </a:p>
        </p:txBody>
      </p:sp>
      <p:sp>
        <p:nvSpPr>
          <p:cNvPr id="165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3x₁ + 2x₂ ≤ 12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x₁ ∈ [0, 10] 정수,  x₂ ∈ [2, 5]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의 계수 3 &gt; 0, 나머지 항 2x₂ 의 최솟값 ℓ_S = 2·2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u₁ ≤ (12 − 4) / 3 = 2.67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은 정수이므로 내림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상한이 10 → 2로 줄었습니다. 이 새 경계는 다른 제약의 활동량 계산에도 재료가 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경계 강화 (2): 끝나지 않는 예제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16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3.2절. a = 0.5 대입 계산은 제가 한 것</a:t>
            </a:r>
          </a:p>
        </p:txBody>
      </p:sp>
      <p:sp>
        <p:nvSpPr>
          <p:cNvPr id="167" name="th"/>
          <p:cNvSpPr txBox="1"/>
          <p:nvPr/>
        </p:nvSpPr>
        <p:spPr>
          <a:xfrm>
            <a:off x="698640" y="1371600"/>
            <a:ext cx="10548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횟수</a:t>
            </a:r>
          </a:p>
        </p:txBody>
      </p:sp>
      <p:sp>
        <p:nvSpPr>
          <p:cNvPr id="168" name="th"/>
          <p:cNvSpPr txBox="1"/>
          <p:nvPr/>
        </p:nvSpPr>
        <p:spPr>
          <a:xfrm>
            <a:off x="2053444" y="1371600"/>
            <a:ext cx="1958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적용한 식</a:t>
            </a:r>
          </a:p>
        </p:txBody>
      </p:sp>
      <p:sp>
        <p:nvSpPr>
          <p:cNvPr id="169" name="th"/>
          <p:cNvSpPr txBox="1"/>
          <p:nvPr/>
        </p:nvSpPr>
        <p:spPr>
          <a:xfrm>
            <a:off x="4311452" y="1371600"/>
            <a:ext cx="30870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경계</a:t>
            </a:r>
          </a:p>
        </p:txBody>
      </p:sp>
      <p:sp>
        <p:nvSpPr>
          <p:cNvPr id="170" name="th"/>
          <p:cNvSpPr txBox="1"/>
          <p:nvPr/>
        </p:nvSpPr>
        <p:spPr>
          <a:xfrm>
            <a:off x="7698464" y="1371600"/>
            <a:ext cx="37644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이번에 줄어든 양</a:t>
            </a:r>
          </a:p>
        </p:txBody>
      </p:sp>
      <p:sp>
        <p:nvSpPr>
          <p:cNvPr id="171" name="row"/>
          <p:cNvSpPr/>
          <p:nvPr/>
        </p:nvSpPr>
        <p:spPr>
          <a:xfrm>
            <a:off x="548640" y="17716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2" name="cell"/>
          <p:cNvSpPr txBox="1"/>
          <p:nvPr/>
        </p:nvSpPr>
        <p:spPr>
          <a:xfrm>
            <a:off x="698640" y="177160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</a:p>
        </p:txBody>
      </p:sp>
      <p:sp>
        <p:nvSpPr>
          <p:cNvPr id="173" name="cell"/>
          <p:cNvSpPr txBox="1"/>
          <p:nvPr/>
        </p:nvSpPr>
        <p:spPr>
          <a:xfrm>
            <a:off x="2053444" y="177160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첫째</a:t>
            </a:r>
          </a:p>
        </p:txBody>
      </p:sp>
      <p:sp>
        <p:nvSpPr>
          <p:cNvPr id="174" name="cell"/>
          <p:cNvSpPr txBox="1"/>
          <p:nvPr/>
        </p:nvSpPr>
        <p:spPr>
          <a:xfrm>
            <a:off x="4311452" y="177160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0.5</a:t>
            </a:r>
          </a:p>
        </p:txBody>
      </p:sp>
      <p:sp>
        <p:nvSpPr>
          <p:cNvPr id="175" name="cell"/>
          <p:cNvSpPr txBox="1"/>
          <p:nvPr/>
        </p:nvSpPr>
        <p:spPr>
          <a:xfrm>
            <a:off x="7698464" y="177160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0.5</a:t>
            </a:r>
          </a:p>
        </p:txBody>
      </p:sp>
      <p:sp>
        <p:nvSpPr>
          <p:cNvPr id="176" name="row"/>
          <p:cNvSpPr/>
          <p:nvPr/>
        </p:nvSpPr>
        <p:spPr>
          <a:xfrm>
            <a:off x="548640" y="224306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7" name="cell"/>
          <p:cNvSpPr txBox="1"/>
          <p:nvPr/>
        </p:nvSpPr>
        <p:spPr>
          <a:xfrm>
            <a:off x="698640" y="224306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</a:t>
            </a:r>
          </a:p>
        </p:txBody>
      </p:sp>
      <p:sp>
        <p:nvSpPr>
          <p:cNvPr id="178" name="cell"/>
          <p:cNvSpPr txBox="1"/>
          <p:nvPr/>
        </p:nvSpPr>
        <p:spPr>
          <a:xfrm>
            <a:off x="2053444" y="224306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둘째</a:t>
            </a:r>
          </a:p>
        </p:txBody>
      </p:sp>
      <p:sp>
        <p:nvSpPr>
          <p:cNvPr id="179" name="cell"/>
          <p:cNvSpPr txBox="1"/>
          <p:nvPr/>
        </p:nvSpPr>
        <p:spPr>
          <a:xfrm>
            <a:off x="4311452" y="224306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 ≤ 0.25</a:t>
            </a:r>
          </a:p>
        </p:txBody>
      </p:sp>
      <p:sp>
        <p:nvSpPr>
          <p:cNvPr id="180" name="cell"/>
          <p:cNvSpPr txBox="1"/>
          <p:nvPr/>
        </p:nvSpPr>
        <p:spPr>
          <a:xfrm>
            <a:off x="7698464" y="224306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0.75</a:t>
            </a:r>
          </a:p>
        </p:txBody>
      </p:sp>
      <p:sp>
        <p:nvSpPr>
          <p:cNvPr id="181" name="row"/>
          <p:cNvSpPr/>
          <p:nvPr/>
        </p:nvSpPr>
        <p:spPr>
          <a:xfrm>
            <a:off x="548640" y="271452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2" name="cell"/>
          <p:cNvSpPr txBox="1"/>
          <p:nvPr/>
        </p:nvSpPr>
        <p:spPr>
          <a:xfrm>
            <a:off x="698640" y="271452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</a:t>
            </a:r>
          </a:p>
        </p:txBody>
      </p:sp>
      <p:sp>
        <p:nvSpPr>
          <p:cNvPr id="183" name="cell"/>
          <p:cNvSpPr txBox="1"/>
          <p:nvPr/>
        </p:nvSpPr>
        <p:spPr>
          <a:xfrm>
            <a:off x="2053444" y="271452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첫째</a:t>
            </a:r>
          </a:p>
        </p:txBody>
      </p:sp>
      <p:sp>
        <p:nvSpPr>
          <p:cNvPr id="184" name="cell"/>
          <p:cNvSpPr txBox="1"/>
          <p:nvPr/>
        </p:nvSpPr>
        <p:spPr>
          <a:xfrm>
            <a:off x="4311452" y="271452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0.125</a:t>
            </a:r>
          </a:p>
        </p:txBody>
      </p:sp>
      <p:sp>
        <p:nvSpPr>
          <p:cNvPr id="185" name="cell"/>
          <p:cNvSpPr txBox="1"/>
          <p:nvPr/>
        </p:nvSpPr>
        <p:spPr>
          <a:xfrm>
            <a:off x="7698464" y="271452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0.375</a:t>
            </a:r>
          </a:p>
        </p:txBody>
      </p:sp>
      <p:sp>
        <p:nvSpPr>
          <p:cNvPr id="186" name="row"/>
          <p:cNvSpPr/>
          <p:nvPr/>
        </p:nvSpPr>
        <p:spPr>
          <a:xfrm>
            <a:off x="548640" y="318598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7" name="cell"/>
          <p:cNvSpPr txBox="1"/>
          <p:nvPr/>
        </p:nvSpPr>
        <p:spPr>
          <a:xfrm>
            <a:off x="698640" y="318598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4</a:t>
            </a:r>
          </a:p>
        </p:txBody>
      </p:sp>
      <p:sp>
        <p:nvSpPr>
          <p:cNvPr id="188" name="cell"/>
          <p:cNvSpPr txBox="1"/>
          <p:nvPr/>
        </p:nvSpPr>
        <p:spPr>
          <a:xfrm>
            <a:off x="2053444" y="318598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둘째</a:t>
            </a:r>
          </a:p>
        </p:txBody>
      </p:sp>
      <p:sp>
        <p:nvSpPr>
          <p:cNvPr id="189" name="cell"/>
          <p:cNvSpPr txBox="1"/>
          <p:nvPr/>
        </p:nvSpPr>
        <p:spPr>
          <a:xfrm>
            <a:off x="4311452" y="318598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 ≤ 0.0625</a:t>
            </a:r>
          </a:p>
        </p:txBody>
      </p:sp>
      <p:sp>
        <p:nvSpPr>
          <p:cNvPr id="190" name="cell"/>
          <p:cNvSpPr txBox="1"/>
          <p:nvPr/>
        </p:nvSpPr>
        <p:spPr>
          <a:xfrm>
            <a:off x="7698464" y="318598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0.1875</a:t>
            </a:r>
          </a:p>
        </p:txBody>
      </p:sp>
      <p:sp>
        <p:nvSpPr>
          <p:cNvPr id="191" name="row"/>
          <p:cNvSpPr/>
          <p:nvPr/>
        </p:nvSpPr>
        <p:spPr>
          <a:xfrm>
            <a:off x="548640" y="365744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2" name="cell"/>
          <p:cNvSpPr txBox="1"/>
          <p:nvPr/>
        </p:nvSpPr>
        <p:spPr>
          <a:xfrm>
            <a:off x="698640" y="365744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11</a:t>
            </a:r>
          </a:p>
        </p:txBody>
      </p:sp>
      <p:sp>
        <p:nvSpPr>
          <p:cNvPr id="193" name="cell"/>
          <p:cNvSpPr txBox="1"/>
          <p:nvPr/>
        </p:nvSpPr>
        <p:spPr>
          <a:xfrm>
            <a:off x="2053444" y="365744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첫째</a:t>
            </a:r>
          </a:p>
        </p:txBody>
      </p:sp>
      <p:sp>
        <p:nvSpPr>
          <p:cNvPr id="194" name="cell"/>
          <p:cNvSpPr txBox="1"/>
          <p:nvPr/>
        </p:nvSpPr>
        <p:spPr>
          <a:xfrm>
            <a:off x="4311452" y="365744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0.000488</a:t>
            </a:r>
          </a:p>
        </p:txBody>
      </p:sp>
      <p:sp>
        <p:nvSpPr>
          <p:cNvPr id="195" name="cell"/>
          <p:cNvSpPr txBox="1"/>
          <p:nvPr/>
        </p:nvSpPr>
        <p:spPr>
          <a:xfrm>
            <a:off x="7698464" y="365744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0.00146</a:t>
            </a:r>
          </a:p>
        </p:txBody>
      </p:sp>
      <p:sp>
        <p:nvSpPr>
          <p:cNvPr id="196" name="row"/>
          <p:cNvSpPr/>
          <p:nvPr/>
        </p:nvSpPr>
        <p:spPr>
          <a:xfrm>
            <a:off x="548640" y="4128900"/>
            <a:ext cx="11064240" cy="41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7" name="cell"/>
          <p:cNvSpPr txBox="1"/>
          <p:nvPr/>
        </p:nvSpPr>
        <p:spPr>
          <a:xfrm>
            <a:off x="698640" y="4128900"/>
            <a:ext cx="105480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</a:p>
        </p:txBody>
      </p:sp>
      <p:sp>
        <p:nvSpPr>
          <p:cNvPr id="198" name="cell"/>
          <p:cNvSpPr txBox="1"/>
          <p:nvPr/>
        </p:nvSpPr>
        <p:spPr>
          <a:xfrm>
            <a:off x="2053444" y="4128900"/>
            <a:ext cx="1958008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둘째</a:t>
            </a:r>
          </a:p>
        </p:txBody>
      </p:sp>
      <p:sp>
        <p:nvSpPr>
          <p:cNvPr id="199" name="cell"/>
          <p:cNvSpPr txBox="1"/>
          <p:nvPr/>
        </p:nvSpPr>
        <p:spPr>
          <a:xfrm>
            <a:off x="4311452" y="4128900"/>
            <a:ext cx="3087012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(x₂ ≤ 0.000244)</a:t>
            </a:r>
          </a:p>
        </p:txBody>
      </p:sp>
      <p:sp>
        <p:nvSpPr>
          <p:cNvPr id="200" name="cell"/>
          <p:cNvSpPr txBox="1"/>
          <p:nvPr/>
        </p:nvSpPr>
        <p:spPr>
          <a:xfrm>
            <a:off x="7698464" y="4128900"/>
            <a:ext cx="3764414" cy="41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0.00073 → </a:t>
            </a: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갱신하지 않음</a:t>
            </a:r>
          </a:p>
        </p:txBody>
      </p:sp>
      <p:sp>
        <p:nvSpPr>
          <p:cNvPr id="201" name="note"/>
          <p:cNvSpPr txBox="1"/>
          <p:nvPr/>
        </p:nvSpPr>
        <p:spPr>
          <a:xfrm>
            <a:off x="548640" y="464036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예제: x₁ − a·x₂ = 0, a·x₁ − x₂ = 0 (0&lt;a&lt;1, 0 ≤ x₁, x₂ ≤ 1). 두 식을 번갈아 쓰면 x₁ ≤ a^(2t−1), x₂ ≤ a^(2t)로 끝없이 작아지는데, 참값은 x₁ = x₂ = 0 하나뿐입니다. 경계는 0에 한없이 다가가기만 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경계 강화 (3): 그래서 한도를 둔다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0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3.2절</a:t>
            </a:r>
          </a:p>
        </p:txBody>
      </p:sp>
      <p:sp>
        <p:nvSpPr>
          <p:cNvPr id="203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4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Gurobi의 안전장치</a:t>
            </a:r>
          </a:p>
        </p:txBody>
      </p:sp>
      <p:sp>
        <p:nvSpPr>
          <p:cNvPr id="205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연속변수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경계는 아래 두 조건을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모두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만족할 때만 갱신합니다.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① 경계가 바뀌는 양이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10³·ε 이상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(기본 10⁻³)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② 새 경계의 절댓값이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10⁸ 미만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번의 presolve 패스에서 각 제약에 경계 강화를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한 번만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적용해, 패스 수가 전체 작업 한도에 묶이게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앞 슬라이드의 12번째가 0.00073 &lt; 10⁻³ 이라 멈추는 이유입니다.</a:t>
            </a:r>
          </a:p>
        </p:txBody>
      </p:sp>
      <p:sp>
        <p:nvSpPr>
          <p:cNvPr id="206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7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정수변수는 왜 괜찮나, 효과는</a:t>
            </a:r>
          </a:p>
        </p:txBody>
      </p:sp>
      <p:sp>
        <p:nvSpPr>
          <p:cNvPr id="208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변수는 경계가 정수라서 한 번에 최소 1씩 움직이고 범위가 유한하므로 이런 무한 사슬이 생기지 않는다고 저는 이해했습니다. (논문에 명시된 이유는 아니고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 추론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끄면 10초 이상 구간에서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1.09배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저자들은 이 값이 낮은 이유로 다중 제약 경계 강화, probing, 노드 경계 강화가 같은 일을 겹쳐서 하기 때문이라고 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 (1): 아이디어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09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3.3절</a:t>
            </a:r>
          </a:p>
        </p:txBody>
      </p:sp>
      <p:sp>
        <p:nvSpPr>
          <p:cNvPr id="210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1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정수해는 그대로, LP 완화만 조인다</a:t>
            </a:r>
          </a:p>
        </p:txBody>
      </p:sp>
      <p:sp>
        <p:nvSpPr>
          <p:cNvPr id="212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강화(coefficient strengthening)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제약의 계수를 바꿔서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해 집합은 그대로 두고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LP 완화 영역만 더 작게 만드는 기법.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논문은 "제약 ax ≤ b 가 a′x ≤ b′ 를 dominate한다"를, 변수 경계 상자 안에서 앞의 LP 실행가능 영역이 뒤의 영역에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엄격히 포함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되는 것으로 정의합니다. 즉 더 강한 제약입니다.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필요한가: 분지한계는 LP 하한으로 가지치기하므로,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완화가 정수해에 가까울수록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가지치기가 쉽습니다.</a:t>
            </a:r>
          </a:p>
        </p:txBody>
      </p:sp>
      <p:sp>
        <p:nvSpPr>
          <p:cNvPr id="213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4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가장 흔한 쓰임: Big-M 줄이기</a:t>
            </a:r>
          </a:p>
        </p:txBody>
      </p:sp>
      <p:sp>
        <p:nvSpPr>
          <p:cNvPr id="215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"y = 0 이면 x = 0" 같은 연결 제약을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≤ M·y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로 씁니다 (y 는 0/1).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M이 필요 이상으로 크면 y = 0.01 같은 작은 분수로도 x가 크게 열립니다. LP 완화가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너무 헐겁습니다.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강화는 M을 x의 실제 상한까지 자동으로 줄여 줍니다 (13~14번 슬라이드에서 계산).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끄면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1.06배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 작습니다. 다중 제약 계수 강화(5.4절), probing이 일부를 겹쳐서 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 (2): 식과 기호 읽는 법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16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3.3절, 식 (3.6)</a:t>
            </a:r>
          </a:p>
        </p:txBody>
      </p:sp>
      <p:sp>
        <p:nvSpPr>
          <p:cNvPr id="217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8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식 (3.6) (a_k &gt; 0 인 경우)</a:t>
            </a:r>
          </a:p>
        </p:txBody>
      </p:sp>
      <p:sp>
        <p:nvSpPr>
          <p:cNvPr id="219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조건: x_k 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제약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A_S x_S + a_k x_k ≤ b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필요한 값: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u_S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= 나머지 항의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최댓값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(단일 제약에서는 sup{A_S x_S})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 := b − u_S − a_k·(u_k − 1)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이 양수이고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a_k ≥ d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→ 새 제약: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A_S x_S + (a_k − d)·x_k ≤ b − d·u_k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a_k &lt; 0 인 경우는 하한 ℓ_k 와 d′ := b − u_S − a_k(ℓ_k + 1) 로 대칭적으로 처리: A_S x_S + (a_k + d′)·x_k ≤ b + d′·ℓ_k</a:t>
            </a:r>
          </a:p>
        </p:txBody>
      </p:sp>
      <p:sp>
        <p:nvSpPr>
          <p:cNvPr id="220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1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기호 표</a:t>
            </a:r>
          </a:p>
        </p:txBody>
      </p:sp>
      <p:sp>
        <p:nvSpPr>
          <p:cNvPr id="222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x_k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강화할 정수 변수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A_S x_S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제약에서 x_k 항을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뺀 나머지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u_S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그 나머지 항의 최댓값.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 전체가 아닙니다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ℓ_k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x_k 의 하한. 이진 변수이면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d′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: x_k 가 하한보다 한 칸 위일 때 제약에 남는 여유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 (3): Big-M에 대입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2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식 (3.6)에 제가 대입한 계산</a:t>
            </a:r>
          </a:p>
        </p:txBody>
      </p:sp>
      <p:sp>
        <p:nvSpPr>
          <p:cNvPr id="224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5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대입한 계산 (논문 예시 아님)</a:t>
            </a:r>
          </a:p>
        </p:txBody>
      </p:sp>
      <p:sp>
        <p:nvSpPr>
          <p:cNvPr id="226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제약: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− 10y ≤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0 ≤ x ≤ 4,  y ∈ {0, 1}   (M = 10, x의 실제 상한 u = 4)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강화할 변수는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(k = y). a_k = −10 &lt; 0,  b = 0,  ℓ_k =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나머지 항은 x 하나라서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u_S = sup{x} = 4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d′ = 0 − 4 − (−10)(0 + 1) = 6 &gt;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 조건 −a_k = 10 ≥ 6 도 만족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제약: x + (−10 + 6)·y ≤ 0 + 6·0, 즉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− 4y ≤ 0</a:t>
            </a:r>
          </a:p>
        </p:txBody>
      </p:sp>
      <p:sp>
        <p:nvSpPr>
          <p:cNvPr id="227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8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결과</a:t>
            </a:r>
          </a:p>
        </p:txBody>
      </p:sp>
      <p:sp>
        <p:nvSpPr>
          <p:cNvPr id="229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M이 10 → 4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로 줄었습니다. 4는 x의 실제 상한입니다.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 자체는 계속 0 또는 1입니다. 음수인 것은 y의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−M 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d′ 가 양수가 되려면 M &gt; u 여야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합니다. M = u 이면 이미 가장 강한 형태입니다.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변수 상한을 데이터로 계산해 M으로 쓰는 편이 presolve가 할 일을 줄여 줍니다.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계수 강화 (4): 정말 정수해는 그대로인가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3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3.3절. LP 값 계산은 제가 한 것</a:t>
            </a:r>
          </a:p>
        </p:txBody>
      </p:sp>
      <p:sp>
        <p:nvSpPr>
          <p:cNvPr id="231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2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확인</a:t>
            </a:r>
          </a:p>
        </p:txBody>
      </p:sp>
      <p:sp>
        <p:nvSpPr>
          <p:cNvPr id="233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 =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일 때: 원래 x ≤ 0, 강화 후 x ≤ 0. 같습니다.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y = 1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일 때: 원래 x ≤ 10 인데 x ≤ 4 가 이미 있으니 실질 x ≤ 4. 강화 후 x ≤ 4. 같습니다.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그러므로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해 집합은 그대로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완화는 조여집니다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: 원래 y ≥ x / 10, 강화 후 y ≥ x / 4.</a:t>
            </a:r>
          </a:p>
        </p:txBody>
      </p:sp>
      <p:sp>
        <p:nvSpPr>
          <p:cNvPr id="234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5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LP에서 무슨 일이 일어나나</a:t>
            </a:r>
          </a:p>
        </p:txBody>
      </p:sp>
      <p:sp>
        <p:nvSpPr>
          <p:cNvPr id="236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= 4 로 두고 싶을 때, 원래 LP는 y = 4/10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0.4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까지 내려갈 수 있었습니다.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강화 후에는 y ≥ 4/4 =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정수해와 같아집니다.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그래서 LP 값이 정수해 값에 가까워지고 가지치기가 쉬워집니다.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사람이 모델을 쓸 때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M을 아무 큰 수(예: 10⁶)로 두지 말고 변수 상한으로 계산해 쓰라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는 시사점이 여기서 나옵니다.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Chvátal-Gomory 강화 (간단히)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37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3.4절</a:t>
            </a:r>
          </a:p>
        </p:txBody>
      </p:sp>
      <p:sp>
        <p:nvSpPr>
          <p:cNvPr id="238" name="card"/>
          <p:cNvSpPr/>
          <p:nvPr/>
        </p:nvSpPr>
        <p:spPr>
          <a:xfrm>
            <a:off x="548640" y="1371600"/>
            <a:ext cx="1106424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9" name="head"/>
          <p:cNvSpPr txBox="1"/>
          <p:nvPr/>
        </p:nvSpPr>
        <p:spPr>
          <a:xfrm>
            <a:off x="777240" y="15216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변수만 있는 ≥ 제약에서 계수를 올림으로 바꾼다</a:t>
            </a:r>
          </a:p>
        </p:txBody>
      </p:sp>
      <p:sp>
        <p:nvSpPr>
          <p:cNvPr id="240" name="body"/>
          <p:cNvSpPr txBox="1"/>
          <p:nvPr/>
        </p:nvSpPr>
        <p:spPr>
          <a:xfrm>
            <a:off x="777240" y="1997360"/>
            <a:ext cx="1060704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정수 변수만 있는 제약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A_i x ≥ b_i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(ℓ = 0, 계수 비음수)에 대해, 스칼라 s &gt; 0 을 찾아 계수와 우변을 올림합니다: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Σ ⌈a_ij·s⌉ x_j ≥ ⌈b_i·s⌉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올림해도 정수 해는 안 빠지지만 LP 영역은 줄어듭니다 (Chvátal–Gomory cut의 한 종류).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Gurobi는 s 를 {1, t/a_max, t/a_min, (2t−1)/(2a_min) : t = 1..5} 에서 시도하는 간단한 휴리스틱으로 찾습니다.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논문은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"실망스럽다"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고 씁니다. 끄면 10초 이상 구간에서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1.00배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즉 차이가 없는데도 Gurobi 기본 설정에서 켜져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교훈: 이론적으로 타당한 기법이어도 </a:t>
            </a:r>
            <a:r>
              <a:rPr lang="en-US" sz="19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모델에서 효과가 있는지는 실험으로 확인</a:t>
            </a:r>
            <a:r>
              <a:rPr lang="en-US" sz="19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해야 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이중 고정 (1): 아이디어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41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4.4절. 숫자 예시는 제가 만든 값</a:t>
            </a:r>
          </a:p>
        </p:txBody>
      </p:sp>
      <p:sp>
        <p:nvSpPr>
          <p:cNvPr id="242" name="card"/>
          <p:cNvSpPr/>
          <p:nvPr/>
        </p:nvSpPr>
        <p:spPr>
          <a:xfrm>
            <a:off x="548640" y="1371600"/>
            <a:ext cx="6176314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3" name="head"/>
          <p:cNvSpPr txBox="1"/>
          <p:nvPr/>
        </p:nvSpPr>
        <p:spPr>
          <a:xfrm>
            <a:off x="777240" y="1521600"/>
            <a:ext cx="57191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Dual fixing: 키워서 좋을 게 없는 변수는 고정한다</a:t>
            </a:r>
          </a:p>
        </p:txBody>
      </p:sp>
      <p:sp>
        <p:nvSpPr>
          <p:cNvPr id="244" name="body"/>
          <p:cNvSpPr txBox="1"/>
          <p:nvPr/>
        </p:nvSpPr>
        <p:spPr>
          <a:xfrm>
            <a:off x="777240" y="1997360"/>
            <a:ext cx="5719114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조건: 변수 x_j 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등식에는 안 나오고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모든 제약이 ≤ 형태.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(i)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c_j ≥ 0 이고 모든 행에서 a_ij ≥ 0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x_j := ℓ_j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(하한이 유한할 때)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(ii)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c_j ≤ 0 이고 모든 행에서 a_ij ≤ 0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x_j := u_j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논리: 변수를 키워서 좋을 것이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목적함수에도 제약에도 없으니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가장 작은 쪽에 둔다는 것.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(i)에서 키우면 목적(최소화)도 나빠지고 ≤ 제약도 더 빡빡해집니다. 키울 이유가 없습니다.</a:t>
            </a:r>
          </a:p>
        </p:txBody>
      </p:sp>
      <p:sp>
        <p:nvSpPr>
          <p:cNvPr id="245" name="card"/>
          <p:cNvSpPr/>
          <p:nvPr/>
        </p:nvSpPr>
        <p:spPr>
          <a:xfrm>
            <a:off x="6953554" y="1371600"/>
            <a:ext cx="4659326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6" name="head"/>
          <p:cNvSpPr txBox="1"/>
          <p:nvPr/>
        </p:nvSpPr>
        <p:spPr>
          <a:xfrm>
            <a:off x="7182154" y="1521600"/>
            <a:ext cx="42021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숫자 예 (제가 만든 값)</a:t>
            </a:r>
          </a:p>
        </p:txBody>
      </p:sp>
      <p:sp>
        <p:nvSpPr>
          <p:cNvPr id="247" name="body"/>
          <p:cNvSpPr txBox="1"/>
          <p:nvPr/>
        </p:nvSpPr>
        <p:spPr>
          <a:xfrm>
            <a:off x="7182154" y="1997360"/>
            <a:ext cx="4202126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3x₁ + x₂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 s.t.  2x₁ + x₂ ≤ 10,  x₁ + 3x₂ ≤ 12,  0 ≤ x₁, x₂ ≤ 5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x₁: c = 3 ≥ 0, 계수 2, 1 ≥ 0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:=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x₂: c = 1 ≥ 0, 계수 1, 3 ≥ 0 →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x₂ :=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문제는 presolve만으로 풀립니다 (해는 0, 0).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실제 모델에서는 일부 변수만 이렇게 고정되고, 나머지 제약이 단순해집니다.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이중 고정 (2): Example 4 치환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48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4.4절, Example 4</a:t>
            </a:r>
          </a:p>
        </p:txBody>
      </p:sp>
      <p:sp>
        <p:nvSpPr>
          <p:cNvPr id="249" name="card"/>
          <p:cNvSpPr/>
          <p:nvPr/>
        </p:nvSpPr>
        <p:spPr>
          <a:xfrm>
            <a:off x="54864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0" name="head"/>
          <p:cNvSpPr txBox="1"/>
          <p:nvPr/>
        </p:nvSpPr>
        <p:spPr>
          <a:xfrm>
            <a:off x="77724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예제</a:t>
            </a:r>
          </a:p>
        </p:txBody>
      </p:sp>
      <p:sp>
        <p:nvSpPr>
          <p:cNvPr id="251" name="body"/>
          <p:cNvSpPr txBox="1"/>
          <p:nvPr/>
        </p:nvSpPr>
        <p:spPr>
          <a:xfrm>
            <a:off x="77724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x₁ + x₂ + x₃  s.t.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(1) 2x₁ + 4x₂ − 3x₃ ≤ 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(2) −x₂ − x₃ ≤ −4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(3) −x₁ − x₂ + 8x₃ ≤ 0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≤ x₁, x₂ ≤ 4,  x₃ ∈ {0, 1}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x₁은 (3)에만 음의 계수로 나옵니다.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그래서 x₁ 을 키울 이유는 (3) 때문뿐입니다.</a:t>
            </a:r>
          </a:p>
        </p:txBody>
      </p:sp>
      <p:sp>
        <p:nvSpPr>
          <p:cNvPr id="252" name="card"/>
          <p:cNvSpPr/>
          <p:nvPr/>
        </p:nvSpPr>
        <p:spPr>
          <a:xfrm>
            <a:off x="6195060" y="1371600"/>
            <a:ext cx="5417820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3" name="head"/>
          <p:cNvSpPr txBox="1"/>
          <p:nvPr/>
        </p:nvSpPr>
        <p:spPr>
          <a:xfrm>
            <a:off x="6423660" y="1521600"/>
            <a:ext cx="4960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x₁ := 4x₃ 인가</a:t>
            </a:r>
          </a:p>
        </p:txBody>
      </p:sp>
      <p:sp>
        <p:nvSpPr>
          <p:cNvPr id="254" name="body"/>
          <p:cNvSpPr txBox="1"/>
          <p:nvPr/>
        </p:nvSpPr>
        <p:spPr>
          <a:xfrm>
            <a:off x="6423660" y="1997360"/>
            <a:ext cx="4960620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x₃ = 0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(3)은 −x₁ − x₂ ≤ 0 으로 항상 성립(redundant). x₁ 을 0보다 크게 둘 이유가 없습니다 → x₁ = 0.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x₃ = 1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이면 (3)은 x₁ + x₂ ≥ 8. 각각 ≤ 4 이므로 x₁ = x₂ = 4 → x₁ = 4.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두 경우를 합치면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= 4·x₃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입니다. 변수 x₁ 을 식으로 치환해 없앨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참고(제가 직접 확인): 이 예제는 치환 규칙을 보이기 위한 것이고, 세 제약을 동시에 만족하는 해는 없습니다.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이중 고정 (3): Example 5 상한 낮추기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55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16-44), 4.4절, Example 5</a:t>
            </a:r>
          </a:p>
        </p:txBody>
      </p:sp>
      <p:sp>
        <p:nvSpPr>
          <p:cNvPr id="256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7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논문의 예제</a:t>
            </a:r>
          </a:p>
        </p:txBody>
      </p:sp>
      <p:sp>
        <p:nvSpPr>
          <p:cNvPr id="258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min x₁ + x₂ + x₃  s.t.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(1) 2x₁ + 4x₂ − 3x₃ ≤ 8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(2) −x₂ − x₃ ≤ −4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(3) −2x₁ − 2x₂ + x₃ ≤ 6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 ≤ x₁, x₂, x₃ ≤ 10</a:t>
            </a:r>
          </a:p>
        </p:txBody>
      </p:sp>
      <p:sp>
        <p:nvSpPr>
          <p:cNvPr id="259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0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왜 x₁ ≤ 2 인가</a:t>
            </a:r>
          </a:p>
        </p:txBody>
      </p:sp>
      <p:sp>
        <p:nvSpPr>
          <p:cNvPr id="261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은 (3)에서 음의 계수를 가집니다. x₁ 을 키우면 (3)이 느슨해지는 효과뿐입니다.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= 2 이면 (3)은 −2·2 + sup{−2x₂ + x₃} = −4 + 10 = 6 ≤ 6 으로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redundant가 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그 이상 키워도 얻는 게 없으니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2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가 유효한 상한입니다.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효과: 이 기법을 끄면 전체 1.04배이지만, </a:t>
            </a:r>
            <a:r>
              <a:rPr lang="en-US" sz="17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1,000초 이상 걸리는 213개 모델</a:t>
            </a:r>
            <a:r>
              <a:rPr lang="en-US" sz="17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에서는 시간 25%, 노드 31% 증가입니다. 어려운 모델에서 더 듣는 기법입니다.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기법별 효과: 하나씩은 작고, 전체는 크다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2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16-44). 10초 이상 구간 시간 배수. 영향받은 모델 = 그 기법 때문에 심플렉스 반복 수가 달라진 모델</a:t>
            </a:r>
          </a:p>
        </p:txBody>
      </p:sp>
      <p:sp>
        <p:nvSpPr>
          <p:cNvPr id="263" name="th"/>
          <p:cNvSpPr txBox="1"/>
          <p:nvPr/>
        </p:nvSpPr>
        <p:spPr>
          <a:xfrm>
            <a:off x="698640" y="1371600"/>
            <a:ext cx="54626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기법 (끄면)</a:t>
            </a:r>
          </a:p>
        </p:txBody>
      </p:sp>
      <p:sp>
        <p:nvSpPr>
          <p:cNvPr id="264" name="th"/>
          <p:cNvSpPr txBox="1"/>
          <p:nvPr/>
        </p:nvSpPr>
        <p:spPr>
          <a:xfrm>
            <a:off x="6461265" y="1371600"/>
            <a:ext cx="200505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전체</a:t>
            </a:r>
          </a:p>
        </p:txBody>
      </p:sp>
      <p:sp>
        <p:nvSpPr>
          <p:cNvPr id="265" name="th"/>
          <p:cNvSpPr txBox="1"/>
          <p:nvPr/>
        </p:nvSpPr>
        <p:spPr>
          <a:xfrm>
            <a:off x="8766315" y="1371600"/>
            <a:ext cx="269656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300" b="1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영향받은 모델</a:t>
            </a:r>
          </a:p>
        </p:txBody>
      </p:sp>
      <p:sp>
        <p:nvSpPr>
          <p:cNvPr id="266" name="row"/>
          <p:cNvSpPr/>
          <p:nvPr/>
        </p:nvSpPr>
        <p:spPr>
          <a:xfrm>
            <a:off x="548640" y="177160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7" name="cell"/>
          <p:cNvSpPr txBox="1"/>
          <p:nvPr/>
        </p:nvSpPr>
        <p:spPr>
          <a:xfrm>
            <a:off x="698640" y="177160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 정리 (작은 계수 제거 등)</a:t>
            </a:r>
          </a:p>
        </p:txBody>
      </p:sp>
      <p:sp>
        <p:nvSpPr>
          <p:cNvPr id="268" name="cell"/>
          <p:cNvSpPr txBox="1"/>
          <p:nvPr/>
        </p:nvSpPr>
        <p:spPr>
          <a:xfrm>
            <a:off x="6461265" y="177160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1.10배</a:t>
            </a:r>
          </a:p>
        </p:txBody>
      </p:sp>
      <p:sp>
        <p:nvSpPr>
          <p:cNvPr id="269" name="cell"/>
          <p:cNvSpPr txBox="1"/>
          <p:nvPr/>
        </p:nvSpPr>
        <p:spPr>
          <a:xfrm>
            <a:off x="8766315" y="177160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1.11배</a:t>
            </a:r>
          </a:p>
        </p:txBody>
      </p:sp>
      <p:sp>
        <p:nvSpPr>
          <p:cNvPr id="270" name="row"/>
          <p:cNvSpPr/>
          <p:nvPr/>
        </p:nvSpPr>
        <p:spPr>
          <a:xfrm>
            <a:off x="548640" y="217306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1" name="cell"/>
          <p:cNvSpPr txBox="1"/>
          <p:nvPr/>
        </p:nvSpPr>
        <p:spPr>
          <a:xfrm>
            <a:off x="698640" y="217306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경계 강화</a:t>
            </a:r>
          </a:p>
        </p:txBody>
      </p:sp>
      <p:sp>
        <p:nvSpPr>
          <p:cNvPr id="272" name="cell"/>
          <p:cNvSpPr txBox="1"/>
          <p:nvPr/>
        </p:nvSpPr>
        <p:spPr>
          <a:xfrm>
            <a:off x="6461265" y="217306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1.09배</a:t>
            </a:r>
          </a:p>
        </p:txBody>
      </p:sp>
      <p:sp>
        <p:nvSpPr>
          <p:cNvPr id="273" name="cell"/>
          <p:cNvSpPr txBox="1"/>
          <p:nvPr/>
        </p:nvSpPr>
        <p:spPr>
          <a:xfrm>
            <a:off x="8766315" y="217306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1.11배</a:t>
            </a:r>
          </a:p>
        </p:txBody>
      </p:sp>
      <p:sp>
        <p:nvSpPr>
          <p:cNvPr id="274" name="row"/>
          <p:cNvSpPr/>
          <p:nvPr/>
        </p:nvSpPr>
        <p:spPr>
          <a:xfrm>
            <a:off x="548640" y="257452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5" name="cell"/>
          <p:cNvSpPr txBox="1"/>
          <p:nvPr/>
        </p:nvSpPr>
        <p:spPr>
          <a:xfrm>
            <a:off x="698640" y="257452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</a:t>
            </a:r>
          </a:p>
        </p:txBody>
      </p:sp>
      <p:sp>
        <p:nvSpPr>
          <p:cNvPr id="276" name="cell"/>
          <p:cNvSpPr txBox="1"/>
          <p:nvPr/>
        </p:nvSpPr>
        <p:spPr>
          <a:xfrm>
            <a:off x="6461265" y="257452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1.06배</a:t>
            </a:r>
          </a:p>
        </p:txBody>
      </p:sp>
      <p:sp>
        <p:nvSpPr>
          <p:cNvPr id="277" name="cell"/>
          <p:cNvSpPr txBox="1"/>
          <p:nvPr/>
        </p:nvSpPr>
        <p:spPr>
          <a:xfrm>
            <a:off x="8766315" y="257452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1.08배</a:t>
            </a:r>
          </a:p>
        </p:txBody>
      </p:sp>
      <p:sp>
        <p:nvSpPr>
          <p:cNvPr id="278" name="row"/>
          <p:cNvSpPr/>
          <p:nvPr/>
        </p:nvSpPr>
        <p:spPr>
          <a:xfrm>
            <a:off x="548640" y="297598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9" name="cell"/>
          <p:cNvSpPr txBox="1"/>
          <p:nvPr/>
        </p:nvSpPr>
        <p:spPr>
          <a:xfrm>
            <a:off x="698640" y="297598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Chvátal-Gomory 강화</a:t>
            </a:r>
          </a:p>
        </p:txBody>
      </p:sp>
      <p:sp>
        <p:nvSpPr>
          <p:cNvPr id="280" name="cell"/>
          <p:cNvSpPr txBox="1"/>
          <p:nvPr/>
        </p:nvSpPr>
        <p:spPr>
          <a:xfrm>
            <a:off x="6461265" y="297598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1.00배</a:t>
            </a:r>
          </a:p>
        </p:txBody>
      </p:sp>
      <p:sp>
        <p:nvSpPr>
          <p:cNvPr id="281" name="cell"/>
          <p:cNvSpPr txBox="1"/>
          <p:nvPr/>
        </p:nvSpPr>
        <p:spPr>
          <a:xfrm>
            <a:off x="8766315" y="297598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1.01배</a:t>
            </a:r>
          </a:p>
        </p:txBody>
      </p:sp>
      <p:sp>
        <p:nvSpPr>
          <p:cNvPr id="282" name="row"/>
          <p:cNvSpPr/>
          <p:nvPr/>
        </p:nvSpPr>
        <p:spPr>
          <a:xfrm>
            <a:off x="548640" y="337744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3" name="cell"/>
          <p:cNvSpPr txBox="1"/>
          <p:nvPr/>
        </p:nvSpPr>
        <p:spPr>
          <a:xfrm>
            <a:off x="698640" y="337744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이중 고정·치환·경계 강화</a:t>
            </a:r>
          </a:p>
        </p:txBody>
      </p:sp>
      <p:sp>
        <p:nvSpPr>
          <p:cNvPr id="284" name="cell"/>
          <p:cNvSpPr txBox="1"/>
          <p:nvPr/>
        </p:nvSpPr>
        <p:spPr>
          <a:xfrm>
            <a:off x="6461265" y="337744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1.04배</a:t>
            </a:r>
          </a:p>
        </p:txBody>
      </p:sp>
      <p:sp>
        <p:nvSpPr>
          <p:cNvPr id="285" name="cell"/>
          <p:cNvSpPr txBox="1"/>
          <p:nvPr/>
        </p:nvSpPr>
        <p:spPr>
          <a:xfrm>
            <a:off x="8766315" y="337744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1.06배</a:t>
            </a:r>
          </a:p>
        </p:txBody>
      </p:sp>
      <p:sp>
        <p:nvSpPr>
          <p:cNvPr id="286" name="row"/>
          <p:cNvSpPr/>
          <p:nvPr/>
        </p:nvSpPr>
        <p:spPr>
          <a:xfrm>
            <a:off x="548640" y="377890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7" name="cell"/>
          <p:cNvSpPr txBox="1"/>
          <p:nvPr/>
        </p:nvSpPr>
        <p:spPr>
          <a:xfrm>
            <a:off x="698640" y="377890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대칭 변수 병합</a:t>
            </a:r>
          </a:p>
        </p:txBody>
      </p:sp>
      <p:sp>
        <p:nvSpPr>
          <p:cNvPr id="288" name="cell"/>
          <p:cNvSpPr txBox="1"/>
          <p:nvPr/>
        </p:nvSpPr>
        <p:spPr>
          <a:xfrm>
            <a:off x="6461265" y="377890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1.03배</a:t>
            </a:r>
          </a:p>
        </p:txBody>
      </p:sp>
      <p:sp>
        <p:nvSpPr>
          <p:cNvPr id="289" name="cell"/>
          <p:cNvSpPr txBox="1"/>
          <p:nvPr/>
        </p:nvSpPr>
        <p:spPr>
          <a:xfrm>
            <a:off x="8766315" y="377890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1.36배</a:t>
            </a:r>
          </a:p>
        </p:txBody>
      </p:sp>
      <p:sp>
        <p:nvSpPr>
          <p:cNvPr id="290" name="row"/>
          <p:cNvSpPr/>
          <p:nvPr/>
        </p:nvSpPr>
        <p:spPr>
          <a:xfrm>
            <a:off x="548640" y="418036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1" name="cell"/>
          <p:cNvSpPr txBox="1"/>
          <p:nvPr/>
        </p:nvSpPr>
        <p:spPr>
          <a:xfrm>
            <a:off x="698640" y="418036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Orbital fixing</a:t>
            </a:r>
          </a:p>
        </p:txBody>
      </p:sp>
      <p:sp>
        <p:nvSpPr>
          <p:cNvPr id="292" name="cell"/>
          <p:cNvSpPr txBox="1"/>
          <p:nvPr/>
        </p:nvSpPr>
        <p:spPr>
          <a:xfrm>
            <a:off x="6461265" y="418036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1.20배</a:t>
            </a:r>
          </a:p>
        </p:txBody>
      </p:sp>
      <p:sp>
        <p:nvSpPr>
          <p:cNvPr id="293" name="cell"/>
          <p:cNvSpPr txBox="1"/>
          <p:nvPr/>
        </p:nvSpPr>
        <p:spPr>
          <a:xfrm>
            <a:off x="8766315" y="418036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1.77배</a:t>
            </a:r>
          </a:p>
        </p:txBody>
      </p:sp>
      <p:sp>
        <p:nvSpPr>
          <p:cNvPr id="294" name="row"/>
          <p:cNvSpPr/>
          <p:nvPr/>
        </p:nvSpPr>
        <p:spPr>
          <a:xfrm>
            <a:off x="548640" y="458182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5" name="cell"/>
          <p:cNvSpPr txBox="1"/>
          <p:nvPr/>
        </p:nvSpPr>
        <p:spPr>
          <a:xfrm>
            <a:off x="698640" y="458182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단일 제약 reduction 전체</a:t>
            </a:r>
          </a:p>
        </p:txBody>
      </p:sp>
      <p:sp>
        <p:nvSpPr>
          <p:cNvPr id="296" name="cell"/>
          <p:cNvSpPr txBox="1"/>
          <p:nvPr/>
        </p:nvSpPr>
        <p:spPr>
          <a:xfrm>
            <a:off x="6461265" y="458182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1.26배</a:t>
            </a:r>
          </a:p>
        </p:txBody>
      </p:sp>
      <p:sp>
        <p:nvSpPr>
          <p:cNvPr id="297" name="cell"/>
          <p:cNvSpPr txBox="1"/>
          <p:nvPr/>
        </p:nvSpPr>
        <p:spPr>
          <a:xfrm>
            <a:off x="8766315" y="458182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1.26배</a:t>
            </a:r>
          </a:p>
        </p:txBody>
      </p:sp>
      <p:sp>
        <p:nvSpPr>
          <p:cNvPr id="298" name="row"/>
          <p:cNvSpPr/>
          <p:nvPr/>
        </p:nvSpPr>
        <p:spPr>
          <a:xfrm>
            <a:off x="548640" y="4983280"/>
            <a:ext cx="11064240" cy="361460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9" name="cell"/>
          <p:cNvSpPr txBox="1"/>
          <p:nvPr/>
        </p:nvSpPr>
        <p:spPr>
          <a:xfrm>
            <a:off x="698640" y="4983280"/>
            <a:ext cx="546262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presolve 전체</a:t>
            </a:r>
          </a:p>
        </p:txBody>
      </p:sp>
      <p:sp>
        <p:nvSpPr>
          <p:cNvPr id="300" name="cell"/>
          <p:cNvSpPr txBox="1"/>
          <p:nvPr/>
        </p:nvSpPr>
        <p:spPr>
          <a:xfrm>
            <a:off x="6461265" y="4983280"/>
            <a:ext cx="2005050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9.05배</a:t>
            </a:r>
          </a:p>
        </p:txBody>
      </p:sp>
      <p:sp>
        <p:nvSpPr>
          <p:cNvPr id="301" name="cell"/>
          <p:cNvSpPr txBox="1"/>
          <p:nvPr/>
        </p:nvSpPr>
        <p:spPr>
          <a:xfrm>
            <a:off x="8766315" y="4983280"/>
            <a:ext cx="2696565" cy="36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</a:p>
        </p:txBody>
      </p:sp>
      <p:sp>
        <p:nvSpPr>
          <p:cNvPr id="302" name="note"/>
          <p:cNvSpPr txBox="1"/>
          <p:nvPr/>
        </p:nvSpPr>
        <p:spPr>
          <a:xfrm>
            <a:off x="548640" y="5424740"/>
            <a:ext cx="1106424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0"/>
              </a:spcAft>
              <a:buNone/>
            </a:pPr>
            <a:r>
              <a:rPr lang="en-US" sz="1500" b="0" dirty="0">
                <a:solidFill>
                  <a:schemeClr val="tx2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"단일 제약 reduction"은 한 번에 제약 하나(와 변수 경계, 정수 조건)만 보는 기법의 묶음입니다. 끈다는 것은 사용자 옵션이 아니라 저자들이 소스 코드를 고쳐서 꺼 본 실험입니다.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모델을 쓰는 사람에게 주는 시사점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03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Achterberg, Bixby, Gu, Rothberg, Weninger, Presolve Reductions in MIP (ZIB 16-44)</a:t>
            </a:r>
          </a:p>
        </p:txBody>
      </p:sp>
      <p:sp>
        <p:nvSpPr>
          <p:cNvPr id="304" name="card"/>
          <p:cNvSpPr/>
          <p:nvPr/>
        </p:nvSpPr>
        <p:spPr>
          <a:xfrm>
            <a:off x="548640" y="1371600"/>
            <a:ext cx="606795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5" name="head"/>
          <p:cNvSpPr txBox="1"/>
          <p:nvPr/>
        </p:nvSpPr>
        <p:spPr>
          <a:xfrm>
            <a:off x="777240" y="1521600"/>
            <a:ext cx="5610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실무 요약</a:t>
            </a:r>
          </a:p>
        </p:txBody>
      </p:sp>
      <p:sp>
        <p:nvSpPr>
          <p:cNvPr id="306" name="body"/>
          <p:cNvSpPr txBox="1"/>
          <p:nvPr/>
        </p:nvSpPr>
        <p:spPr>
          <a:xfrm>
            <a:off x="777240" y="1997360"/>
            <a:ext cx="561075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변수 경계를 정확히 씁니다.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활동량 계산이 경계에서 출발하므로, 경계가 느슨하거나 무한이면 redundant 판정도 계수 강화도 아무것도 못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Big-M은 데이터로 계산한 가장 작은 값으로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씁니다. presolve가 일부를 줄여 주지만 경계를 알아야 합니다.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모델을 일부러 "단순화"하려고 redundant 제약을 직접 지우는 것은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신중하게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cut의 재료가 될 수 있습니다.</a:t>
            </a:r>
          </a:p>
        </p:txBody>
      </p:sp>
      <p:sp>
        <p:nvSpPr>
          <p:cNvPr id="307" name="card"/>
          <p:cNvSpPr/>
          <p:nvPr/>
        </p:nvSpPr>
        <p:spPr>
          <a:xfrm>
            <a:off x="6845198" y="1371600"/>
            <a:ext cx="476768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8" name="head"/>
          <p:cNvSpPr txBox="1"/>
          <p:nvPr/>
        </p:nvSpPr>
        <p:spPr>
          <a:xfrm>
            <a:off x="7073798" y="1521600"/>
            <a:ext cx="43104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이 자료의 한계</a:t>
            </a:r>
          </a:p>
        </p:txBody>
      </p:sp>
      <p:sp>
        <p:nvSpPr>
          <p:cNvPr id="309" name="body"/>
          <p:cNvSpPr txBox="1"/>
          <p:nvPr/>
        </p:nvSpPr>
        <p:spPr>
          <a:xfrm>
            <a:off x="7073798" y="1997360"/>
            <a:ext cx="431048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읽은 것은 2016년 프리프린트이고 </a:t>
            </a: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Gurobi 6.5 기준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입니다. 이후 버전의 기본 설정과 효과는 다를 수 있습니다.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모든 수치는 저자들의 모델 세트와 하드웨어(4코어 i7-3770K)에서의 결과입니다.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계수 강화의 Big-M 계산(d′)은 논문 식에 제가 대입한 것이고 논문의 예시가 아닙니다.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확인 문제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310" name="footer"/>
          <p:cNvSpPr txBox="1"/>
          <p:nvPr/>
        </p:nvSpPr>
        <p:spPr>
          <a:xfrm>
            <a:off x="548640" y="635508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accent3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직접 만든 문제입니다. 풀이는 제가 계산한 값</a:t>
            </a:r>
          </a:p>
        </p:txBody>
      </p:sp>
      <p:sp>
        <p:nvSpPr>
          <p:cNvPr id="311" name="card"/>
          <p:cNvSpPr/>
          <p:nvPr/>
        </p:nvSpPr>
        <p:spPr>
          <a:xfrm>
            <a:off x="548640" y="1371600"/>
            <a:ext cx="5959602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2" name="head"/>
          <p:cNvSpPr txBox="1"/>
          <p:nvPr/>
        </p:nvSpPr>
        <p:spPr>
          <a:xfrm>
            <a:off x="777240" y="1521600"/>
            <a:ext cx="55024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문제</a:t>
            </a:r>
          </a:p>
        </p:txBody>
      </p:sp>
      <p:sp>
        <p:nvSpPr>
          <p:cNvPr id="313" name="body"/>
          <p:cNvSpPr txBox="1"/>
          <p:nvPr/>
        </p:nvSpPr>
        <p:spPr>
          <a:xfrm>
            <a:off x="777240" y="1997360"/>
            <a:ext cx="5502402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Q1.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제약 2x₁ − x₂ + 3x₃ ≤ 7, 경계 0 ≤ x₁ ≤ 3, 0 ≤ x₂ ≤ 4, 0 ≤ x₃ ≤ 2. inf, sup 와 판정은?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Q2.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3x₁ + 2x₂ ≤ 12, x₁ ∈ [0, 10] 정수, x₂ ∈ [2, 5]. x₁ 의 새 상한은?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Q3.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x − 8y ≤ 0, 0 ≤ x ≤ 3, y ∈ {0, 1}. 계수 강화 후 제약은?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Q4.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왜 솔버는 redundant 제약을 "LP 완화에서도 redundant"일 때만 지우나?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8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Q5.</a:t>
            </a:r>
            <a:r>
              <a:rPr lang="en-US" sz="180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presolve를 끄면 10초 이상 구간에서 시간이 몇 배?</a:t>
            </a:r>
          </a:p>
        </p:txBody>
      </p:sp>
      <p:sp>
        <p:nvSpPr>
          <p:cNvPr id="314" name="card"/>
          <p:cNvSpPr/>
          <p:nvPr/>
        </p:nvSpPr>
        <p:spPr>
          <a:xfrm>
            <a:off x="6736842" y="1371600"/>
            <a:ext cx="4876038" cy="4846320"/>
          </a:xfrm>
          <a:prstGeom prst="roundRect">
            <a:avLst>
              <a:gd name="adj" fmla="val 22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5" name="head"/>
          <p:cNvSpPr txBox="1"/>
          <p:nvPr/>
        </p:nvSpPr>
        <p:spPr>
          <a:xfrm>
            <a:off x="6965442" y="1521600"/>
            <a:ext cx="44188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정답과 해설</a:t>
            </a:r>
          </a:p>
        </p:txBody>
      </p:sp>
      <p:sp>
        <p:nvSpPr>
          <p:cNvPr id="316" name="body"/>
          <p:cNvSpPr txBox="1"/>
          <p:nvPr/>
        </p:nvSpPr>
        <p:spPr>
          <a:xfrm>
            <a:off x="6965442" y="1997360"/>
            <a:ext cx="4418838" cy="40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A1.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inf = 0 − 4 + 0 =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−4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, sup = 6 − 0 + 6 =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12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. −4 ≤ 7 &lt; 12 → 삭제도 비실현도 아님.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A2.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ℓ_S = 2·2 = 4, (12 − 4)/3 = 2.67, 정수 내림 →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x₁ ≤ 2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A3.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u_S = 3, d′ = 0 − 3 − (−8)(1) = 5 &gt; 0, −a = 8 ≥ 5 ✓. 새 제약 x + (−8 + 5)y ≤ 0, 즉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x − 3y ≤ 0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(M: 8 → 3)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A4.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cut 같은 MIP-redundant 제약은 정수해는 안 자르지만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LP 완화를 조이는 데 쓰이기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때문.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A5.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</a:t>
            </a:r>
            <a:r>
              <a:rPr lang="en-US" sz="1650" b="1" dirty="0">
                <a:solidFill>
                  <a:schemeClr val="accent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약 9.05배</a:t>
            </a:r>
            <a:r>
              <a:rPr lang="en-US" sz="1650" b="0" dirty="0">
                <a:solidFill>
                  <a:schemeClr val="tx1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 (전체 3.36배, 1,000초 이상은 19.48배).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LP Speedup">
  <a:themeElements>
    <a:clrScheme name="MILP Speedup">
      <a:dk1>
        <a:srgbClr val="1B1F2A"/>
      </a:dk1>
      <a:lt1>
        <a:srgbClr val="FFFFFF"/>
      </a:lt1>
      <a:dk2>
        <a:srgbClr val="123C4A"/>
      </a:dk2>
      <a:lt2>
        <a:srgbClr val="EEF3F4"/>
      </a:lt2>
      <a:accent1>
        <a:srgbClr val="0F7B8A"/>
      </a:accent1>
      <a:accent2>
        <a:srgbClr val="E07A1F"/>
      </a:accent2>
      <a:accent3>
        <a:srgbClr val="5B6B7A"/>
      </a:accent3>
      <a:accent4>
        <a:srgbClr val="2E9E6B"/>
      </a:accent4>
      <a:accent5>
        <a:srgbClr val="B23A48"/>
      </a:accent5>
      <a:accent6>
        <a:srgbClr val="8A6FD1"/>
      </a:accent6>
      <a:hlink>
        <a:srgbClr val="0F7B8A"/>
      </a:hlink>
      <a:folHlink>
        <a:srgbClr val="5B6B7A"/>
      </a:folHlink>
    </a:clrScheme>
    <a:fontScheme name="MILP Speedup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2026-10-22T13:39:41Z</dcterms:created>
  <dcterms:modified xsi:type="dcterms:W3CDTF">2026-10-22T13:39:41Z</dcterms:modified>
</cp:coreProperties>
</file>