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9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리뷰 · 과외 노트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대칭성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이름만 다른 해를 두 번 풀지 않기 — 과외 노트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6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외 (2016/2019) 7.1·8.2절 · Margot (2003, 전문 미확인)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C9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Inhan Kang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대칭이 왜 문제인가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01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8.2절. 상자 예는 제가 만든 것</a:t>
            </a:r>
          </a:p>
        </p:txBody>
      </p:sp>
      <p:sp>
        <p:nvSpPr>
          <p:cNvPr id="102" name="card"/>
          <p:cNvSpPr/>
          <p:nvPr/>
        </p:nvSpPr>
        <p:spPr>
          <a:xfrm>
            <a:off x="548640" y="1371600"/>
            <a:ext cx="563453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3" name="head"/>
          <p:cNvSpPr txBox="1"/>
          <p:nvPr/>
        </p:nvSpPr>
        <p:spPr>
          <a:xfrm>
            <a:off x="777240" y="1521600"/>
            <a:ext cx="51773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8.2절의 설명</a:t>
            </a:r>
          </a:p>
        </p:txBody>
      </p:sp>
      <p:sp>
        <p:nvSpPr>
          <p:cNvPr id="104" name="body"/>
          <p:cNvSpPr txBox="1"/>
          <p:nvPr/>
        </p:nvSpPr>
        <p:spPr>
          <a:xfrm>
            <a:off x="777240" y="1997360"/>
            <a:ext cx="517733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대칭이란 변수(열)와 제약(행)의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이름을 바꿔 쓰면 같은 문제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 되는 구조입니다.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"많은 MIP 인스턴스에는 대칭이 있어서, 어떤 실행가능해에 대해서도 목적값이 같고 행렬의 열과 행 인덱스를 치환해서 얻는 다른 해가 존재한다."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대칭은 탐색 트리에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대칭인 복사본 부분 문제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 만들고, 그 각각이 서로 동등한 해를 담고 있어서 풀이를 크게 방해할 수 있습니다.</a:t>
            </a:r>
          </a:p>
        </p:txBody>
      </p:sp>
      <p:sp>
        <p:nvSpPr>
          <p:cNvPr id="105" name="card"/>
          <p:cNvSpPr/>
          <p:nvPr/>
        </p:nvSpPr>
        <p:spPr>
          <a:xfrm>
            <a:off x="6411772" y="1371600"/>
            <a:ext cx="520110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6" name="head"/>
          <p:cNvSpPr txBox="1"/>
          <p:nvPr/>
        </p:nvSpPr>
        <p:spPr>
          <a:xfrm>
            <a:off x="6640372" y="1521600"/>
            <a:ext cx="4743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만든 설명 예</a:t>
            </a:r>
          </a:p>
        </p:txBody>
      </p:sp>
      <p:sp>
        <p:nvSpPr>
          <p:cNvPr id="107" name="body"/>
          <p:cNvSpPr txBox="1"/>
          <p:nvPr/>
        </p:nvSpPr>
        <p:spPr>
          <a:xfrm>
            <a:off x="6640372" y="1997360"/>
            <a:ext cx="474390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크기의 상자 k개에 물건을 나누어 넣는 문제를 생각합니다.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"상자 1에 A, 상자 2에 B" 와 "상자 1에 B, 상자 2에 A" 는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이름만 다른 같은 배치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상자가 k개면 같은 배치가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k! 가지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이름 붙이기로 나타납니다.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분지한계법은 이걸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서로 다른 해로 보고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복사본을 각각 따로 탐색합니다. 한 복사본에서 "이 가지는 최선이 아니다"를 알아내도 다른 복사본에서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일을 또 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자료의 나머지는 이 낭비를 어떻게 줄이는지입니다.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숫자로 보는 복사본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08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제가 만든 예. 복사본 수는 순열의 개수로 계산</a:t>
            </a:r>
          </a:p>
        </p:txBody>
      </p:sp>
      <p:sp>
        <p:nvSpPr>
          <p:cNvPr id="109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0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상자 3개, 물건 A·B (제가 만든 예)</a:t>
            </a:r>
          </a:p>
        </p:txBody>
      </p:sp>
      <p:sp>
        <p:nvSpPr>
          <p:cNvPr id="111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상자 3개의 용량이 모두 같고, 물건 A, B를 서로 다른 상자에 넣는 해를 봅시다.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 x_{A,b} = 1 이면 "A를 상자 b에".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 후보: (A→1, B→2), (A→1, B→3), (A→2, B→1), (A→2, B→3), (A→3, B→1), (A→3, B→2)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6가지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그런데 "A와 B가 서로 다른 상자에 있다"는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구조적으로는 한 가지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 상자에 번호만 다르게 붙였을 뿐입니다.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3! = 6 이 정확히 이 복사본의 개수입니다.</a:t>
            </a:r>
          </a:p>
        </p:txBody>
      </p:sp>
      <p:sp>
        <p:nvSpPr>
          <p:cNvPr id="112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3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문제는 규모</a:t>
            </a:r>
          </a:p>
        </p:txBody>
      </p:sp>
      <p:sp>
        <p:nvSpPr>
          <p:cNvPr id="114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상자가 10개면 10!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3,628,800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개의 복사본입니다.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트리가 이 복사본을 전부 따로 탐색하면 같은 일을 수백만 번 되풀이하는 셈입니다.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대칭을 알아채면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복사본 하나만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탐색하고 나머지는 건너뛸 수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그러려면 먼저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대칭이 있다는 걸 솔버가 알아내야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합니다. 다음 슬라이드부터 그 이야기입니다.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대칭의 정의 (Definition 7)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15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2장·7.1절, Definition 7</a:t>
            </a:r>
          </a:p>
        </p:txBody>
      </p:sp>
      <p:sp>
        <p:nvSpPr>
          <p:cNvPr id="116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7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인덱스 치환 π (열)과 σ (행)</a:t>
            </a:r>
          </a:p>
        </p:txBody>
      </p:sp>
      <p:sp>
        <p:nvSpPr>
          <p:cNvPr id="118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인덱스 집합 N의 치환 π : N → N 이 아래를 만족하면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대칭 생성원(symmetry generator)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열이 같은 성질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c_j = c_π(j), ℓ_j = ℓ_π(j), u_j = u_π(j), 그리고 j ∈ I ⇔ π(j) ∈ I (목적계수, 경계, 정수성이 같다)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행의 치환 σ 가 있어서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b_i = b_σ(i), ∘_i = ∘_σ(i),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A_{σ(i) π(j)} = A_{ij}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쉽게 말하면: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열을 π로, 행을 σ로 섞었을 때 제약 행렬이 글자 그대로 똑같아진다.</a:t>
            </a:r>
          </a:p>
        </p:txBody>
      </p:sp>
      <p:sp>
        <p:nvSpPr>
          <p:cNvPr id="119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0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추가로 두 종류</a:t>
            </a:r>
          </a:p>
        </p:txBody>
      </p:sp>
      <p:sp>
        <p:nvSpPr>
          <p:cNvPr id="121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비중첩(non-overlapping) 생성원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π(j) ≠ j 인 모든 j 에서 열 A_·j 와 A_·π(j) 의 비영 행이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겹치지 않습니다.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즉 j 와 π(j) 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행에 함께 나오지 않습니다.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연속변수 생성원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π(j) ≠ j 인 모든 j 가 연속변수입니다.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두 성질이 뒤에 나오는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 병합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 조건입니다.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Gurobi는 Saucy(Darga 외)의 아이디어를 바탕으로 한 알고리즘으로 대칭을 탐지합니다.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대칭은 어떻게 찾나 (1): 그래프로 바꾼다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22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일반적인 탐지 방식의 설명(논문 외). 정의는 Achterberg, Bixby, Gu, Rothberg, Weninger, Presolve Reductions in MIP (ZIB 16-44)</a:t>
            </a:r>
          </a:p>
        </p:txBody>
      </p:sp>
      <p:sp>
        <p:nvSpPr>
          <p:cNvPr id="123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4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밖의 일반적인 방식</a:t>
            </a:r>
          </a:p>
        </p:txBody>
      </p:sp>
      <p:sp>
        <p:nvSpPr>
          <p:cNvPr id="125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논문은 "Gurobi는 Saucy 기반 알고리즘으로 탐지한다"까지만 적습니다. 아래는 이 분야의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표준적인 방식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제가 설명한 것입니다.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변수마다 정점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색 = (목적계수, 상·하한, 정수 여부)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제약마다 정점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색 = (우변, 부등호 방향)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0이 아닌 계수마다 간선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(변수 정점 — 제약 정점): 색 = 계수 값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이러면 대칭은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색과 연결을 보존하며 정점을 재배치하는 방법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곧 그래프의 automorphism이 됩니다.</a:t>
            </a:r>
          </a:p>
        </p:txBody>
      </p:sp>
      <p:sp>
        <p:nvSpPr>
          <p:cNvPr id="126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7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이게 맞나</a:t>
            </a:r>
          </a:p>
        </p:txBody>
      </p:sp>
      <p:sp>
        <p:nvSpPr>
          <p:cNvPr id="128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Definition 7의 조건을 그대로 그래프로 옮긴 것입니다.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정점 색 = ① (같은 성질), 간선과 간선 색 = A_{σ(i)π(j)} = A_{ij}.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색이 하나라도 다르면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서로 바뀔 수 없습니다.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"같은 목적계수를 가진 변수"만으로는 대칭이 아니고,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연결된 제약과 계수까지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같아야 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대칭은 어떻게 찾나 (2): Example 9로 따라가기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29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7.1절, Example 9. 단계별 확인은 제가 한 것</a:t>
            </a:r>
          </a:p>
        </p:txBody>
      </p:sp>
      <p:sp>
        <p:nvSpPr>
          <p:cNvPr id="130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1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Example 9 (모두 이진)</a:t>
            </a:r>
          </a:p>
        </p:txBody>
      </p:sp>
      <p:sp>
        <p:nvSpPr>
          <p:cNvPr id="132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max 4x₁ + 4x₂ + 2x₃ + 2x₄ + 3x₅ + 4x₆ + 5x₇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 1: x₁ + 4x₃ + x₅ + 3x₆ + 2x₇ ≤ 8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 2: x₂ + 4x₄ + x₅ + 3x₆ + 2x₇ ≤ 8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정점 색(목적계수)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x₁, x₂, x₆ 은 4로 같은 색. x₃, x₄ 는 2. x₅ 는 3. x₇ 은 5.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그런데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과 x₆ 은 바뀔 수 없습니다.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x₁ 은 제약 1에만 계수 1로, x₆ 은 두 제약 모두에 계수 3으로 붙어 있어 간선이 다릅니다.</a:t>
            </a:r>
          </a:p>
        </p:txBody>
      </p:sp>
      <p:sp>
        <p:nvSpPr>
          <p:cNvPr id="133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4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후보 π = (1 2)(3 4) 확인</a:t>
            </a:r>
          </a:p>
        </p:txBody>
      </p:sp>
      <p:sp>
        <p:nvSpPr>
          <p:cNvPr id="135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↔ x₂, x₃ ↔ x₄, 제약 1 ↔ 제약 2 로 바꿔 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— 제약1 (계수 1) 은 x₂ — 제약2 (계수 1) 로 옮겨지고, 원래 있던 간선입니다. ✓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x₃ — 제약1 (계수 4) 은 x₄ — 제약2 (계수 4) 로 ✓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x₅, x₆, x₇ 은 두 제약에 같은 계수로 붙어 있어 제약을 맞바꿔도 그대로입니다. ✓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따라서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π = (1 2)(3 4) 는 대칭 생성원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 궤도(orbit): {x₁, x₂}, {x₃, x₄}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x₁, x₂ 는 같은 제약에 함께 나오지 않으므로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비중첩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컴퓨터는 어떻게 빨리 찾나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36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일반적인 설명(논문 외)</a:t>
            </a:r>
          </a:p>
        </p:txBody>
      </p:sp>
      <p:sp>
        <p:nvSpPr>
          <p:cNvPr id="137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8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생성원만 찾는다</a:t>
            </a:r>
          </a:p>
        </p:txBody>
      </p:sp>
      <p:sp>
        <p:nvSpPr>
          <p:cNvPr id="139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그래프의 automorphism을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나열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하면 폭발합니다. 상자 k개면 k! 개입니다.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nauty, bliss, Saucy 같은 도구는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생성원만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찾습니다. 생성원은 "이것들을 조합하면 모든 대칭이 나오는" 작은 집합입니다.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보통 몇 개에서 수십 개입니다.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방법: 정점을 색으로 먼저 분류하고, 한 정점을 고정해 가며 가능한 짝을 탐색. 대칭이 아니라고 판명된 가지는 일찍 버립니다.</a:t>
            </a:r>
          </a:p>
        </p:txBody>
      </p:sp>
      <p:sp>
        <p:nvSpPr>
          <p:cNvPr id="140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1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기억할 점</a:t>
            </a:r>
          </a:p>
        </p:txBody>
      </p:sp>
      <p:sp>
        <p:nvSpPr>
          <p:cNvPr id="142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그래프 automorphism은 일반적으로 다항 시간 알고리즘이 알려져 있지 않지만, MIP처럼 구조가 있는 그래프에서는 실용적으로 빠르다고 알려져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탐지는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루트에서 한 번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합니다. 노드마다 달라지는 대칭은 orbital fixing(11~12번)이 따로 다룹니다.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찾은 생성원으로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궤도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 만들고, 궤도를 이용해 변수를 합치거나(7.1절) 경계를 맞춥니다(8.2절).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변수 병합 (7.1절)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43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7.1절</a:t>
            </a:r>
          </a:p>
        </p:txBody>
      </p:sp>
      <p:sp>
        <p:nvSpPr>
          <p:cNvPr id="144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5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비중첩 대칭 생성원이 있으면 변수를 합친다</a:t>
            </a:r>
          </a:p>
        </p:txBody>
      </p:sp>
      <p:sp>
        <p:nvSpPr>
          <p:cNvPr id="146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비중첩 대칭 생성원 π 가 있으면 x_j := x_π(j) 로 변수를 합칠 수 있습니다.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정수든 아니든 상관없습니다.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궤도(orbit)에 있는 변수는 모두 하나의 변수로 합쳐집니다.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연속변수 생성원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이면 합친 변수는 궤도 변수들의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산술평균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 해당합니다.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변수에서는 평균이 정수성을 깨므로 이런 병합은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불가능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합니다.</a:t>
            </a:r>
          </a:p>
        </p:txBody>
      </p:sp>
      <p:sp>
        <p:nvSpPr>
          <p:cNvPr id="147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8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합쳐도 되나</a:t>
            </a:r>
          </a:p>
        </p:txBody>
      </p:sp>
      <p:sp>
        <p:nvSpPr>
          <p:cNvPr id="149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비중첩이면 x_j 와 x_π(j) 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제약에 함께 나오지 않아서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한쪽 값을 다른 쪽에 옮겨도 제약이 서로 간섭하지 않습니다.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대칭이라 두 변수의 목적계수도 같으므로, 합친 변수가 대표해도 최적값이 같습니다.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논문이 병합이 일반적으로 유효한 이유를 설명하는 증명은 이 자료에서 따로 확인하지 않았습니다.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합친 뒤에는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같아진 제약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생기고, 5.2절의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평행 행 검출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중복을 지웁니다.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Example 9: 병합 전과 후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50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7.1절, Example 9. 최적값 확인은 제가 한 전수 열거</a:t>
            </a:r>
          </a:p>
        </p:txBody>
      </p:sp>
      <p:sp>
        <p:nvSpPr>
          <p:cNvPr id="151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2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병합 (x₂ := x₁, x₄ := x₃)</a:t>
            </a:r>
          </a:p>
        </p:txBody>
      </p:sp>
      <p:sp>
        <p:nvSpPr>
          <p:cNvPr id="153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병합 후 문제: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max 8x₁ + 4x₃ + 3x₅ + 4x₆ + 5x₇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제약: x₁ + 4x₃ + x₅ + 3x₆ + 2x₇ ≤ 8  (두 번 똑같이 나옴)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제약이 같아져서 평행 행 검출이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하나를 지웁니다.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변수: 7개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 제약: 2개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1개</a:t>
            </a:r>
          </a:p>
        </p:txBody>
      </p:sp>
      <p:sp>
        <p:nvSpPr>
          <p:cNvPr id="154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5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제가 직접 확인한 계산 (전수 열거)</a:t>
            </a:r>
          </a:p>
        </p:txBody>
      </p:sp>
      <p:sp>
        <p:nvSpPr>
          <p:cNvPr id="156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원래 문제(변수 7개 이진)의 최적값은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최적해는 (x₁…x₇) = (1,1,0,0,1,1,1) 과 (1,1,1,1,1,0,1) 두 개입니다.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병합한 문제의 최적값도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최적해는 (x₁, x₃, x₅, x₆, x₇) = (1,0,1,1,1), (1,1,1,0,1) 로, 위 두 해와 정확히 대응합니다.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이것은 논문의 내용이 아니라 제가 두 문제를 직접 열거해 확인한 것입니다.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병합의 효과: Table 28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57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Table 28. 대칭 변수 병합을 끈 실험</a:t>
            </a:r>
          </a:p>
        </p:txBody>
      </p:sp>
      <p:sp>
        <p:nvSpPr>
          <p:cNvPr id="158" name="th"/>
          <p:cNvSpPr txBox="1"/>
          <p:nvPr/>
        </p:nvSpPr>
        <p:spPr>
          <a:xfrm>
            <a:off x="698640" y="1371600"/>
            <a:ext cx="20293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구간</a:t>
            </a:r>
          </a:p>
        </p:txBody>
      </p:sp>
      <p:sp>
        <p:nvSpPr>
          <p:cNvPr id="159" name="th"/>
          <p:cNvSpPr txBox="1"/>
          <p:nvPr/>
        </p:nvSpPr>
        <p:spPr>
          <a:xfrm>
            <a:off x="3027953" y="1371600"/>
            <a:ext cx="26116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모델 시간 배수</a:t>
            </a:r>
          </a:p>
        </p:txBody>
      </p:sp>
      <p:sp>
        <p:nvSpPr>
          <p:cNvPr id="160" name="th"/>
          <p:cNvSpPr txBox="1"/>
          <p:nvPr/>
        </p:nvSpPr>
        <p:spPr>
          <a:xfrm>
            <a:off x="5939595" y="1371600"/>
            <a:ext cx="22234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영향받은 모델</a:t>
            </a:r>
          </a:p>
        </p:txBody>
      </p:sp>
      <p:sp>
        <p:nvSpPr>
          <p:cNvPr id="161" name="th"/>
          <p:cNvSpPr txBox="1"/>
          <p:nvPr/>
        </p:nvSpPr>
        <p:spPr>
          <a:xfrm>
            <a:off x="8463018" y="1371600"/>
            <a:ext cx="29998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영향받은 모델의 시간 배수</a:t>
            </a:r>
          </a:p>
        </p:txBody>
      </p:sp>
      <p:sp>
        <p:nvSpPr>
          <p:cNvPr id="162" name="row"/>
          <p:cNvSpPr/>
          <p:nvPr/>
        </p:nvSpPr>
        <p:spPr>
          <a:xfrm>
            <a:off x="548640" y="177160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3" name="cell"/>
          <p:cNvSpPr txBox="1"/>
          <p:nvPr/>
        </p:nvSpPr>
        <p:spPr>
          <a:xfrm>
            <a:off x="698640" y="1771600"/>
            <a:ext cx="2029313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10초 이상</a:t>
            </a:r>
          </a:p>
        </p:txBody>
      </p:sp>
      <p:sp>
        <p:nvSpPr>
          <p:cNvPr id="164" name="cell"/>
          <p:cNvSpPr txBox="1"/>
          <p:nvPr/>
        </p:nvSpPr>
        <p:spPr>
          <a:xfrm>
            <a:off x="3027953" y="1771600"/>
            <a:ext cx="26116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1.03</a:t>
            </a:r>
          </a:p>
        </p:txBody>
      </p:sp>
      <p:sp>
        <p:nvSpPr>
          <p:cNvPr id="165" name="cell"/>
          <p:cNvSpPr txBox="1"/>
          <p:nvPr/>
        </p:nvSpPr>
        <p:spPr>
          <a:xfrm>
            <a:off x="5939595" y="1771600"/>
            <a:ext cx="2223423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130</a:t>
            </a:r>
          </a:p>
        </p:txBody>
      </p:sp>
      <p:sp>
        <p:nvSpPr>
          <p:cNvPr id="166" name="cell"/>
          <p:cNvSpPr txBox="1"/>
          <p:nvPr/>
        </p:nvSpPr>
        <p:spPr>
          <a:xfrm>
            <a:off x="8463018" y="1771600"/>
            <a:ext cx="2999861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1.36</a:t>
            </a:r>
          </a:p>
        </p:txBody>
      </p:sp>
      <p:sp>
        <p:nvSpPr>
          <p:cNvPr id="167" name="row"/>
          <p:cNvSpPr/>
          <p:nvPr/>
        </p:nvSpPr>
        <p:spPr>
          <a:xfrm>
            <a:off x="548640" y="224306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8" name="cell"/>
          <p:cNvSpPr txBox="1"/>
          <p:nvPr/>
        </p:nvSpPr>
        <p:spPr>
          <a:xfrm>
            <a:off x="698640" y="2243060"/>
            <a:ext cx="2029313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100초 이상</a:t>
            </a:r>
          </a:p>
        </p:txBody>
      </p:sp>
      <p:sp>
        <p:nvSpPr>
          <p:cNvPr id="169" name="cell"/>
          <p:cNvSpPr txBox="1"/>
          <p:nvPr/>
        </p:nvSpPr>
        <p:spPr>
          <a:xfrm>
            <a:off x="3027953" y="2243060"/>
            <a:ext cx="26116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1.06</a:t>
            </a:r>
          </a:p>
        </p:txBody>
      </p:sp>
      <p:sp>
        <p:nvSpPr>
          <p:cNvPr id="170" name="cell"/>
          <p:cNvSpPr txBox="1"/>
          <p:nvPr/>
        </p:nvSpPr>
        <p:spPr>
          <a:xfrm>
            <a:off x="5939595" y="2243060"/>
            <a:ext cx="2223423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88</a:t>
            </a:r>
          </a:p>
        </p:txBody>
      </p:sp>
      <p:sp>
        <p:nvSpPr>
          <p:cNvPr id="171" name="cell"/>
          <p:cNvSpPr txBox="1"/>
          <p:nvPr/>
        </p:nvSpPr>
        <p:spPr>
          <a:xfrm>
            <a:off x="8463018" y="2243060"/>
            <a:ext cx="2999861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1.50</a:t>
            </a:r>
          </a:p>
        </p:txBody>
      </p:sp>
      <p:sp>
        <p:nvSpPr>
          <p:cNvPr id="172" name="row"/>
          <p:cNvSpPr/>
          <p:nvPr/>
        </p:nvSpPr>
        <p:spPr>
          <a:xfrm>
            <a:off x="548640" y="271452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3" name="cell"/>
          <p:cNvSpPr txBox="1"/>
          <p:nvPr/>
        </p:nvSpPr>
        <p:spPr>
          <a:xfrm>
            <a:off x="698640" y="2714520"/>
            <a:ext cx="2029313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1,000초 이상</a:t>
            </a:r>
          </a:p>
        </p:txBody>
      </p:sp>
      <p:sp>
        <p:nvSpPr>
          <p:cNvPr id="174" name="cell"/>
          <p:cNvSpPr txBox="1"/>
          <p:nvPr/>
        </p:nvSpPr>
        <p:spPr>
          <a:xfrm>
            <a:off x="3027953" y="2714520"/>
            <a:ext cx="261164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1.16</a:t>
            </a:r>
          </a:p>
        </p:txBody>
      </p:sp>
      <p:sp>
        <p:nvSpPr>
          <p:cNvPr id="175" name="cell"/>
          <p:cNvSpPr txBox="1"/>
          <p:nvPr/>
        </p:nvSpPr>
        <p:spPr>
          <a:xfrm>
            <a:off x="5939595" y="2714520"/>
            <a:ext cx="2223423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41</a:t>
            </a:r>
          </a:p>
        </p:txBody>
      </p:sp>
      <p:sp>
        <p:nvSpPr>
          <p:cNvPr id="176" name="cell"/>
          <p:cNvSpPr txBox="1"/>
          <p:nvPr/>
        </p:nvSpPr>
        <p:spPr>
          <a:xfrm>
            <a:off x="8463018" y="2714520"/>
            <a:ext cx="2999861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1.84</a:t>
            </a:r>
          </a:p>
        </p:txBody>
      </p:sp>
      <p:sp>
        <p:nvSpPr>
          <p:cNvPr id="177" name="note"/>
          <p:cNvSpPr txBox="1"/>
          <p:nvPr/>
        </p:nvSpPr>
        <p:spPr>
          <a:xfrm>
            <a:off x="548640" y="3225980"/>
            <a:ext cx="110642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전체로는 3%이지만 해당되는 약 10%의 모델에서는 상당한 개선입니다. 논문은 "대칭을 이용하는 reduction의 전형적인 모습"이라고 요약합니다. 적용되는 모델이 적지만 적용되면 매우 중요하다는 뜻입니다.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Orbital fixing (8.2절): 아이디어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78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8.2절</a:t>
            </a:r>
          </a:p>
        </p:txBody>
      </p:sp>
      <p:sp>
        <p:nvSpPr>
          <p:cNvPr id="179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0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궤도 안의 변수는 같은 상한을 가질 수 있다</a:t>
            </a:r>
          </a:p>
        </p:txBody>
      </p:sp>
      <p:sp>
        <p:nvSpPr>
          <p:cNvPr id="181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분지한계 트리의 노드에서는 분지 결정과 노드 presolve로 변수 경계 ℓ̄ ≤ x ≤ ū 가 정해져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노드의 부분 문제에도 대칭이 남아 있을 수 있고, 그 대칭군이 변수 궤도 O 를 만듭니다.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궤도 안의 변수는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모두 같은 상한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가질 수 있습니다: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x_j ≤ min{ ū_k : k ∈ O }   (∀ j ∈ O)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기법은 Margot가 도입했고 Ostrowski의 연구도 인용됩니다.</a:t>
            </a:r>
          </a:p>
        </p:txBody>
      </p:sp>
      <p:sp>
        <p:nvSpPr>
          <p:cNvPr id="182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3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그런가 (직관)</a:t>
            </a:r>
          </a:p>
        </p:txBody>
      </p:sp>
      <p:sp>
        <p:nvSpPr>
          <p:cNvPr id="184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대칭인 변수들은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서로 바꿔 쓸 수 있습니다.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그러니 한 변수에서 알게 된 경계는 다른 변수에도 유효합니다.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"x₁ 은 0일 수밖에 없다"를 알았다면, x₁ 과 서로 바꿔 쓸 수 있는 x₂, x₃ 도 같은 이유로 0일 수 있습니다. 어차피 이름만 다르니까요.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하한도 같은 방식으로 올릴 수 있지만 지역 경계 변경의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출처를 추적해야 해서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Gurobi에는 구현돼 있지 않다고 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Orbital fixing: 숫자 예와 구현의 어려움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85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8.2절. 숫자 예시는 제가 만든 값</a:t>
            </a:r>
          </a:p>
        </p:txBody>
      </p:sp>
      <p:sp>
        <p:nvSpPr>
          <p:cNvPr id="186" name="card"/>
          <p:cNvSpPr/>
          <p:nvPr/>
        </p:nvSpPr>
        <p:spPr>
          <a:xfrm>
            <a:off x="548640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7" name="head"/>
          <p:cNvSpPr txBox="1"/>
          <p:nvPr/>
        </p:nvSpPr>
        <p:spPr>
          <a:xfrm>
            <a:off x="777240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식을 적용한 예 (제가 만든 값)</a:t>
            </a:r>
          </a:p>
        </p:txBody>
      </p:sp>
      <p:sp>
        <p:nvSpPr>
          <p:cNvPr id="188" name="body"/>
          <p:cNvSpPr txBox="1"/>
          <p:nvPr/>
        </p:nvSpPr>
        <p:spPr>
          <a:xfrm>
            <a:off x="777240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노드에서 지역 경계가 이렇다고 합시다. 궤도 O = {x₁, x₂, x₃}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ū₁ = 0 (분지로 상한이 0이 됨),  ū₂ = 1,  ū₃ = 1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min{ū_k} = 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이므로 x₂ ≤ 0, x₃ ≤ 0 으로 낮춥니다.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노드의 부분 트리에서 x₂, x₃ 을 1로 두는 탐색이 한꺼번에 사라집니다.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(단 이 식은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지역에서 유효한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대칭군의 궤도에 대해서만 쓸 수 있습니다. 오른쪽 참고)</a:t>
            </a:r>
          </a:p>
        </p:txBody>
      </p:sp>
      <p:sp>
        <p:nvSpPr>
          <p:cNvPr id="189" name="card"/>
          <p:cNvSpPr/>
          <p:nvPr/>
        </p:nvSpPr>
        <p:spPr>
          <a:xfrm>
            <a:off x="5653278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0" name="head"/>
          <p:cNvSpPr txBox="1"/>
          <p:nvPr/>
        </p:nvSpPr>
        <p:spPr>
          <a:xfrm>
            <a:off x="5881878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구현의 어려움: 지역 대칭군</a:t>
            </a:r>
          </a:p>
        </p:txBody>
      </p:sp>
      <p:sp>
        <p:nvSpPr>
          <p:cNvPr id="191" name="body"/>
          <p:cNvSpPr txBox="1"/>
          <p:nvPr/>
        </p:nvSpPr>
        <p:spPr>
          <a:xfrm>
            <a:off x="5881878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Gurobi는 루트에서 전역 문제의 대칭군 G를 Saucy 기반 알고리즘으로 구해 생성원 집합으로 저장합니다. 문제는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 노드에서 유효한 대칭군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보통 방법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생성원을 걸러서 지역 하한 ℓ̄ 에서 더는 유효하지 않은 것을 버립니다. 싸지만 분지로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새로 생긴 대칭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못 쓰고, 부분적으로 유효한 궤도도 버립니다.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대안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노드마다 지역 대칭군을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처음부터 다시 계산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 아주 오래 걸리지만 특정 구조의 모델에서는 이득이 있어, 그런 구조가 탐지되면 Gurobi 기본 설정에서 켜집니다.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Orbital fixing의 효과: Table 36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92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Table 36. orbital fixing을 끈 실험</a:t>
            </a:r>
          </a:p>
        </p:txBody>
      </p:sp>
      <p:sp>
        <p:nvSpPr>
          <p:cNvPr id="193" name="th"/>
          <p:cNvSpPr txBox="1"/>
          <p:nvPr/>
        </p:nvSpPr>
        <p:spPr>
          <a:xfrm>
            <a:off x="698640" y="1371600"/>
            <a:ext cx="1798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구간</a:t>
            </a:r>
          </a:p>
        </p:txBody>
      </p:sp>
      <p:sp>
        <p:nvSpPr>
          <p:cNvPr id="194" name="th"/>
          <p:cNvSpPr txBox="1"/>
          <p:nvPr/>
        </p:nvSpPr>
        <p:spPr>
          <a:xfrm>
            <a:off x="2797030" y="1371600"/>
            <a:ext cx="19891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모델 시간 배수</a:t>
            </a:r>
          </a:p>
        </p:txBody>
      </p:sp>
      <p:sp>
        <p:nvSpPr>
          <p:cNvPr id="195" name="th"/>
          <p:cNvSpPr txBox="1"/>
          <p:nvPr/>
        </p:nvSpPr>
        <p:spPr>
          <a:xfrm>
            <a:off x="5086183" y="1371600"/>
            <a:ext cx="16076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 수 배수</a:t>
            </a:r>
          </a:p>
        </p:txBody>
      </p:sp>
      <p:sp>
        <p:nvSpPr>
          <p:cNvPr id="196" name="th"/>
          <p:cNvSpPr txBox="1"/>
          <p:nvPr/>
        </p:nvSpPr>
        <p:spPr>
          <a:xfrm>
            <a:off x="6993810" y="1371600"/>
            <a:ext cx="16076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영향받은 모델</a:t>
            </a:r>
          </a:p>
        </p:txBody>
      </p:sp>
      <p:sp>
        <p:nvSpPr>
          <p:cNvPr id="197" name="th"/>
          <p:cNvSpPr txBox="1"/>
          <p:nvPr/>
        </p:nvSpPr>
        <p:spPr>
          <a:xfrm>
            <a:off x="8901437" y="1371600"/>
            <a:ext cx="25614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영향받은 모델의 시간 배수</a:t>
            </a:r>
          </a:p>
        </p:txBody>
      </p:sp>
      <p:sp>
        <p:nvSpPr>
          <p:cNvPr id="198" name="row"/>
          <p:cNvSpPr/>
          <p:nvPr/>
        </p:nvSpPr>
        <p:spPr>
          <a:xfrm>
            <a:off x="548640" y="177160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9" name="cell"/>
          <p:cNvSpPr txBox="1"/>
          <p:nvPr/>
        </p:nvSpPr>
        <p:spPr>
          <a:xfrm>
            <a:off x="698640" y="1771600"/>
            <a:ext cx="179839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10초 이상</a:t>
            </a:r>
          </a:p>
        </p:txBody>
      </p:sp>
      <p:sp>
        <p:nvSpPr>
          <p:cNvPr id="200" name="cell"/>
          <p:cNvSpPr txBox="1"/>
          <p:nvPr/>
        </p:nvSpPr>
        <p:spPr>
          <a:xfrm>
            <a:off x="2797030" y="1771600"/>
            <a:ext cx="1989153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1.20</a:t>
            </a:r>
          </a:p>
        </p:txBody>
      </p:sp>
      <p:sp>
        <p:nvSpPr>
          <p:cNvPr id="201" name="cell"/>
          <p:cNvSpPr txBox="1"/>
          <p:nvPr/>
        </p:nvSpPr>
        <p:spPr>
          <a:xfrm>
            <a:off x="5086183" y="1771600"/>
            <a:ext cx="1607627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1.27</a:t>
            </a:r>
          </a:p>
        </p:txBody>
      </p:sp>
      <p:sp>
        <p:nvSpPr>
          <p:cNvPr id="202" name="cell"/>
          <p:cNvSpPr txBox="1"/>
          <p:nvPr/>
        </p:nvSpPr>
        <p:spPr>
          <a:xfrm>
            <a:off x="6993810" y="1771600"/>
            <a:ext cx="1607627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392</a:t>
            </a:r>
          </a:p>
        </p:txBody>
      </p:sp>
      <p:sp>
        <p:nvSpPr>
          <p:cNvPr id="203" name="cell"/>
          <p:cNvSpPr txBox="1"/>
          <p:nvPr/>
        </p:nvSpPr>
        <p:spPr>
          <a:xfrm>
            <a:off x="8901437" y="1771600"/>
            <a:ext cx="2561441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1.77</a:t>
            </a:r>
          </a:p>
        </p:txBody>
      </p:sp>
      <p:sp>
        <p:nvSpPr>
          <p:cNvPr id="204" name="row"/>
          <p:cNvSpPr/>
          <p:nvPr/>
        </p:nvSpPr>
        <p:spPr>
          <a:xfrm>
            <a:off x="548640" y="224306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5" name="cell"/>
          <p:cNvSpPr txBox="1"/>
          <p:nvPr/>
        </p:nvSpPr>
        <p:spPr>
          <a:xfrm>
            <a:off x="698640" y="2243060"/>
            <a:ext cx="179839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100초 이상</a:t>
            </a:r>
          </a:p>
        </p:txBody>
      </p:sp>
      <p:sp>
        <p:nvSpPr>
          <p:cNvPr id="206" name="cell"/>
          <p:cNvSpPr txBox="1"/>
          <p:nvPr/>
        </p:nvSpPr>
        <p:spPr>
          <a:xfrm>
            <a:off x="2797030" y="2243060"/>
            <a:ext cx="1989153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1.36</a:t>
            </a:r>
          </a:p>
        </p:txBody>
      </p:sp>
      <p:sp>
        <p:nvSpPr>
          <p:cNvPr id="207" name="cell"/>
          <p:cNvSpPr txBox="1"/>
          <p:nvPr/>
        </p:nvSpPr>
        <p:spPr>
          <a:xfrm>
            <a:off x="5086183" y="2243060"/>
            <a:ext cx="1607627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1.48</a:t>
            </a:r>
          </a:p>
        </p:txBody>
      </p:sp>
      <p:sp>
        <p:nvSpPr>
          <p:cNvPr id="208" name="cell"/>
          <p:cNvSpPr txBox="1"/>
          <p:nvPr/>
        </p:nvSpPr>
        <p:spPr>
          <a:xfrm>
            <a:off x="6993810" y="2243060"/>
            <a:ext cx="1607627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259</a:t>
            </a:r>
          </a:p>
        </p:txBody>
      </p:sp>
      <p:sp>
        <p:nvSpPr>
          <p:cNvPr id="209" name="cell"/>
          <p:cNvSpPr txBox="1"/>
          <p:nvPr/>
        </p:nvSpPr>
        <p:spPr>
          <a:xfrm>
            <a:off x="8901437" y="2243060"/>
            <a:ext cx="2561441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2.22</a:t>
            </a:r>
          </a:p>
        </p:txBody>
      </p:sp>
      <p:sp>
        <p:nvSpPr>
          <p:cNvPr id="210" name="row"/>
          <p:cNvSpPr/>
          <p:nvPr/>
        </p:nvSpPr>
        <p:spPr>
          <a:xfrm>
            <a:off x="548640" y="271452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1" name="cell"/>
          <p:cNvSpPr txBox="1"/>
          <p:nvPr/>
        </p:nvSpPr>
        <p:spPr>
          <a:xfrm>
            <a:off x="698640" y="2714520"/>
            <a:ext cx="179839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1,000초 이상</a:t>
            </a:r>
          </a:p>
        </p:txBody>
      </p:sp>
      <p:sp>
        <p:nvSpPr>
          <p:cNvPr id="212" name="cell"/>
          <p:cNvSpPr txBox="1"/>
          <p:nvPr/>
        </p:nvSpPr>
        <p:spPr>
          <a:xfrm>
            <a:off x="2797030" y="2714520"/>
            <a:ext cx="1989153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2.18</a:t>
            </a:r>
          </a:p>
        </p:txBody>
      </p:sp>
      <p:sp>
        <p:nvSpPr>
          <p:cNvPr id="213" name="cell"/>
          <p:cNvSpPr txBox="1"/>
          <p:nvPr/>
        </p:nvSpPr>
        <p:spPr>
          <a:xfrm>
            <a:off x="5086183" y="2714520"/>
            <a:ext cx="1607627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2.60</a:t>
            </a:r>
          </a:p>
        </p:txBody>
      </p:sp>
      <p:sp>
        <p:nvSpPr>
          <p:cNvPr id="214" name="cell"/>
          <p:cNvSpPr txBox="1"/>
          <p:nvPr/>
        </p:nvSpPr>
        <p:spPr>
          <a:xfrm>
            <a:off x="6993810" y="2714520"/>
            <a:ext cx="1607627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129</a:t>
            </a:r>
          </a:p>
        </p:txBody>
      </p:sp>
      <p:sp>
        <p:nvSpPr>
          <p:cNvPr id="215" name="cell"/>
          <p:cNvSpPr txBox="1"/>
          <p:nvPr/>
        </p:nvSpPr>
        <p:spPr>
          <a:xfrm>
            <a:off x="8901437" y="2714520"/>
            <a:ext cx="2561441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3.67</a:t>
            </a:r>
          </a:p>
        </p:txBody>
      </p:sp>
      <p:sp>
        <p:nvSpPr>
          <p:cNvPr id="216" name="note"/>
          <p:cNvSpPr txBox="1"/>
          <p:nvPr/>
        </p:nvSpPr>
        <p:spPr>
          <a:xfrm>
            <a:off x="548640" y="3225980"/>
            <a:ext cx="110642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모델의 약 20%에 적용되고, 그 모델들에서 10초 이상 구간 기준 77% 시간이 늘어납니다. 끄면 시간 제한에 걸리는 모델이 37개 늘어납니다. 1,000초 이상 걸리는 어려운 모델에서 효과가 가장 큽니다.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모델을 쓰는 사람에게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17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</a:t>
            </a:r>
          </a:p>
        </p:txBody>
      </p:sp>
      <p:sp>
        <p:nvSpPr>
          <p:cNvPr id="218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9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쪽에서 할 수 있는 것 (제가 정리한 일반적인 방향)</a:t>
            </a:r>
          </a:p>
        </p:txBody>
      </p:sp>
      <p:sp>
        <p:nvSpPr>
          <p:cNvPr id="220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논문에 있는 내용은 솔버가 </a:t>
            </a: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자동으로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하는 reduction이고, 이 슬라이드는 제 정리입니다.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동일한 기계·차량·시설이 여럿인 모델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에서는 대칭이 생깁니다. 모델에 부하나 순서를 강제하는 제약(예: 기계 1의 부하 ≥ 기계 2의 부하 ≥ …)을 직접 넣는 방법이 있습니다. 이 방법의 효과는 이 자료가 다룬 논문에서 측정되지 않았습니다.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Example 9처럼 </a:t>
            </a: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제약 구조를 가진 변수 쌍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숨어 있는지 의식해 볼 만합니다.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대칭이 없는 모델에서는 이 기법들이 </a:t>
            </a: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아무 효과가 없습니다.</a:t>
            </a:r>
          </a:p>
        </p:txBody>
      </p:sp>
      <p:sp>
        <p:nvSpPr>
          <p:cNvPr id="221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2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한계</a:t>
            </a:r>
          </a:p>
        </p:txBody>
      </p:sp>
      <p:sp>
        <p:nvSpPr>
          <p:cNvPr id="223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Margot(2003)를 읽지 못했습니다. orbital fixing의 이론적 보증이나 isomorphism pruning의 세부는 다루지 못했습니다.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SCIP 문서에 따르면 SCIP의 orbital fixing은 고정된 변수들의 안정화 부분군에 대한 궤도를 계산하고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이진 변수에서만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작동합니다. 이는 문서의 설명을 옮긴 것이고 직접 확인한 것이 아닙니다.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수치는 Gurobi 6.5와 저자들의 모델 세트 기준입니다.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Example 9의 최적값 확인은 제가 한 전수 열거이고 논문의 내용이 아닙니다.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24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만든 문제입니다. 풀이는 제가 계산한 값</a:t>
            </a:r>
          </a:p>
        </p:txBody>
      </p:sp>
      <p:sp>
        <p:nvSpPr>
          <p:cNvPr id="225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6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</a:t>
            </a:r>
          </a:p>
        </p:txBody>
      </p:sp>
      <p:sp>
        <p:nvSpPr>
          <p:cNvPr id="227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Q1.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상자 3개의 용량이 모두 같다. 어떤 변수들이 한 궤도가 되나? (x_{i,b} = 물건 i 를 상자 b에, y_b = 상자 b 사용)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Q2.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상자 용량이 (10, 10, 12) 라면 궤도는 어떻게 바뀌나?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Q3.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Example 9에서 x₁ 과 x₆ 이 바뀔 수 없는 이유는? (둘 다 목적계수 4)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Q4.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변수 병합이 정수 변수의 평균을 쓰지 못하는 이유는?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Q5.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변수 병합과 orbital fixing 중 어느 쪽이 전체 평균 효과가 더 큰가?</a:t>
            </a:r>
          </a:p>
        </p:txBody>
      </p:sp>
      <p:sp>
        <p:nvSpPr>
          <p:cNvPr id="228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9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정답과 해설</a:t>
            </a:r>
          </a:p>
        </p:txBody>
      </p:sp>
      <p:sp>
        <p:nvSpPr>
          <p:cNvPr id="230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A1.</a:t>
            </a:r>
            <a:r>
              <a:rPr lang="en-US" sz="15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각 물건 i 마다 {x_{i,1}, x_{i,2}, x_{i,3}} 이 한 궤도, 그리고 {y₁, y₂, y₃} 도 한 궤도. 상자 번호를 섞는 순열이 대칭이기 때문입니다.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A2.</a:t>
            </a:r>
            <a:r>
              <a:rPr lang="en-US" sz="15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상자 1, 2만 서로 바꿀 수 있으므로 {x_{i,1}, x_{i,2}}, {y₁, y₂} 가 궤도이고 상자 3 관련 변수는 혼자입니다.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A3.</a:t>
            </a:r>
            <a:r>
              <a:rPr lang="en-US" sz="15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x₁ 은 제약 1에만, x₆ 은 두 제약에 모두 붙어 있어 </a:t>
            </a:r>
            <a:r>
              <a:rPr lang="en-US" sz="15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간선(계수)이 다르기</a:t>
            </a:r>
            <a:r>
              <a:rPr lang="en-US" sz="15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때문입니다.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A4.</a:t>
            </a:r>
            <a:r>
              <a:rPr lang="en-US" sz="15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평균은 정수가 아닐 수 있어 정수성을 깨기 때문입니다.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A5.</a:t>
            </a:r>
            <a:r>
              <a:rPr lang="en-US" sz="15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5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Orbital fixing</a:t>
            </a:r>
            <a:r>
              <a:rPr lang="en-US" sz="15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전체 1.20배 (변수 병합은 1.03배). 둘 다 적용되는 모델이 제한적이고 그런 모델에서는 효과가 큽니다.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LP Speedup">
  <a:themeElements>
    <a:clrScheme name="MILP Speedup">
      <a:dk1>
        <a:srgbClr val="1B1F2A"/>
      </a:dk1>
      <a:lt1>
        <a:srgbClr val="FFFFFF"/>
      </a:lt1>
      <a:dk2>
        <a:srgbClr val="123C4A"/>
      </a:dk2>
      <a:lt2>
        <a:srgbClr val="EEF3F4"/>
      </a:lt2>
      <a:accent1>
        <a:srgbClr val="0F7B8A"/>
      </a:accent1>
      <a:accent2>
        <a:srgbClr val="E07A1F"/>
      </a:accent2>
      <a:accent3>
        <a:srgbClr val="5B6B7A"/>
      </a:accent3>
      <a:accent4>
        <a:srgbClr val="2E9E6B"/>
      </a:accent4>
      <a:accent5>
        <a:srgbClr val="B23A48"/>
      </a:accent5>
      <a:accent6>
        <a:srgbClr val="8A6FD1"/>
      </a:accent6>
      <a:hlink>
        <a:srgbClr val="0F7B8A"/>
      </a:hlink>
      <a:folHlink>
        <a:srgbClr val="5B6B7A"/>
      </a:folHlink>
    </a:clrScheme>
    <a:fontScheme name="MILP Speedup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2026-10-22T13:39:41Z</dcterms:created>
  <dcterms:modified xsi:type="dcterms:W3CDTF">2026-10-22T13:39:41Z</dcterms:modified>
</cp:coreProperties>
</file>