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4A"/>
                </a:solidFill>
                <a:latin typeface="Apple SD Gothic Neo"/>
              </a:defRPr>
            </a:pPr>
            <a:r>
              <a:rPr sz="1400" b="0" i="0" u="none" strike="noStrike">
                <a:solidFill>
                  <a:srgbClr val="123C4A"/>
                </a:solidFill>
                <a:latin typeface="Apple SD Gothic Neo"/>
              </a:rPr>
              <a:t>끄면 느려지는 배수 (시간 비)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끄면 느려지는 배수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모델 정리</c:v>
                  </c:pt>
                  <c:pt idx="1">
                    <c:v>경계 강화</c:v>
                  </c:pt>
                  <c:pt idx="2">
                    <c:v>계수 강화</c:v>
                  </c:pt>
                  <c:pt idx="3">
                    <c:v>Chvátal-Gomory</c:v>
                  </c:pt>
                  <c:pt idx="4">
                    <c:v>이중 고정</c:v>
                  </c:pt>
                  <c:pt idx="5">
                    <c:v>대칭 변수 병합</c:v>
                  </c:pt>
                  <c:pt idx="6">
                    <c:v>Orbital fixing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</c:v>
                </c:pt>
                <c:pt idx="1">
                  <c:v>1.09</c:v>
                </c:pt>
                <c:pt idx="2">
                  <c:v>1.06</c:v>
                </c:pt>
                <c:pt idx="3">
                  <c:v>1</c:v>
                </c:pt>
                <c:pt idx="4">
                  <c:v>1.04</c:v>
                </c:pt>
                <c:pt idx="5">
                  <c:v>1.03</c:v>
                </c:pt>
                <c:pt idx="6">
                  <c:v>1.2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3"/>
          <c:min val="0.9"/>
        </c:scaling>
        <c:delete val="0"/>
        <c:axPos val="b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C4A"/>
                </a:solidFill>
                <a:latin typeface="Apple SD Gothic Neo"/>
              </a:defRPr>
            </a:pPr>
            <a:r>
              <a:rPr sz="1400" b="0" i="0" u="none" strike="noStrike">
                <a:solidFill>
                  <a:srgbClr val="123C4A"/>
                </a:solidFill>
                <a:latin typeface="Apple SD Gothic Neo"/>
              </a:rPr>
              <a:t>기하평균 풀이 시간 (초)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기하평균 시간(초)</c:v>
                </c:pt>
              </c:strCache>
            </c:strRef>
          </c:tx>
          <c:spPr>
            <a:solidFill>
              <a:srgbClr val="0F7B8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random</c:v>
                  </c:pt>
                  <c:pt idx="1">
                    <c:v>pseudocost</c:v>
                  </c:pt>
                  <c:pt idx="2">
                    <c:v>full strong</c:v>
                  </c:pt>
                  <c:pt idx="3">
                    <c:v>strong/ps(10)</c:v>
                  </c:pt>
                  <c:pt idx="4">
                    <c:v>reliab.(1)</c:v>
                  </c:pt>
                  <c:pt idx="5">
                    <c:v>reliab.(4)</c:v>
                  </c:pt>
                  <c:pt idx="6">
                    <c:v>reliab.(8)</c:v>
                  </c:pt>
                  <c:pt idx="7">
                    <c:v>reliab.(16)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923.6</c:v>
                </c:pt>
                <c:pt idx="1">
                  <c:v>283.4</c:v>
                </c:pt>
                <c:pt idx="2">
                  <c:v>504.4</c:v>
                </c:pt>
                <c:pt idx="3">
                  <c:v>229.6</c:v>
                </c:pt>
                <c:pt idx="4">
                  <c:v>216.4</c:v>
                </c:pt>
                <c:pt idx="5">
                  <c:v>178.2</c:v>
                </c:pt>
                <c:pt idx="6">
                  <c:v>170.5</c:v>
                </c:pt>
                <c:pt idx="7">
                  <c:v>179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A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10편 중 6편은 전문을 읽었고 4편은 무료 전문을 구하지 못함. 구하지 못한 부분은 해당 슬라이드에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논문(분지 규칙) Algorithm 1의 단계. 속도=노드 수 x 노드당 LP 비용은 이해를 돕는 단순화이며 논문의 식이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● 전문 읽음, ○ 초록·2차 자료.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1. 3,182개 모델, Gurobi 6.5, 시간 제한 3600초. 시간 비는 shifted geometric mean(shift 1초).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정의 5(5.1절)와 3.1절 판정식. 숫자 예시는 직접 만든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5.1절. cut은 MIP-redundant인데 유용. 종속 행 검출은 켜면 4% 악화.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3.2절. 식 (3.4), 그리고 논문 자체의 예제.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3.3절. 사용자 질문: u_iS는 제약 전체가 아니라 나머지 항의 최댓값. l_k는 x_k의 하한(이진이면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식에 직접 대입한 계산이며 논문에 있는 예시는 아님. M=10, u=4.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4.4절. Example 4 전체 제약은 사실 비실현이다(직접 확인) 치환 규칙을 보이기 위한 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값은 해당 기법을 껐을 때 시간 배수(10초 이상 구간). 전체 presolve를 끄면 9.05배.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기법의 핵심 식(3.1, 3.2, 3.3, 3.4, 4.4, 7.1, 8.2절)과 끄면 느려지는 배수(10초 이상 구간). 영향받은 모델은 해당 기법이 실제로 작동한 모델.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2장. 점수 함수의 μ는 SIP에서 1/6. most infeasible은 random과 비슷.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2.2~2.6절. 식 (4)(5)와 Algorithm 3. 이전 자료의 pseudocost 식은 단위당 증가량으로 정정.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1, lookahead=4. 시간은 기하평균(초). 시간 제한 1시간.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3.1~3.2절. x1..x7 이진, z1..z5 정수. 제약 (2)~(12)에서 분지 x1=1, x3=1, x6=0 후 LP가 비실현.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3.7과 4장 결과. Table 1 기하평균: 노드 29,633 → 15,441, 시간 257.2 → 297.8초.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Presolve 논문 7.1, 8.2절. Margot 2003 전문은 읽지 못함.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전문을 읽지 못한 부분입니다(초록·2차 자료 기반). 식은 널리 알려진 형태이며 원문 대조는 하지 못함.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2.1절 식 (1)~(15). 이 슬라이드의 기호는 리뷰의 기호를 따른다(블로그의 이전 표기와 다름).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2.1절. 논문은 수치 없이 정식화만 제시. 하한 식 (5).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MIPLIB 요약, Presolve 논문 1.1절의 보고 방식.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논문이 아니라 솔버 매뉴얼 지식이다. 공식 매뉴얼에서 재확인할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단계: SCIP 등 기능 on/off가 가능한 솔버로 소규모 재현 실험.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Operations Research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MILP 솔버 가속화,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예제로 읽는 수리적 방법론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 · 분지 · Conflict · 대칭성 · 분해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 자료를 만든 방식</a:t>
            </a:r>
            <a:endParaRPr lang="en-US" sz="3000" dirty="0"/>
          </a:p>
        </p:txBody>
      </p:sp>
      <p:sp>
        <p:nvSpPr>
          <p:cNvPr id="4" name="read card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전문을 읽은 논문 (6편)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al., Presolve Reductions (ZIB 16-44)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Achterberg·Koch·Martin, Branching Rules Revisited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Conflict Analysis in MIP (ZIB 05-19)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 et al., Benders 문헌 리뷰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 &amp; Desrosiers, 열 생성 서베이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Gleixner et al., MIPLIB 2017</a:t>
            </a:r>
            <a:endParaRPr lang="en-US" sz="1400" dirty="0"/>
          </a:p>
        </p:txBody>
      </p:sp>
      <p:sp>
        <p:nvSpPr>
          <p:cNvPr id="7" name="unread card"/>
          <p:cNvSpPr/>
          <p:nvPr/>
        </p:nvSpPr>
        <p:spPr>
          <a:xfrm>
            <a:off x="6309360" y="137160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37960" y="1536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전문을 구하지 못한 논문 (4편)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011680"/>
            <a:ext cx="48463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Margot 2003, 대칭성 (궤도 활용)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Fischetti &amp; Lodi 2003, Local branching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Danna et al. 2005, RINS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&amp; Wunderling 2013, 12년의 진전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해당 슬라이드는 초록과 2차 자료로만 정리했고 표시를 달았습니다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읽은 판본: Presolve는 2016년 ZIB 프리프린트(Gurobi 6.5 기준)이며 2019년 학술지 최종본과 세부가 다를 수 있습니다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느린가: 분지한계법의 구조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0350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정의 (MIP)</a:t>
            </a:r>
            <a:endParaRPr lang="en-US" sz="1400" dirty="0"/>
          </a:p>
        </p:txBody>
      </p:sp>
      <p:pic>
        <p:nvPicPr>
          <p:cNvPr id="6" name="eq lp" descr="l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030" y="1924812"/>
            <a:ext cx="5166260" cy="402336"/>
          </a:xfrm>
          <a:prstGeom prst="rect">
            <a:avLst/>
          </a:prstGeom>
        </p:spPr>
      </p:pic>
      <p:sp>
        <p:nvSpPr>
          <p:cNvPr id="7" name="formula card"/>
          <p:cNvSpPr/>
          <p:nvPr/>
        </p:nvSpPr>
        <p:spPr>
          <a:xfrm>
            <a:off x="548640" y="2651760"/>
            <a:ext cx="60350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상대 갭: 도달하면 종료</a:t>
            </a:r>
            <a:endParaRPr lang="en-US" sz="1400" dirty="0"/>
          </a:p>
        </p:txBody>
      </p:sp>
      <p:pic>
        <p:nvPicPr>
          <p:cNvPr id="9" name="eq gap" descr="g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679" y="3232404"/>
            <a:ext cx="1820962" cy="621792"/>
          </a:xfrm>
          <a:prstGeom prst="rect">
            <a:avLst/>
          </a:prstGeom>
        </p:spPr>
      </p:pic>
      <p:sp>
        <p:nvSpPr>
          <p:cNvPr id="10" name="alg card"/>
          <p:cNvSpPr/>
          <p:nvPr/>
        </p:nvSpPr>
        <p:spPr>
          <a:xfrm>
            <a:off x="6949440" y="1371600"/>
            <a:ext cx="466344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178040" y="1536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분지한계 1회 반복 (Algorithm 1)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7178040" y="2011680"/>
            <a:ext cx="42062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Q를 하나 꺼낸다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 c̄_Q 를 푼다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c̄_Q ≥ c* 이면 버린다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정수해면 c* 를 갱신한다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아니면 Q를 쪼개 S에 넣는다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42976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풀이 시간 ≈ 노드 수 × 노드당 LP 비용 (이해를 돕는 단순화)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가속 = 노드 수를 줄이거나, LP 한 번을 싸게 만드는 일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Branching Rules Revisited, Algorithm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논문 지도</a:t>
            </a:r>
            <a:endParaRPr lang="en-US" sz="3000" dirty="0"/>
          </a:p>
        </p:txBody>
      </p:sp>
      <p:sp>
        <p:nvSpPr>
          <p:cNvPr id="4" name="map0 card"/>
          <p:cNvSpPr/>
          <p:nvPr/>
        </p:nvSpPr>
        <p:spPr>
          <a:xfrm>
            <a:off x="548640" y="137160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전처리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Presolve Reductions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(Achterberg 외)</a:t>
            </a:r>
            <a:endParaRPr lang="en-US" sz="1400" dirty="0"/>
          </a:p>
        </p:txBody>
      </p:sp>
      <p:sp>
        <p:nvSpPr>
          <p:cNvPr id="7" name="map1 card"/>
          <p:cNvSpPr/>
          <p:nvPr/>
        </p:nvSpPr>
        <p:spPr>
          <a:xfrm>
            <a:off x="3383280" y="137160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탐색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01168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Branching Rules Revisited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Conflict Analysis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Margot 대칭성</a:t>
            </a:r>
            <a:endParaRPr lang="en-US" sz="1400" dirty="0"/>
          </a:p>
        </p:txBody>
      </p:sp>
      <p:sp>
        <p:nvSpPr>
          <p:cNvPr id="10" name="map2 card"/>
          <p:cNvSpPr/>
          <p:nvPr/>
        </p:nvSpPr>
        <p:spPr>
          <a:xfrm>
            <a:off x="6217920" y="137160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해 찾기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01168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Local Branching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RINS</a:t>
            </a:r>
            <a:endParaRPr lang="en-US" sz="1400" dirty="0"/>
          </a:p>
        </p:txBody>
      </p:sp>
      <p:sp>
        <p:nvSpPr>
          <p:cNvPr id="13" name="map3 card"/>
          <p:cNvSpPr/>
          <p:nvPr/>
        </p:nvSpPr>
        <p:spPr>
          <a:xfrm>
            <a:off x="9052560" y="137160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분해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2011680"/>
            <a:ext cx="2194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Benders 리뷰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열 생성 서베이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벤치마크: ● MIPLIB 2017 (Gleixner 외) · 총론: ○ Achterberg &amp; Wunderling (2013)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전문 읽음   ○ 초록·2차 자료 기반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Presolve: 끄면 얼마나 느려지나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9.05×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presolve를 끄면 풀이 시간이 늘어난 배수 (10초 이상 걸리는 모델 기준)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+488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 제한에 걸린 모델이 늘어난 수 (547개 → 1,035개)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2,525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3317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3,182개 모델 중 변수 경계만으로 redundant 행을 찾을 수 있는 모델</a:t>
            </a:r>
            <a:endParaRPr lang="en-US" sz="1400" dirty="0"/>
          </a:p>
        </p:txBody>
      </p:sp>
      <p:sp>
        <p:nvSpPr>
          <p:cNvPr id="10" name="overview card"/>
          <p:cNvSpPr/>
          <p:nvPr/>
        </p:nvSpPr>
        <p:spPr>
          <a:xfrm>
            <a:off x="548640" y="3931920"/>
            <a:ext cx="110642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0965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논문이 정리한 구성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57200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 = 모델 크기를 줄이고, 정식화를 강하게 만드는 전처리 루틴 모음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root presolve(첫 LP 전) + node presolve(트리 노드마다)로 나뉘고, 30개 이상 기법이 6개 그룹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제약 → 단일 변수 → 다중 제약 → 다중 변수 → 전체 문제 → 노드 순서로 설명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1장·Table 1·9장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redundant 제약이란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정의와 단일 제약 판정</a:t>
            </a:r>
            <a:endParaRPr lang="en-US" sz="1400" dirty="0"/>
          </a:p>
        </p:txBody>
      </p:sp>
      <p:pic>
        <p:nvPicPr>
          <p:cNvPr id="6" name="eq redef" descr="rede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802" y="1901952"/>
            <a:ext cx="1796796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435779"/>
            <a:ext cx="621792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r을 지워도 해 집합이 그대로이면 redundant</a:t>
            </a:r>
            <a:endParaRPr lang="en-US" sz="1200" dirty="0"/>
          </a:p>
        </p:txBody>
      </p:sp>
      <p:pic>
        <p:nvPicPr>
          <p:cNvPr id="8" name="eq inf" descr="in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594" y="2752344"/>
            <a:ext cx="3215212" cy="5272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286171"/>
            <a:ext cx="621792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 안에서 좌변의 최솟값</a:t>
            </a:r>
            <a:endParaRPr lang="en-US" sz="1200" dirty="0"/>
          </a:p>
        </p:txBody>
      </p:sp>
      <p:pic>
        <p:nvPicPr>
          <p:cNvPr id="10" name="eq sup" descr="s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970" y="3602736"/>
            <a:ext cx="3294460" cy="52724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4136563"/>
            <a:ext cx="621792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 안에서 좌변의 최댓값</a:t>
            </a:r>
            <a:endParaRPr lang="en-US" sz="1200" dirty="0"/>
          </a:p>
        </p:txBody>
      </p:sp>
      <p:pic>
        <p:nvPicPr>
          <p:cNvPr id="12" name="eq red" descr="r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624" y="4453128"/>
            <a:ext cx="4645152" cy="42519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4986955"/>
            <a:ext cx="621792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≤ 제약이면 삭제 (ε = 10⁻⁶)</a:t>
            </a:r>
            <a:endParaRPr lang="en-US" sz="1200" dirty="0"/>
          </a:p>
        </p:txBody>
      </p:sp>
      <p:pic>
        <p:nvPicPr>
          <p:cNvPr id="14" name="eq infe" descr="inf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9928" y="5303520"/>
            <a:ext cx="4352544" cy="425196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77240" y="5837347"/>
            <a:ext cx="621792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최솟값이 이미 우변을 넘으면 비실현</a:t>
            </a:r>
            <a:endParaRPr lang="en-US" sz="1200" dirty="0"/>
          </a:p>
        </p:txBody>
      </p:sp>
      <p:sp>
        <p:nvSpPr>
          <p:cNvPr id="16" name="easy card"/>
          <p:cNvSpPr/>
          <p:nvPr/>
        </p:nvSpPr>
        <p:spPr>
          <a:xfrm>
            <a:off x="7589520" y="137160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9"/>
          <p:cNvSpPr txBox="1"/>
          <p:nvPr/>
        </p:nvSpPr>
        <p:spPr>
          <a:xfrm>
            <a:off x="781812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쉬운 말로</a:t>
            </a:r>
            <a:endParaRPr lang="en-US" sz="1600" dirty="0"/>
          </a:p>
        </p:txBody>
      </p:sp>
      <p:sp>
        <p:nvSpPr>
          <p:cNvPr id="18" name="Text 10"/>
          <p:cNvSpPr txBox="1"/>
          <p:nvPr/>
        </p:nvSpPr>
        <p:spPr>
          <a:xfrm>
            <a:off x="7818120" y="201168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항상 만족되는 제약 = 있으나 마나 한 제약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경계만 알면 계산할 수 있다</a:t>
            </a:r>
            <a:endParaRPr lang="en-US" sz="1400" dirty="0"/>
          </a:p>
        </p:txBody>
      </p:sp>
      <p:sp>
        <p:nvSpPr>
          <p:cNvPr id="19" name="ex card"/>
          <p:cNvSpPr/>
          <p:nvPr/>
        </p:nvSpPr>
        <p:spPr>
          <a:xfrm>
            <a:off x="7589520" y="393192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7818120" y="4096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숫자 예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7818120" y="457200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+ 2x₂ ≤ 10, 0≤x₁≤3, 0≤x₂≤2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 = 3 + 4 = 7 ≤ 10 → 삭제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정의 5(5.1절), 3.1절, 식 (2.2)(2.3)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redundant 제약, 무조건 지우면 안 된다</a:t>
            </a:r>
            <a:endParaRPr lang="en-US" sz="3000" dirty="0"/>
          </a:p>
        </p:txBody>
      </p:sp>
      <p:sp>
        <p:nvSpPr>
          <p:cNvPr id="4" name="hard card"/>
          <p:cNvSpPr/>
          <p:nvPr/>
        </p:nvSpPr>
        <p:spPr>
          <a:xfrm>
            <a:off x="54864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판정이 어렵다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일반적인 redundancy 판정은 NP-complete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 행 0 ≤ −1 을 붙이면 '이 행이 필요한가'가 '원 문제가 실현 가능한가'와 같아진다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싸게 판정되는 경우만 쓴다</a:t>
            </a:r>
            <a:endParaRPr lang="en-US" sz="1400" dirty="0"/>
          </a:p>
        </p:txBody>
      </p:sp>
      <p:sp>
        <p:nvSpPr>
          <p:cNvPr id="7" name="cut card"/>
          <p:cNvSpPr/>
          <p:nvPr/>
        </p:nvSpPr>
        <p:spPr>
          <a:xfrm>
            <a:off x="429768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MIP에서 redundant여도 쓸모 있다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1168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 평면(cut)은 MIP-redundant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하지만 LP 완화를 조여 준다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LP 완화에서도 redundant인 제약만 지운다</a:t>
            </a:r>
            <a:endParaRPr lang="en-US" sz="1400" dirty="0"/>
          </a:p>
        </p:txBody>
      </p:sp>
      <p:sp>
        <p:nvSpPr>
          <p:cNvPr id="10" name="exp card"/>
          <p:cNvSpPr/>
          <p:nvPr/>
        </p:nvSpPr>
        <p:spPr>
          <a:xfrm>
            <a:off x="8046720" y="1371600"/>
            <a:ext cx="3566160" cy="44805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실험 결과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11680"/>
            <a:ext cx="31089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종속 행 검출을 켜면 오히려 약 4% 악화 (10초 이상 구간)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수도 같은 만큼 증가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 가설: 중복 행이 cut 생성의 기반으로 쓰인다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5.1절, Table 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경계 강화와 무한 반복 예제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 강화 (domain propagation)</a:t>
            </a:r>
            <a:endParaRPr lang="en-US" sz="1400" dirty="0"/>
          </a:p>
        </p:txBody>
      </p:sp>
      <p:pic>
        <p:nvPicPr>
          <p:cNvPr id="6" name="eq bs0" descr="bs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6147" y="1901952"/>
            <a:ext cx="5420106" cy="4251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7609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항의 최솟값 ℓ_iS 를 구한다</a:t>
            </a:r>
            <a:endParaRPr lang="en-US" sz="1200" dirty="0"/>
          </a:p>
        </p:txBody>
      </p:sp>
      <p:pic>
        <p:nvPicPr>
          <p:cNvPr id="8" name="eq bs1" descr="bs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964942"/>
            <a:ext cx="5769864" cy="42976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63908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x_k 의 상한을 낮춘다</a:t>
            </a:r>
            <a:endParaRPr lang="en-US" sz="1200" dirty="0"/>
          </a:p>
        </p:txBody>
      </p:sp>
      <p:pic>
        <p:nvPicPr>
          <p:cNvPr id="10" name="eq chain0" descr="chain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27932"/>
            <a:ext cx="6217920" cy="29591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470207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예제: 두 식이 서로의 경계를 줄인다</a:t>
            </a:r>
            <a:endParaRPr lang="en-US" sz="1200" dirty="0"/>
          </a:p>
        </p:txBody>
      </p:sp>
      <p:pic>
        <p:nvPicPr>
          <p:cNvPr id="12" name="eq chain1" descr="chain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90922"/>
            <a:ext cx="6217920" cy="39016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576506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t번 돌리면 계속 줄어 끝나지 않는다</a:t>
            </a:r>
            <a:endParaRPr lang="en-US" sz="1200" dirty="0"/>
          </a:p>
        </p:txBody>
      </p:sp>
      <p:sp>
        <p:nvSpPr>
          <p:cNvPr id="14" name="limit card"/>
          <p:cNvSpPr/>
          <p:nvPr/>
        </p:nvSpPr>
        <p:spPr>
          <a:xfrm>
            <a:off x="7589520" y="1371600"/>
            <a:ext cx="4023360" cy="48463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81812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한도를 둔다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7818120" y="201168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Gurobi는 연속변수 경계를 10³·ε 이상 바뀔 때만 조인다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경계의 절댓값이 10⁸ 미만일 때만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패스에 제약당 한 번만 전파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효과: 끄면 10초 이상 모델에서 1.09배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3.2절, 식 (3.4)(3.5), Table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계수 강화: 기호를 읽는 법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a_ik &lt; 0 인 경우 (식 3.3절)</a:t>
            </a:r>
            <a:endParaRPr lang="en-US" sz="1400" dirty="0"/>
          </a:p>
        </p:txBody>
      </p:sp>
      <p:pic>
        <p:nvPicPr>
          <p:cNvPr id="6" name="eq cs0" descr="cs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1901952"/>
            <a:ext cx="2432304" cy="3589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7609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x_k 를 강화할 변수로 보고 나머지와 나눠 쓴다</a:t>
            </a:r>
            <a:endParaRPr lang="en-US" sz="1200" dirty="0"/>
          </a:p>
        </p:txBody>
      </p:sp>
      <p:pic>
        <p:nvPicPr>
          <p:cNvPr id="8" name="eq cs3" descr="cs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047" y="2964942"/>
            <a:ext cx="2448306" cy="42519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63908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u_iS = 나머지 항만의 최댓값</a:t>
            </a:r>
            <a:endParaRPr lang="en-US" sz="1200" dirty="0"/>
          </a:p>
        </p:txBody>
      </p:sp>
      <p:pic>
        <p:nvPicPr>
          <p:cNvPr id="10" name="eq cs1" descr="cs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87" y="4027932"/>
            <a:ext cx="5923026" cy="37947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470207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d' = x_k가 하한보다 한 칸 위일 때 남는 여유</a:t>
            </a:r>
            <a:endParaRPr lang="en-US" sz="1200" dirty="0"/>
          </a:p>
        </p:txBody>
      </p:sp>
      <p:pic>
        <p:nvPicPr>
          <p:cNvPr id="12" name="eq cs2" descr="cs2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505" y="5090922"/>
            <a:ext cx="4263390" cy="379476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5765063"/>
            <a:ext cx="621792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계수를 d' 만큼 조인다. 정수 해는 그대로</a:t>
            </a:r>
            <a:endParaRPr lang="en-US" sz="1200" dirty="0"/>
          </a:p>
        </p:txBody>
      </p:sp>
      <p:sp>
        <p:nvSpPr>
          <p:cNvPr id="14" name="sym card"/>
          <p:cNvSpPr/>
          <p:nvPr/>
        </p:nvSpPr>
        <p:spPr>
          <a:xfrm>
            <a:off x="7589520" y="1371600"/>
            <a:ext cx="4023360" cy="48463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81812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기호 읽는 법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7818120" y="201168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x_k : 강화할 정수 변수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A_iS x_S : 제약에서 x_k 를 뺀 나머지 항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u_iS : 그 나머지 항의 최댓값 (제약 전체가 아님)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ℓ_k : x_k 의 하한. 이진 변수면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a_ik &gt; 0 이면 u_k 를 쓰는 대칭 식 (3.6)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3.3절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계수 강화로 Big-M 줄이기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3093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 − M·y ≤ 0, M = 10, u = 4 에 논문 식을 대입</a:t>
            </a:r>
            <a:endParaRPr lang="en-US" sz="1400" dirty="0"/>
          </a:p>
        </p:txBody>
      </p:sp>
      <p:pic>
        <p:nvPicPr>
          <p:cNvPr id="6" name="eq bmA" descr="b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901952"/>
            <a:ext cx="5285232" cy="4251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76093"/>
            <a:ext cx="58521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원래 제약. 강화할 변수는 y (계수 −10)</a:t>
            </a:r>
            <a:endParaRPr lang="en-US" sz="1200" dirty="0"/>
          </a:p>
        </p:txBody>
      </p:sp>
      <p:pic>
        <p:nvPicPr>
          <p:cNvPr id="8" name="eq bmB" descr="bm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64942"/>
            <a:ext cx="5852160" cy="38435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639083"/>
            <a:ext cx="58521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기호를 채운다. u_iS 는 x 의 상한</a:t>
            </a:r>
            <a:endParaRPr lang="en-US" sz="1200" dirty="0"/>
          </a:p>
        </p:txBody>
      </p:sp>
      <p:pic>
        <p:nvPicPr>
          <p:cNvPr id="10" name="eq bmC" descr="bm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647" y="4027932"/>
            <a:ext cx="3911346" cy="37947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4702073"/>
            <a:ext cx="58521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 = 1 일 때 남는 여유</a:t>
            </a:r>
            <a:endParaRPr lang="en-US" sz="1200" dirty="0"/>
          </a:p>
        </p:txBody>
      </p:sp>
      <p:pic>
        <p:nvPicPr>
          <p:cNvPr id="12" name="eq bmD" descr="bm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29" y="5090922"/>
            <a:ext cx="5570982" cy="363474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5765063"/>
            <a:ext cx="585216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 이 10 에서 u = 4 로 줄어든다</a:t>
            </a:r>
            <a:endParaRPr lang="en-US" sz="1200" dirty="0"/>
          </a:p>
        </p:txBody>
      </p:sp>
      <p:pic>
        <p:nvPicPr>
          <p:cNvPr id="14" name="Image 4" descr="LP 영역 비교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371600"/>
            <a:ext cx="4480560" cy="292608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132320" y="44805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파란 선: 강화 후 y ≥ x/4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빨간 점선: 원래 y ≥ x/10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주황 영역: LP 완화에서 잘려 나가는 부분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해(y=0,1)는 그대로</a:t>
            </a:r>
            <a:endParaRPr lang="en-US" sz="1400" dirty="0"/>
          </a:p>
        </p:txBody>
      </p:sp>
      <p:sp>
        <p:nvSpPr>
          <p:cNvPr id="16" name="Text 8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계산 근거: Achterberg et al. (ZIB 16-44), 3.3절 식 (a_ik&lt;0 경우)에 a_ik=−10, b_i=0, ℓ_k=0, u_iS=4 대입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이중 고정: 논문의 Example 4, 5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58521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4: x₁ 을 x₃ 으로 치환</a:t>
            </a:r>
            <a:endParaRPr lang="en-US" sz="1400" dirty="0"/>
          </a:p>
        </p:txBody>
      </p:sp>
      <p:pic>
        <p:nvPicPr>
          <p:cNvPr id="6" name="eq ex4a" descr="ex4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9147" y="2120265"/>
            <a:ext cx="2311146" cy="358902"/>
          </a:xfrm>
          <a:prstGeom prst="rect">
            <a:avLst/>
          </a:prstGeom>
        </p:spPr>
      </p:pic>
      <p:pic>
        <p:nvPicPr>
          <p:cNvPr id="7" name="eq ex4b" descr="ex4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17" y="2752344"/>
            <a:ext cx="3248406" cy="36347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77240" y="3286171"/>
            <a:ext cx="539496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은 이 제약에만 음의 계수로 등장</a:t>
            </a:r>
            <a:endParaRPr lang="en-US" sz="1200" dirty="0"/>
          </a:p>
        </p:txBody>
      </p:sp>
      <p:pic>
        <p:nvPicPr>
          <p:cNvPr id="9" name="eq ex4c" descr="ex4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327" y="3787902"/>
            <a:ext cx="4002786" cy="425196"/>
          </a:xfrm>
          <a:prstGeom prst="rect">
            <a:avLst/>
          </a:prstGeom>
        </p:spPr>
      </p:pic>
      <p:pic>
        <p:nvPicPr>
          <p:cNvPr id="10" name="eq ex4d" descr="ex4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702587"/>
            <a:ext cx="5394960" cy="296611"/>
          </a:xfrm>
          <a:prstGeom prst="rect">
            <a:avLst/>
          </a:prstGeom>
        </p:spPr>
      </p:pic>
      <p:pic>
        <p:nvPicPr>
          <p:cNvPr id="11" name="eq ex4e" descr="ex4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4917" y="5303520"/>
            <a:ext cx="1419606" cy="3589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777240" y="5837347"/>
            <a:ext cx="539496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치환 결과</a:t>
            </a:r>
            <a:endParaRPr lang="en-US" sz="1200" dirty="0"/>
          </a:p>
        </p:txBody>
      </p:sp>
      <p:sp>
        <p:nvSpPr>
          <p:cNvPr id="13" name="formula card"/>
          <p:cNvSpPr/>
          <p:nvPr/>
        </p:nvSpPr>
        <p:spPr>
          <a:xfrm>
            <a:off x="6675120" y="1371600"/>
            <a:ext cx="49377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694944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5: 상한 낮추기</a:t>
            </a:r>
            <a:endParaRPr lang="en-US" sz="1400" dirty="0"/>
          </a:p>
        </p:txBody>
      </p:sp>
      <p:pic>
        <p:nvPicPr>
          <p:cNvPr id="15" name="eq ex5a" descr="ex5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355326"/>
            <a:ext cx="4480560" cy="249968"/>
          </a:xfrm>
          <a:prstGeom prst="rect">
            <a:avLst/>
          </a:prstGeom>
        </p:spPr>
      </p:pic>
      <p:pic>
        <p:nvPicPr>
          <p:cNvPr id="16" name="eq ex5b" descr="ex5b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3113532"/>
            <a:ext cx="4480560" cy="277332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6903720" y="3885743"/>
            <a:ext cx="4480560" cy="38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= 2 면 제약 (3) 이 redundant → 상한 2</a:t>
            </a:r>
            <a:endParaRPr lang="en-US" sz="1200" dirty="0"/>
          </a:p>
        </p:txBody>
      </p:sp>
      <p:sp>
        <p:nvSpPr>
          <p:cNvPr id="18" name="Text 8"/>
          <p:cNvSpPr txBox="1"/>
          <p:nvPr/>
        </p:nvSpPr>
        <p:spPr>
          <a:xfrm>
            <a:off x="667512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Example 4 는 치환 규칙을 보이는 예이고, 모든 제약을 동시에 만족하는 해는 없습니다(직접 확인).</a:t>
            </a:r>
            <a:endParaRPr lang="en-US" sz="1300" dirty="0"/>
          </a:p>
        </p:txBody>
      </p:sp>
      <p:sp>
        <p:nvSpPr>
          <p:cNvPr id="19" name="Text 9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4.4절 Example 4,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기법별 효과: 하나씩은 작고, 전체는 크다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ad card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9244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읽는 법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2011680"/>
            <a:ext cx="3291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제약 reduction 전체를 끄면 1.26배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저자들은 이 값이 낮은 이유로 다른 기법이 같은 일을 겹쳐서 한다는 점을 든다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 기법은 일부 모델에만 적용되지만 그 모델에서는 크다 (슬라이드 18)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Chvátal-Gomory는 효과가 없는데도 기본으로 켜져 있다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Table 3·4·5·6·12·28·36, 10초 이상 구간 'time' 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기법별 핵심 식과 효과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기법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743200" y="1325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식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1325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모델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33272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영향받은 모델</a:t>
            </a:r>
            <a:endParaRPr lang="en-US" sz="1300" dirty="0"/>
          </a:p>
        </p:txBody>
      </p:sp>
      <p:sp>
        <p:nvSpPr>
          <p:cNvPr id="8" name="tech row 0"/>
          <p:cNvSpPr/>
          <p:nvPr/>
        </p:nvSpPr>
        <p:spPr>
          <a:xfrm>
            <a:off x="548640" y="1783080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7830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정리</a:t>
            </a:r>
            <a:endParaRPr lang="en-US" sz="1500" dirty="0"/>
          </a:p>
        </p:txBody>
      </p:sp>
      <p:pic>
        <p:nvPicPr>
          <p:cNvPr id="10" name="eq t_clean" descr="t_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866519"/>
            <a:ext cx="5333238" cy="3634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052560" y="178308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1.10×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0332720" y="178308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1.11×</a:t>
            </a:r>
            <a:endParaRPr lang="en-US" sz="1600" dirty="0"/>
          </a:p>
        </p:txBody>
      </p:sp>
      <p:sp>
        <p:nvSpPr>
          <p:cNvPr id="13" name="tech row 1"/>
          <p:cNvSpPr/>
          <p:nvPr/>
        </p:nvSpPr>
        <p:spPr>
          <a:xfrm>
            <a:off x="548640" y="2404872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24048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 강화</a:t>
            </a:r>
            <a:endParaRPr lang="en-US" sz="1500" dirty="0"/>
          </a:p>
        </p:txBody>
      </p:sp>
      <p:pic>
        <p:nvPicPr>
          <p:cNvPr id="15" name="eq t_bs" descr="t_b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487168"/>
            <a:ext cx="4926087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240487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1.09×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0" y="240487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1.11×</a:t>
            </a:r>
            <a:endParaRPr lang="en-US" sz="1600" dirty="0"/>
          </a:p>
        </p:txBody>
      </p:sp>
      <p:sp>
        <p:nvSpPr>
          <p:cNvPr id="18" name="tech row 2"/>
          <p:cNvSpPr/>
          <p:nvPr/>
        </p:nvSpPr>
        <p:spPr>
          <a:xfrm>
            <a:off x="548640" y="3026664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30266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 강화</a:t>
            </a:r>
            <a:endParaRPr lang="en-US" sz="1500" dirty="0"/>
          </a:p>
        </p:txBody>
      </p:sp>
      <p:pic>
        <p:nvPicPr>
          <p:cNvPr id="20" name="eq t_cs" descr="t_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108960"/>
            <a:ext cx="4268687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302666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1.06×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0332720" y="30266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1.08×</a:t>
            </a:r>
            <a:endParaRPr lang="en-US" sz="1600" dirty="0"/>
          </a:p>
        </p:txBody>
      </p:sp>
      <p:sp>
        <p:nvSpPr>
          <p:cNvPr id="23" name="tech row 3"/>
          <p:cNvSpPr/>
          <p:nvPr/>
        </p:nvSpPr>
        <p:spPr>
          <a:xfrm>
            <a:off x="548640" y="3648456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31520" y="36484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Chvátal-Gomory</a:t>
            </a:r>
            <a:endParaRPr lang="en-US" sz="1500" dirty="0"/>
          </a:p>
        </p:txBody>
      </p:sp>
      <p:pic>
        <p:nvPicPr>
          <p:cNvPr id="25" name="eq t_cg" descr="t_c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730752"/>
            <a:ext cx="282339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052560" y="364845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1.00×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0332720" y="364845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1.01×</a:t>
            </a:r>
            <a:endParaRPr lang="en-US" sz="1600" dirty="0"/>
          </a:p>
        </p:txBody>
      </p:sp>
      <p:sp>
        <p:nvSpPr>
          <p:cNvPr id="28" name="tech row 4"/>
          <p:cNvSpPr/>
          <p:nvPr/>
        </p:nvSpPr>
        <p:spPr>
          <a:xfrm>
            <a:off x="548640" y="4270248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31520" y="427024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이중 고정</a:t>
            </a:r>
            <a:endParaRPr lang="en-US" sz="1500" dirty="0"/>
          </a:p>
        </p:txBody>
      </p:sp>
      <p:pic>
        <p:nvPicPr>
          <p:cNvPr id="30" name="eq t_dual" descr="t_du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352544"/>
            <a:ext cx="4058828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2702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1.04×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10332720" y="427024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1.06×</a:t>
            </a:r>
            <a:endParaRPr lang="en-US" sz="1600" dirty="0"/>
          </a:p>
        </p:txBody>
      </p:sp>
      <p:sp>
        <p:nvSpPr>
          <p:cNvPr id="33" name="tech row 5"/>
          <p:cNvSpPr/>
          <p:nvPr/>
        </p:nvSpPr>
        <p:spPr>
          <a:xfrm>
            <a:off x="548640" y="4892040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31520" y="48920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 변수 병합</a:t>
            </a:r>
            <a:endParaRPr lang="en-US" sz="1500" dirty="0"/>
          </a:p>
        </p:txBody>
      </p:sp>
      <p:pic>
        <p:nvPicPr>
          <p:cNvPr id="35" name="eq t_agg" descr="t_ag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5000150"/>
            <a:ext cx="6126480" cy="3141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052560" y="48920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1.03×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10332720" y="4892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1.36×</a:t>
            </a:r>
            <a:endParaRPr lang="en-US" sz="1600" dirty="0"/>
          </a:p>
        </p:txBody>
      </p:sp>
      <p:sp>
        <p:nvSpPr>
          <p:cNvPr id="38" name="tech row 6"/>
          <p:cNvSpPr/>
          <p:nvPr/>
        </p:nvSpPr>
        <p:spPr>
          <a:xfrm>
            <a:off x="548640" y="5513832"/>
            <a:ext cx="1106424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31520" y="55138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Orbital fixing</a:t>
            </a:r>
            <a:endParaRPr lang="en-US" sz="1500" dirty="0"/>
          </a:p>
        </p:txBody>
      </p:sp>
      <p:pic>
        <p:nvPicPr>
          <p:cNvPr id="40" name="eq t_orb" descr="t_orb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5596128"/>
            <a:ext cx="3369140" cy="3657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052560" y="551383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1.20×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10332720" y="551383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1.77×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Table 3·4·5·6·12·28·36 (10초 이상 구간 time 열). 배수는 해당 기법을 껐을 때 시간 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분지 규칙 ①: 후보와 점수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분수 변수 i를 내림/올림해 쪼갠다</a:t>
            </a:r>
            <a:endParaRPr lang="en-US" sz="1400" dirty="0"/>
          </a:p>
        </p:txBody>
      </p:sp>
      <p:pic>
        <p:nvPicPr>
          <p:cNvPr id="6" name="eq f" descr="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623" y="1901952"/>
            <a:ext cx="4661154" cy="4183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809951"/>
            <a:ext cx="62179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분수 부분</a:t>
            </a:r>
            <a:endParaRPr lang="en-US" sz="1200" dirty="0"/>
          </a:p>
        </p:txBody>
      </p:sp>
      <p:pic>
        <p:nvPicPr>
          <p:cNvPr id="8" name="eq delta" descr="del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15" y="3319272"/>
            <a:ext cx="2045970" cy="4732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4227271"/>
            <a:ext cx="62179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자식 노드의 LP 하한 증가량</a:t>
            </a:r>
            <a:endParaRPr lang="en-US" sz="1200" dirty="0"/>
          </a:p>
        </p:txBody>
      </p:sp>
      <p:pic>
        <p:nvPicPr>
          <p:cNvPr id="10" name="eq scoreP" descr="score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36592"/>
            <a:ext cx="6217920" cy="34513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5644591"/>
            <a:ext cx="62179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증가량을 하나의 점수로 합친다 (μ = 1/6)</a:t>
            </a:r>
            <a:endParaRPr lang="en-US" sz="1200" dirty="0"/>
          </a:p>
        </p:txBody>
      </p:sp>
      <p:sp>
        <p:nvSpPr>
          <p:cNvPr id="12" name="obs card"/>
          <p:cNvSpPr/>
          <p:nvPr/>
        </p:nvSpPr>
        <p:spPr>
          <a:xfrm>
            <a:off x="7589520" y="1371600"/>
            <a:ext cx="4023360" cy="48463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81812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관찰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18120" y="201168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most infeasible 은 random 과 거의 같다 (쓸모없음)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 strong branching 은 노드 수가 가장 적다 (기하평균 7,242)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하지만 노드당 시간이 커서 전체로는 느리다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목표: 노드 수를 줄이는 변수를 빨리 고르는 것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2장·Table 1·식 (3)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분지 규칙 ②: Pseudocost와 Reliability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6751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이력으로 추정하고, 믿기 어려우면 strong branching</a:t>
            </a:r>
            <a:endParaRPr lang="en-US" sz="1400" dirty="0"/>
          </a:p>
        </p:txBody>
      </p:sp>
      <p:pic>
        <p:nvPicPr>
          <p:cNvPr id="6" name="eq pc1" descr="pc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367" y="1901952"/>
            <a:ext cx="4185666" cy="4183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809951"/>
            <a:ext cx="62179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단위 변화당 이득 ς 와 평균 pseudocost Ψ</a:t>
            </a:r>
            <a:endParaRPr lang="en-US" sz="1200" dirty="0"/>
          </a:p>
        </p:txBody>
      </p:sp>
      <p:pic>
        <p:nvPicPr>
          <p:cNvPr id="8" name="eq pc3" descr="pc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987" y="3319272"/>
            <a:ext cx="3408426" cy="4183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4227271"/>
            <a:ext cx="62179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pseudocost 로 계산한 점수</a:t>
            </a:r>
            <a:endParaRPr lang="en-US" sz="1200" dirty="0"/>
          </a:p>
        </p:txBody>
      </p:sp>
      <p:pic>
        <p:nvPicPr>
          <p:cNvPr id="10" name="eq rel" descr="r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763" y="4736592"/>
            <a:ext cx="4706874" cy="46405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5644591"/>
            <a:ext cx="6217920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가 임계값보다 작으면 strong branching 으로 측정</a:t>
            </a:r>
            <a:endParaRPr lang="en-US" sz="1200" dirty="0"/>
          </a:p>
        </p:txBody>
      </p:sp>
      <p:sp>
        <p:nvSpPr>
          <p:cNvPr id="12" name="param card"/>
          <p:cNvSpPr/>
          <p:nvPr/>
        </p:nvSpPr>
        <p:spPr>
          <a:xfrm>
            <a:off x="7589520" y="1371600"/>
            <a:ext cx="4023360" cy="48463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81812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파라미터의 의미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7818120" y="2011680"/>
            <a:ext cx="3566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= 0 → 순수 pseudocost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= 1 → strong branching 으로 초기화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= ∞ → strong branching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좋은 구간은 η_rel ∈ [4, 8]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2.2~2.7절, Figure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분지 실험: η_rel = 8 이 가장 빨랐다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ncl card"/>
          <p:cNvSpPr/>
          <p:nvPr/>
        </p:nvSpPr>
        <p:spPr>
          <a:xfrm>
            <a:off x="7863840" y="1371600"/>
            <a:ext cx="3749040" cy="47548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9244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결론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2011680"/>
            <a:ext cx="3291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branching 은 시간 기준으로 hybrid 보다 항상 낫다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hybrid 는 깊이를 고정해서, neos3 처럼 경로형 트리에서 strong branching 을 거의 못 쓴다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η_rel = 8, λ = 4 가 새 최적점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full strong 과의 노드 수 격차는 남아 있다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Koch, Martin (2005), Table 1, 3.3절 (i)~(iv), 4장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Conflict: 논문의 Example 3.1</a:t>
            </a:r>
            <a:endParaRPr lang="en-US" sz="3000" dirty="0"/>
          </a:p>
        </p:txBody>
      </p:sp>
      <p:sp>
        <p:nvSpPr>
          <p:cNvPr id="4" name="ex31 card"/>
          <p:cNvSpPr/>
          <p:nvPr/>
        </p:nvSpPr>
        <p:spPr>
          <a:xfrm>
            <a:off x="548640" y="1371600"/>
            <a:ext cx="55778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536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분지와 추론 (Figure 4)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51206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분지: x₁ = 1, x₃ = 1, x₆ =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(2)에서 z₁ ≤ 2, z₂ ≤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(3)에서 x₂ = 0, (6)에서 z₃ ≤ 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그다음 x₄=1, x₅=0, x₇=1, z₃ ≥ 2 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결국 LP 완화가 비실현이 된다</a:t>
            </a:r>
            <a:endParaRPr lang="en-US" sz="1400" dirty="0"/>
          </a:p>
        </p:txBody>
      </p:sp>
      <p:sp>
        <p:nvSpPr>
          <p:cNvPr id="7" name="formula card"/>
          <p:cNvSpPr/>
          <p:nvPr/>
        </p:nvSpPr>
        <p:spPr>
          <a:xfrm>
            <a:off x="6400800" y="1371600"/>
            <a:ext cx="521208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 LP의 쌍대 광선으로 원인을 찾는다</a:t>
            </a:r>
            <a:endParaRPr lang="en-US" sz="1400" dirty="0"/>
          </a:p>
        </p:txBody>
      </p:sp>
      <p:pic>
        <p:nvPicPr>
          <p:cNvPr id="9" name="eq c1" descr="c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01952"/>
            <a:ext cx="4754880" cy="2760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29400" y="3277667"/>
            <a:ext cx="4754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ȳ(10)=2, ȳ(11)=1, ȳ(12)=1, r̄: z₁ 2, z₂ −3, z₃ −1</a:t>
            </a:r>
            <a:endParaRPr lang="en-US" sz="1200" dirty="0"/>
          </a:p>
        </p:txBody>
      </p:sp>
      <p:pic>
        <p:nvPicPr>
          <p:cNvPr id="11" name="eq c2" descr="c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4027932"/>
            <a:ext cx="4754880" cy="2952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29400" y="5403647"/>
            <a:ext cx="4754880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z₃ ≥ 3 을 2 로 완화해도 d &lt; 0 이므로 이 셋이 원인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(2007; ZIB 05-19), Example 3.1·3.5, Figure 4·5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Conflict: 학습 제약과 효과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0350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원인 집합 → 제약</a:t>
            </a:r>
            <a:endParaRPr lang="en-US" sz="1400" dirty="0"/>
          </a:p>
        </p:txBody>
      </p:sp>
      <p:pic>
        <p:nvPicPr>
          <p:cNvPr id="6" name="eq c3" descr="c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999" y="1901952"/>
            <a:ext cx="2576322" cy="36347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70433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 가 정수라 바로 선형화할 수 없다</a:t>
            </a:r>
            <a:endParaRPr lang="en-US" sz="1200" dirty="0"/>
          </a:p>
        </p:txBody>
      </p:sp>
      <p:pic>
        <p:nvPicPr>
          <p:cNvPr id="8" name="eq c4" descr="c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59" y="3159252"/>
            <a:ext cx="3673602" cy="36347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96163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논문이 택한 방법: x 변수만 남긴 cut B 로 선형화</a:t>
            </a:r>
            <a:endParaRPr lang="en-US" sz="1200" dirty="0"/>
          </a:p>
        </p:txBody>
      </p:sp>
      <p:sp>
        <p:nvSpPr>
          <p:cNvPr id="10" name="formula card"/>
          <p:cNvSpPr/>
          <p:nvPr/>
        </p:nvSpPr>
        <p:spPr>
          <a:xfrm>
            <a:off x="548640" y="4663440"/>
            <a:ext cx="6035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이진 변수만 있을 때의 일반형 (식 1)</a:t>
            </a:r>
            <a:endParaRPr lang="en-US" sz="1400" dirty="0"/>
          </a:p>
        </p:txBody>
      </p:sp>
      <p:pic>
        <p:nvPicPr>
          <p:cNvPr id="12" name="eq c5" descr="c5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941" y="5271516"/>
            <a:ext cx="3504438" cy="7498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94944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50%</a:t>
            </a:r>
            <a:endParaRPr lang="en-US" sz="4400" dirty="0"/>
          </a:p>
        </p:txBody>
      </p:sp>
      <p:sp>
        <p:nvSpPr>
          <p:cNvPr id="14" name="Text 8"/>
          <p:cNvSpPr txBox="1"/>
          <p:nvPr/>
        </p:nvSpPr>
        <p:spPr>
          <a:xfrm>
            <a:off x="6949440" y="2331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 감소 (feasible 인스턴스, 기하평균)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941832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+15%</a:t>
            </a:r>
            <a:endParaRPr lang="en-US" sz="4400" dirty="0"/>
          </a:p>
        </p:txBody>
      </p:sp>
      <p:sp>
        <p:nvSpPr>
          <p:cNvPr id="16" name="Text 10"/>
          <p:cNvSpPr txBox="1"/>
          <p:nvPr/>
        </p:nvSpPr>
        <p:spPr>
          <a:xfrm>
            <a:off x="941832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시간은 오히려 증가</a:t>
            </a:r>
            <a:endParaRPr lang="en-US" sz="1400" dirty="0"/>
          </a:p>
        </p:txBody>
      </p:sp>
      <p:sp>
        <p:nvSpPr>
          <p:cNvPr id="17" name="alu card"/>
          <p:cNvSpPr/>
          <p:nvPr/>
        </p:nvSpPr>
        <p:spPr>
          <a:xfrm>
            <a:off x="6949440" y="3383280"/>
            <a:ext cx="4663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17804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infeasible 인스턴스는 다르다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178040" y="4023360"/>
            <a:ext cx="4206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ALU 검증 인스턴스에서 노드·시간 모두 크게 개선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property 1 은 10비트도 쉽게, 기본 설정은 100만 노드 이상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학습된 절이 매우 짧아서 트리를 크게 자르기 때문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(2007; ZIB 05-19), 3.4절·Example 3.7, 4장 Table 1·3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대칭성: 논문의 Example 9와 Orbital fixing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3093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Example 9: 대칭 변수를 하나로 합친다</a:t>
            </a:r>
            <a:endParaRPr lang="en-US" sz="1400" dirty="0"/>
          </a:p>
        </p:txBody>
      </p:sp>
      <p:pic>
        <p:nvPicPr>
          <p:cNvPr id="6" name="eq ex9a" descr="ex9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26556"/>
            <a:ext cx="5852160" cy="346321"/>
          </a:xfrm>
          <a:prstGeom prst="rect">
            <a:avLst/>
          </a:prstGeom>
        </p:spPr>
      </p:pic>
      <p:pic>
        <p:nvPicPr>
          <p:cNvPr id="7" name="eq ex9b" descr="ex9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16" y="2970657"/>
            <a:ext cx="3950208" cy="358902"/>
          </a:xfrm>
          <a:prstGeom prst="rect">
            <a:avLst/>
          </a:prstGeom>
        </p:spPr>
      </p:pic>
      <p:pic>
        <p:nvPicPr>
          <p:cNvPr id="8" name="eq ex9c" descr="ex9c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3821049"/>
            <a:ext cx="3950208" cy="358902"/>
          </a:xfrm>
          <a:prstGeom prst="rect">
            <a:avLst/>
          </a:prstGeom>
        </p:spPr>
      </p:pic>
      <p:pic>
        <p:nvPicPr>
          <p:cNvPr id="9" name="eq ex9d" descr="ex9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53128"/>
            <a:ext cx="5852160" cy="359264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77240" y="4986955"/>
            <a:ext cx="585216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x₁↔x₂, x₃↔x₄ 를 바꾸고 행을 바꾸면 원래 식</a:t>
            </a:r>
            <a:endParaRPr lang="en-US" sz="1200" dirty="0"/>
          </a:p>
        </p:txBody>
      </p:sp>
      <p:pic>
        <p:nvPicPr>
          <p:cNvPr id="11" name="eq ex9e" descr="ex9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185" y="5303520"/>
            <a:ext cx="4446270" cy="35890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777240" y="5837347"/>
            <a:ext cx="585216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합친 뒤 두 제약이 같아져 하나가 삭제된다</a:t>
            </a:r>
            <a:endParaRPr lang="en-US" sz="1200" dirty="0"/>
          </a:p>
        </p:txBody>
      </p:sp>
      <p:sp>
        <p:nvSpPr>
          <p:cNvPr id="13" name="formula card"/>
          <p:cNvSpPr/>
          <p:nvPr/>
        </p:nvSpPr>
        <p:spPr>
          <a:xfrm>
            <a:off x="7132320" y="1371600"/>
            <a:ext cx="44805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740664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Orbital fixing (Margot 도입)</a:t>
            </a:r>
            <a:endParaRPr lang="en-US" sz="1400" dirty="0"/>
          </a:p>
        </p:txBody>
      </p:sp>
      <p:pic>
        <p:nvPicPr>
          <p:cNvPr id="15" name="eq orb" descr="or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2288582"/>
            <a:ext cx="4023360" cy="406315"/>
          </a:xfrm>
          <a:prstGeom prst="rect">
            <a:avLst/>
          </a:prstGeom>
        </p:spPr>
      </p:pic>
      <p:sp>
        <p:nvSpPr>
          <p:cNvPr id="16" name="orbres card"/>
          <p:cNvSpPr/>
          <p:nvPr/>
        </p:nvSpPr>
        <p:spPr>
          <a:xfrm>
            <a:off x="7132320" y="3383280"/>
            <a:ext cx="44805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8"/>
          <p:cNvSpPr txBox="1"/>
          <p:nvPr/>
        </p:nvSpPr>
        <p:spPr>
          <a:xfrm>
            <a:off x="7360920" y="35478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 (10초 이상 구간)</a:t>
            </a:r>
            <a:endParaRPr lang="en-US" sz="1600" dirty="0"/>
          </a:p>
        </p:txBody>
      </p:sp>
      <p:sp>
        <p:nvSpPr>
          <p:cNvPr id="18" name="Text 9"/>
          <p:cNvSpPr txBox="1"/>
          <p:nvPr/>
        </p:nvSpPr>
        <p:spPr>
          <a:xfrm>
            <a:off x="7360920" y="4023360"/>
            <a:ext cx="4023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모델의 약 20%에 적용, 그 모델에서 시간 1.77배 차이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끄면 시간 초과 모델이 37개 늘어난다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 기법은 일부 모델에만 듣지만 듣는 곳에서 크다</a:t>
            </a:r>
            <a:endParaRPr lang="en-US" sz="1400" dirty="0"/>
          </a:p>
        </p:txBody>
      </p:sp>
      <p:sp>
        <p:nvSpPr>
          <p:cNvPr id="19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et al. (ZIB 16-44), 7.1절 Example 9·Table 28, 8.2절 Table 36 · Margot(2003)은 2차 인용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해 찾기: Local branching과 RINS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5852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Local branching (Fischetti &amp; Lodi 2003)</a:t>
            </a:r>
            <a:endParaRPr lang="en-US" sz="1400" dirty="0"/>
          </a:p>
        </p:txBody>
      </p:sp>
      <p:pic>
        <p:nvPicPr>
          <p:cNvPr id="6" name="eq lb" descr="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726" y="1901952"/>
            <a:ext cx="4475988" cy="73380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930652"/>
            <a:ext cx="5394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 : x̄ 에서 1 인 변수 집합</a:t>
            </a:r>
            <a:endParaRPr lang="en-US" sz="1200" dirty="0"/>
          </a:p>
        </p:txBody>
      </p:sp>
      <p:sp>
        <p:nvSpPr>
          <p:cNvPr id="8" name="formula card"/>
          <p:cNvSpPr/>
          <p:nvPr/>
        </p:nvSpPr>
        <p:spPr>
          <a:xfrm>
            <a:off x="548640" y="3749040"/>
            <a:ext cx="5852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RINS (Danna 외 2005)</a:t>
            </a:r>
            <a:endParaRPr lang="en-US" sz="1400" dirty="0"/>
          </a:p>
        </p:txBody>
      </p:sp>
      <p:pic>
        <p:nvPicPr>
          <p:cNvPr id="10" name="eq rins" descr="r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4279392"/>
            <a:ext cx="2857500" cy="42291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5489143"/>
            <a:ext cx="539496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x̄ : incumbent, x* : LP 완화해</a:t>
            </a:r>
            <a:endParaRPr lang="en-US" sz="1200" dirty="0"/>
          </a:p>
        </p:txBody>
      </p:sp>
      <p:sp>
        <p:nvSpPr>
          <p:cNvPr id="12" name="heur card"/>
          <p:cNvSpPr/>
          <p:nvPr/>
        </p:nvSpPr>
        <p:spPr>
          <a:xfrm>
            <a:off x="6766560" y="1371600"/>
            <a:ext cx="48463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99516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 (전문 미확인)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995160" y="2011680"/>
            <a:ext cx="43891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Local branching: 현재 해 주변을 선형 제약으로 정의해 MIP 솔버로 탐색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RINS: incumbent 와 LP 해가 같은 변수를 고정하고 작은 MIP 를 푼다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RINS 논문은 default CPLEX 와 local branching 보다 낫다고 보고(초록)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 start 는 같은 목적: 초기 UB 확보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전문을 읽지 못한 부분입니다(초록·2차 자료 기반). 서지: Math. Prog. 98(1-3) 23-47, 102 71-90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Benders 분해: 문헌 리뷰의 기본 형태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9494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 y, 연속 변수 x</a:t>
            </a:r>
            <a:endParaRPr lang="en-US" sz="1400" dirty="0"/>
          </a:p>
        </p:txBody>
      </p:sp>
      <p:pic>
        <p:nvPicPr>
          <p:cNvPr id="6" name="eq b1" descr="b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58474"/>
            <a:ext cx="6492240" cy="282483"/>
          </a:xfrm>
          <a:prstGeom prst="rect">
            <a:avLst/>
          </a:prstGeom>
        </p:spPr>
      </p:pic>
      <p:pic>
        <p:nvPicPr>
          <p:cNvPr id="7" name="eq b3" descr="b3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15" y="2752344"/>
            <a:ext cx="4149090" cy="50749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77240" y="3286171"/>
            <a:ext cx="649224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고정한 ȳ 에 대한 쌍대 부문제</a:t>
            </a:r>
            <a:endParaRPr lang="en-US" sz="1200" dirty="0"/>
          </a:p>
        </p:txBody>
      </p:sp>
      <p:pic>
        <p:nvPicPr>
          <p:cNvPr id="9" name="eq b4" descr="b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986" y="3602736"/>
            <a:ext cx="3698748" cy="39776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77240" y="4136563"/>
            <a:ext cx="649224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문제 (η 는 부문제 비용의 대리 변수)</a:t>
            </a:r>
            <a:endParaRPr lang="en-US" sz="1200" dirty="0"/>
          </a:p>
        </p:txBody>
      </p:sp>
      <p:pic>
        <p:nvPicPr>
          <p:cNvPr id="11" name="eq b5" descr="b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75" y="4453128"/>
            <a:ext cx="3646170" cy="40462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77240" y="4986955"/>
            <a:ext cx="649224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optimality cut</a:t>
            </a:r>
            <a:endParaRPr lang="en-US" sz="1200" dirty="0"/>
          </a:p>
        </p:txBody>
      </p:sp>
      <p:pic>
        <p:nvPicPr>
          <p:cNvPr id="13" name="eq b6" descr="b6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5303520"/>
            <a:ext cx="3621024" cy="443484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777240" y="5837347"/>
            <a:ext cx="6492240" cy="27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feasibility cut</a:t>
            </a:r>
            <a:endParaRPr lang="en-US" sz="1200" dirty="0"/>
          </a:p>
        </p:txBody>
      </p:sp>
      <p:sp>
        <p:nvSpPr>
          <p:cNvPr id="15" name="bend card"/>
          <p:cNvSpPr/>
          <p:nvPr/>
        </p:nvSpPr>
        <p:spPr>
          <a:xfrm>
            <a:off x="7863840" y="137160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809244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리뷰의 핵심 메모</a:t>
            </a:r>
            <a:endParaRPr lang="en-US" sz="1600" dirty="0"/>
          </a:p>
        </p:txBody>
      </p:sp>
      <p:sp>
        <p:nvSpPr>
          <p:cNvPr id="17" name="Text 9"/>
          <p:cNvSpPr txBox="1"/>
          <p:nvPr/>
        </p:nvSpPr>
        <p:spPr>
          <a:xfrm>
            <a:off x="8092440" y="2011680"/>
            <a:ext cx="3291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값은 하한, ȳ 로 푼 부문제는 상한을 준다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정식화가 강할수록 Benders 도 빠르다 (Magnanti–Wong 등 인용)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대신 부문제가 어려워지는 균형이 필요하다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고전 Benders 는 부문제의 정수 조건을 못 다룬다</a:t>
            </a:r>
            <a:endParaRPr lang="en-US" sz="1400" dirty="0"/>
          </a:p>
        </p:txBody>
      </p:sp>
      <p:sp>
        <p:nvSpPr>
          <p:cNvPr id="18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 (2017), EJOR 259(3), 2.1~2.3절 (CIRRELT-2016-30)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생성: 서베이의 정식화와 절삭 문제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548640" y="1371600"/>
            <a:ext cx="69494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문제와 가격 문제</a:t>
            </a:r>
            <a:endParaRPr lang="en-US" sz="1400" dirty="0"/>
          </a:p>
        </p:txBody>
      </p:sp>
      <p:pic>
        <p:nvPicPr>
          <p:cNvPr id="6" name="eq g1" descr="g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508" y="1901952"/>
            <a:ext cx="5249704" cy="6590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576093"/>
            <a:ext cx="64922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문제 (MP)</a:t>
            </a:r>
            <a:endParaRPr lang="en-US" sz="1200" dirty="0"/>
          </a:p>
        </p:txBody>
      </p:sp>
      <p:pic>
        <p:nvPicPr>
          <p:cNvPr id="8" name="eq g2" descr="g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64942"/>
            <a:ext cx="6492240" cy="3623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639083"/>
            <a:ext cx="64922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문제: 가장 음수인 열을 찾는다</a:t>
            </a:r>
            <a:endParaRPr lang="en-US" sz="1200" dirty="0"/>
          </a:p>
        </p:txBody>
      </p:sp>
      <p:pic>
        <p:nvPicPr>
          <p:cNvPr id="10" name="eq g4" descr="g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92" y="4027932"/>
            <a:ext cx="6213936" cy="65905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" y="4702073"/>
            <a:ext cx="64922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1차원 절삭 문제: 패턴 j 가 열이다</a:t>
            </a:r>
            <a:endParaRPr lang="en-US" sz="1200" dirty="0"/>
          </a:p>
        </p:txBody>
      </p:sp>
      <p:pic>
        <p:nvPicPr>
          <p:cNvPr id="12" name="eq g6" descr="g6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061" y="5090922"/>
            <a:ext cx="2498598" cy="35890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77240" y="5765063"/>
            <a:ext cx="6492240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반복에서 상한과 하한을 함께 얻는다</a:t>
            </a:r>
            <a:endParaRPr lang="en-US" sz="1200" dirty="0"/>
          </a:p>
        </p:txBody>
      </p:sp>
      <p:sp>
        <p:nvSpPr>
          <p:cNvPr id="14" name="cg card"/>
          <p:cNvSpPr/>
          <p:nvPr/>
        </p:nvSpPr>
        <p:spPr>
          <a:xfrm>
            <a:off x="7863840" y="1371600"/>
            <a:ext cx="3749040" cy="484632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809244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서베이의 요점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8092440" y="2011680"/>
            <a:ext cx="3291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열이 너무 많으면 일부(J′)만 둔 RMP 를 푼다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쌍대값으로 가격 문제를 풀면 새 열이 나온다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절삭 문제의 가격 문제는 배낭 문제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c̄* ≥ 0 이면 최적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 &amp; Desrosiers (2005), Selected Topics in Column Generation, 2.1절 식 (1)~(5)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벤치마크: MIPLIB 2017과 실험 보고법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5,721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제출된 후보 인스턴스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1,065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2331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MIPLIB 2017 컬렉션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2331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솔버 성능 측정용 benchmark 부분집합</a:t>
            </a:r>
            <a:endParaRPr lang="en-US" sz="1400" dirty="0"/>
          </a:p>
        </p:txBody>
      </p:sp>
      <p:sp>
        <p:nvSpPr>
          <p:cNvPr id="10" name="report card"/>
          <p:cNvSpPr/>
          <p:nvPr/>
        </p:nvSpPr>
        <p:spPr>
          <a:xfrm>
            <a:off x="548640" y="3749040"/>
            <a:ext cx="110642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913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논문이 쓰는 보고 방식 (Presolve 논문 1.1절)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3891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시간은 기하평균(shift 1초)의 비로 보고한다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너무 쉬운 문제를 빼고, 10초·100초·1000초 이상 구간별로 나눠 본다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'affected' 열: 기법이 실제로 바뀐 모델만 따로 본다 (심플렉스 반복 수가 다르면 영향받음)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Gleixner et al. (2021), MIPLIB 2017, Math. Prog. Comp. 13(3) · Achterberg et al. (ZIB 16-44) 1.1절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파라미터 치트시트 (논문 외 자료)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10896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목적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Gurobi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CPLEX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효과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허용 갭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MIPGap (기본 1e-4)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mip.tolerances.mipgap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후반 미세 수렴 생략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탐색 초점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MIPFocus 1/2/3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MIPEMPHASIS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해 / 증명 / 하한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휴리스틱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Heuristics, NoRelHeurTime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HEURFREQ, RINSHEUR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초기해 확보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전처리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Presolve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PREIND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 축소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자동 튜닝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grbtune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tuning tool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옵션 탐색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메모리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NodefileStart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NODEFILEIND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디스크 스왑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6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솔버 매뉴얼 기준(논문 외). 효과는 문제 구조에 의존하므로 벤치마크로 검증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정리와 다음 단계</a:t>
            </a:r>
            <a:endParaRPr lang="en-US" sz="3000" dirty="0"/>
          </a:p>
        </p:txBody>
      </p:sp>
      <p:sp>
        <p:nvSpPr>
          <p:cNvPr id="4" name="step1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정식화 점검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Big-M, 대칭성, 변수 경계</a:t>
            </a:r>
            <a:endParaRPr lang="en-US" sz="1400" dirty="0"/>
          </a:p>
        </p:txBody>
      </p:sp>
      <p:sp>
        <p:nvSpPr>
          <p:cNvPr id="8" name="step2"/>
          <p:cNvSpPr/>
          <p:nvPr/>
        </p:nvSpPr>
        <p:spPr>
          <a:xfrm>
            <a:off x="338328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설정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의 η_rel≈8</a:t>
            </a:r>
            <a:endParaRPr lang="en-US" sz="1400" dirty="0"/>
          </a:p>
        </p:txBody>
      </p:sp>
      <p:sp>
        <p:nvSpPr>
          <p:cNvPr id="12" name="step3"/>
          <p:cNvSpPr/>
          <p:nvPr/>
        </p:nvSpPr>
        <p:spPr>
          <a:xfrm>
            <a:off x="621792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초기해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 start, 휴리스틱</a:t>
            </a:r>
            <a:endParaRPr lang="en-US" sz="1400" dirty="0"/>
          </a:p>
        </p:txBody>
      </p:sp>
      <p:sp>
        <p:nvSpPr>
          <p:cNvPr id="16" name="step4"/>
          <p:cNvSpPr/>
          <p:nvPr/>
        </p:nvSpPr>
        <p:spPr>
          <a:xfrm>
            <a:off x="9052560" y="1554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525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05256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2004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Benders, 열 생성</a:t>
            </a:r>
            <a:endParaRPr lang="en-US" sz="1400" dirty="0"/>
          </a:p>
        </p:txBody>
      </p:sp>
      <p:sp>
        <p:nvSpPr>
          <p:cNvPr id="20" name="next card"/>
          <p:cNvSpPr/>
          <p:nvPr/>
        </p:nvSpPr>
        <p:spPr>
          <a:xfrm>
            <a:off x="548640" y="4297680"/>
            <a:ext cx="110642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4622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 볼 만한 실험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9377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SCIP 에서 presolve, conflict, 대칭성 처리를 하나씩 끄고 MIPLIB 일부로 시간을 비교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reliability / pseudocost / full strong 분지 규칙 비교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Big-M 을 데이터 상한으로 줄였을 때 갭과 시간 변화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참고문헌 (● 전문 읽음 ○ 미확인)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Achterberg, Bixby, Gu, Rothberg, Weninger (2016/2019). Presolve Reductions in MIP. ZIB 16-44 / INFORMS J. Comput. doi:10.1287/ijoc.2018.0857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Achterberg, Koch, Martin (2005). Branching rules revisited. Oper. Res. Lett. 33, 42–54.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Achterberg (2007). Conflict analysis in MIP. Discrete Optim. 4, 4–20 (ZIB 05-19).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Rahmaniani, Crainic, Gendreau, Rei (2017). The Benders decomposition algorithm: A literature review. EJOR 259(3), 801–817.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Lübbecke, Desrosiers (2005). Selected topics in column generation. Oper. Res. 53(6), 1007–1023.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Gleixner et al. (2021). MIPLIB 2017. Math. Prog. Comp. 13(3), 443–490.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Margot (2003). Exploiting orbits in symmetric ILP. Math. Prog. 98, 3–21.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Fischetti, Lodi (2003). Local branching. Math. Prog. 98, 23–47.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Danna, Rothberg, Le Pape (2005). Exploring relaxation induced neighborhoods. Math. Prog. 102, 71–90.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○ Achterberg, Wunderling (2013). Mixed Integer Programming: Analyzing 12 Years of Progress. Springer, 449–481.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2026-10-22T13:33:36Z</dcterms:created>
  <dcterms:modified xsi:type="dcterms:W3CDTF">2026-10-22T13:33:36Z</dcterms:modified>
</cp:coreProperties>
</file>