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6"/>
    <p:sldId id="278" r:id="rId5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23.xml"/><Relationship Id="rId6" Type="http://schemas.openxmlformats.org/officeDocument/2006/relationships/slide" Target="slides/slide22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과외 노트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Benders와 열 생성으로 큰 문제 쪼개기 — 과외 노트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 외 (2017) Benders 문헌 리뷰 · Lübbecke · Desrosiers (2005) 열 생성 서베이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두 방법은 무엇을 쪼개나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1장 / Lübbecke, Desrosiers, Selected Topics in Column Generation (Operations Research 2005)</a:t>
            </a:r>
          </a:p>
        </p:txBody>
      </p:sp>
      <p:sp>
        <p:nvSpPr>
          <p:cNvPr id="102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3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 분해</a:t>
            </a:r>
          </a:p>
        </p:txBody>
      </p:sp>
      <p:sp>
        <p:nvSpPr>
          <p:cNvPr id="104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정수인 "복잡한 변수" y 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 두고, 나머지 연속 변수 부분을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풉니다.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부문제를 풀어 얻은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절단(cut)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을 마스터에 하나씩 더해 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쪼개는 대상: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마스터에 쌓이는 것: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행(절단)</a:t>
            </a:r>
          </a:p>
        </p:txBody>
      </p:sp>
      <p:sp>
        <p:nvSpPr>
          <p:cNvPr id="105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6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 (column generation)</a:t>
            </a:r>
          </a:p>
        </p:txBody>
      </p:sp>
      <p:sp>
        <p:nvSpPr>
          <p:cNvPr id="107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변수(열)가 너무 많아서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일부만 두고 풀고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쌍대값으로 새 열을 찾아 추가합니다.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필요할 때 만들어 넣는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방법이고, Dantzig–Wolfe 분해와 같은 뿌리입니다.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쪼개는 대상: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열(변수)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마스터에 쌓이는 것: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열(변수)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리뷰의 설명: LP에 대해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Dantzig–Wolfe 분해는 그 쌍대 문제에 Benders를 적용한 것과 같습니다.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DW가 맞는 "복잡한 제약"의 쌍대가 Benders의 "복잡한 변수"가 되기 때문입니다.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Benders 직관: 본사와 지점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2장. 비유는 제가 만든 것</a:t>
            </a:r>
          </a:p>
        </p:txBody>
      </p:sp>
      <p:sp>
        <p:nvSpPr>
          <p:cNvPr id="109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0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비유 (제가 만든 예)</a:t>
            </a:r>
          </a:p>
        </p:txBody>
      </p:sp>
      <p:sp>
        <p:nvSpPr>
          <p:cNvPr id="111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본사가 "어느 공장을 열지"(정수 결정 y)를 정합니다. 이게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공장 위치가 정해지면 "각 공장에서 고객에게 얼마씩 보낼지"(연속 변수 x)는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LP로 쉽게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풀립니다. 이게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부문제를 풀어 보고 본사에 알려 줍니다: "그 계획은 비용이 이만큼이야" 또는 "그 계획은 수요를 못 채워(비실현)".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피드백이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본사는 절단을 쌓아 가며 점점 더 나은 계획을 세웁니다.</a:t>
            </a:r>
          </a:p>
        </p:txBody>
      </p:sp>
      <p:sp>
        <p:nvSpPr>
          <p:cNvPr id="112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3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쪼개나</a:t>
            </a:r>
          </a:p>
        </p:txBody>
      </p:sp>
      <p:sp>
        <p:nvSpPr>
          <p:cNvPr id="114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변수와 연속 변수가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함께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있는 큰 MIP는 풀기 어렵습니다.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변수만 남은 작은 마스터와, 정수 변수가 고정된 쉬운 LP 부문제로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나눠서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풉니다.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어울리는 구조: 정수 결정 + 연속 흐름 (시설 입지, 확률계획).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쪼갠 대가: 마스터와 부문제 사이를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여러 번 오가야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Benders (1): 문제 형태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1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2장</a:t>
            </a:r>
          </a:p>
        </p:txBody>
      </p:sp>
      <p:sp>
        <p:nvSpPr>
          <p:cNvPr id="116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7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 읽기</a:t>
            </a:r>
          </a:p>
        </p:txBody>
      </p:sp>
      <p:sp>
        <p:nvSpPr>
          <p:cNvPr id="118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fᵀy + cᵀx  s.t.  Ay = b,  By + Dx = d,  x ≥ 0,  y ≥ 0 정수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정수의 "복잡한 변수".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연속 변수.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By + Dx = d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연속 변수와 정수 변수를 묶는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연결 제약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핵심: y 를 ȳ 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고정하면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남는 것은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 LP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그래서 쉽습니다.</a:t>
            </a:r>
          </a:p>
        </p:txBody>
      </p:sp>
      <p:sp>
        <p:nvSpPr>
          <p:cNvPr id="119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0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유도의 출발</a:t>
            </a:r>
          </a:p>
        </p:txBody>
      </p:sp>
      <p:sp>
        <p:nvSpPr>
          <p:cNvPr id="121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 = {y | Ay = b, y ≥ 0 정수} 라 하고, 안쪽 최소화의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씁니다. 쌍대 변수를 π 라 하면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min_{ȳ∈Y} fᵀȳ + max_π { πᵀ(d − Bȳ) : πᵀD ≤ c }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쌍대의 실행가능 영역 {π | πᵀD ≤ c} 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ȳ 와 무관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 이게 핵심 성질입니다.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(왜 중요한가: ȳ 가 바뀌어도 쌍대 영역은 그대로이므로, 한 번 만든 절단이 다른 ȳ 에서도 쓰입니다.)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Benders (2): 두 종류의 절단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2장, Benders 마스터 문제</a:t>
            </a:r>
          </a:p>
        </p:txBody>
      </p:sp>
      <p:sp>
        <p:nvSpPr>
          <p:cNvPr id="123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4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문제는 두 경우 중 하나</a:t>
            </a:r>
          </a:p>
        </p:txBody>
      </p:sp>
      <p:sp>
        <p:nvSpPr>
          <p:cNvPr id="125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영역이 비어 있지 않다면 안쪽 문제는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(i) 유계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극점 π_e 에서 최댓값을 가짐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(ii) 비유계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방향 r_q 가 있어 r_qᵀ(d − Bȳ) &gt; 0 이고, 이는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ȳ 가 비실현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이라는 뜻 (피해야 함)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두 경우를 모두 제약으로 만들면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 마스터 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됩니다.</a:t>
            </a:r>
          </a:p>
        </p:txBody>
      </p:sp>
      <p:sp>
        <p:nvSpPr>
          <p:cNvPr id="126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7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문제</a:t>
            </a:r>
          </a:p>
        </p:txBody>
      </p:sp>
      <p:sp>
        <p:nvSpPr>
          <p:cNvPr id="128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fᵀy + η  s.t.  Ay = b,  y ≥ 0 정수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≥ π_eᵀ(d − By)  ∀ e ∈ E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optimality cut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≥ r_qᵀ(d − By)  ∀ q ∈ Q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feasibility cut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는 부문제 비용을 대신하는 변수입니다.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optimality cut: "부문제 비용은 최소한 이만큼"을 알려 줍니다. feasibility cut: "이 y 조합은 아예 안 돼"를 알려 줍니다.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Benders (3): 알고리즘과 수렴 판정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2장</a:t>
            </a:r>
          </a:p>
        </p:txBody>
      </p:sp>
      <p:sp>
        <p:nvSpPr>
          <p:cNvPr id="130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1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 3단계</a:t>
            </a:r>
          </a:p>
        </p:txBody>
      </p:sp>
      <p:sp>
        <p:nvSpPr>
          <p:cNvPr id="132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절단을 미리 만드는 것은 현실적이지 않아서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지금까지 모은 절단만 가진 마스터를 풀어 시험값 ȳ 를 얻습니다.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ȳ 에서 부문제를 풉니다. 실행가능하고 유계이면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optimality cut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비유계(원 문제가 비실현)이면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feasibility cut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절단이 현재 해를 위반하면 마스터에 더하고 1로 돌아갑니다.</a:t>
            </a:r>
          </a:p>
        </p:txBody>
      </p:sp>
      <p:sp>
        <p:nvSpPr>
          <p:cNvPr id="133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4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 멈추나: 하한과 상한</a:t>
            </a:r>
          </a:p>
        </p:txBody>
      </p:sp>
      <p:sp>
        <p:nvSpPr>
          <p:cNvPr id="135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마스터의 목적값 = 하한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(마스터가 원 문제의 완화이므로)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ȳ 로 고정한 원 문제의 값(부문제 값 + fᵀȳ) = 상한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(실제로 가능한 해의 비용)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값이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만나면 종료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절단이 쌓일수록 마스터의 하한은 올라가고(완화가 조여짐), 좋은 ȳ 가 나오면 상한은 내려갑니다.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시설 입지 예 (1):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3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계산한 예이며 논문의 예시가 아닙니다. 마스터는 열거, 부문제는 HiGHS</a:t>
            </a:r>
          </a:p>
        </p:txBody>
      </p:sp>
      <p:sp>
        <p:nvSpPr>
          <p:cNvPr id="137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8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돌려 본 예 (제가 계산한 예)</a:t>
            </a:r>
          </a:p>
        </p:txBody>
      </p:sp>
      <p:sp>
        <p:nvSpPr>
          <p:cNvPr id="139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수 있는 시설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고정비 f = (6, 7, 9), 용량 K = (6, 8, 10)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고객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2명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수요 d = (5, 4)  (총수요 9)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운송비 c: 시설 1 → (2, 3), 시설 2 → (4, 1), 시설 3 → (1, 5)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y_i ∈ {0,1}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시설 i 를 열지 여부. 연속 변수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x_ij ≥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운송량.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마스터는 y 의 8가지 조합을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열거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해서 풀었습니다.</a:t>
            </a:r>
          </a:p>
        </p:txBody>
      </p:sp>
      <p:sp>
        <p:nvSpPr>
          <p:cNvPr id="140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1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예로 확인하고 싶은 것</a:t>
            </a:r>
          </a:p>
        </p:txBody>
      </p:sp>
      <p:sp>
        <p:nvSpPr>
          <p:cNvPr id="142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마스터와 부문제가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어떻게 번갈아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돌아가는가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어떤 정보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를 마스터에 전달하는가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하한과 상한이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언제 만나는가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예는 개념과 식이 어떻게 돌아가는지 보이기 위한 아주 작은 문제입니다.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분해가 실제로 더 빠른지는 보여 주지 않습니다.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시설 입지 예 (2): 반복 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4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계산한 예 (논문의 예시 아님). 절단 계수는 LP 솔버가 고르는 쌍대 최적해에 따라 달라질 수 있고, 위는 HiGHS 값</a:t>
            </a:r>
          </a:p>
        </p:txBody>
      </p:sp>
      <p:sp>
        <p:nvSpPr>
          <p:cNvPr id="144" name="th"/>
          <p:cNvSpPr txBox="1"/>
          <p:nvPr/>
        </p:nvSpPr>
        <p:spPr>
          <a:xfrm>
            <a:off x="698640" y="1371600"/>
            <a:ext cx="7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</a:t>
            </a:r>
          </a:p>
        </p:txBody>
      </p:sp>
      <p:sp>
        <p:nvSpPr>
          <p:cNvPr id="145" name="th"/>
          <p:cNvSpPr txBox="1"/>
          <p:nvPr/>
        </p:nvSpPr>
        <p:spPr>
          <a:xfrm>
            <a:off x="1704480" y="1371600"/>
            <a:ext cx="17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해 ȳ</a:t>
            </a:r>
          </a:p>
        </p:txBody>
      </p:sp>
      <p:sp>
        <p:nvSpPr>
          <p:cNvPr id="146" name="th"/>
          <p:cNvSpPr txBox="1"/>
          <p:nvPr/>
        </p:nvSpPr>
        <p:spPr>
          <a:xfrm>
            <a:off x="3716160" y="1371600"/>
            <a:ext cx="9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</a:t>
            </a:r>
          </a:p>
        </p:txBody>
      </p:sp>
      <p:sp>
        <p:nvSpPr>
          <p:cNvPr id="147" name="th"/>
          <p:cNvSpPr txBox="1"/>
          <p:nvPr/>
        </p:nvSpPr>
        <p:spPr>
          <a:xfrm>
            <a:off x="4923168" y="1371600"/>
            <a:ext cx="13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</a:t>
            </a:r>
          </a:p>
        </p:txBody>
      </p:sp>
      <p:sp>
        <p:nvSpPr>
          <p:cNvPr id="148" name="th"/>
          <p:cNvSpPr txBox="1"/>
          <p:nvPr/>
        </p:nvSpPr>
        <p:spPr>
          <a:xfrm>
            <a:off x="6532512" y="1371600"/>
            <a:ext cx="9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상한</a:t>
            </a:r>
          </a:p>
        </p:txBody>
      </p:sp>
      <p:sp>
        <p:nvSpPr>
          <p:cNvPr id="149" name="th"/>
          <p:cNvSpPr txBox="1"/>
          <p:nvPr/>
        </p:nvSpPr>
        <p:spPr>
          <a:xfrm>
            <a:off x="7739520" y="1371600"/>
            <a:ext cx="37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만든 절단</a:t>
            </a:r>
          </a:p>
        </p:txBody>
      </p:sp>
      <p:sp>
        <p:nvSpPr>
          <p:cNvPr id="150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1" name="cell"/>
          <p:cNvSpPr txBox="1"/>
          <p:nvPr/>
        </p:nvSpPr>
        <p:spPr>
          <a:xfrm>
            <a:off x="698640" y="1771600"/>
            <a:ext cx="70584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</a:p>
        </p:txBody>
      </p:sp>
      <p:sp>
        <p:nvSpPr>
          <p:cNvPr id="152" name="cell"/>
          <p:cNvSpPr txBox="1"/>
          <p:nvPr/>
        </p:nvSpPr>
        <p:spPr>
          <a:xfrm>
            <a:off x="1704480" y="1771600"/>
            <a:ext cx="17116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(0, 0, 0)</a:t>
            </a:r>
          </a:p>
        </p:txBody>
      </p:sp>
      <p:sp>
        <p:nvSpPr>
          <p:cNvPr id="153" name="cell"/>
          <p:cNvSpPr txBox="1"/>
          <p:nvPr/>
        </p:nvSpPr>
        <p:spPr>
          <a:xfrm>
            <a:off x="3716160" y="177160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</a:t>
            </a:r>
          </a:p>
        </p:txBody>
      </p:sp>
      <p:sp>
        <p:nvSpPr>
          <p:cNvPr id="154" name="cell"/>
          <p:cNvSpPr txBox="1"/>
          <p:nvPr/>
        </p:nvSpPr>
        <p:spPr>
          <a:xfrm>
            <a:off x="4923168" y="1771600"/>
            <a:ext cx="13093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</a:t>
            </a:r>
          </a:p>
        </p:txBody>
      </p:sp>
      <p:sp>
        <p:nvSpPr>
          <p:cNvPr id="155" name="cell"/>
          <p:cNvSpPr txBox="1"/>
          <p:nvPr/>
        </p:nvSpPr>
        <p:spPr>
          <a:xfrm>
            <a:off x="6532512" y="177160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</a:p>
        </p:txBody>
      </p:sp>
      <p:sp>
        <p:nvSpPr>
          <p:cNvPr id="156" name="cell"/>
          <p:cNvSpPr txBox="1"/>
          <p:nvPr/>
        </p:nvSpPr>
        <p:spPr>
          <a:xfrm>
            <a:off x="7739520" y="1771600"/>
            <a:ext cx="37233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feasibility: 6y₁ + 8y₂ + 10y₃ ≥ 9</a:t>
            </a:r>
          </a:p>
        </p:txBody>
      </p:sp>
      <p:sp>
        <p:nvSpPr>
          <p:cNvPr id="157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8" name="cell"/>
          <p:cNvSpPr txBox="1"/>
          <p:nvPr/>
        </p:nvSpPr>
        <p:spPr>
          <a:xfrm>
            <a:off x="698640" y="2243060"/>
            <a:ext cx="70584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</a:p>
        </p:txBody>
      </p:sp>
      <p:sp>
        <p:nvSpPr>
          <p:cNvPr id="159" name="cell"/>
          <p:cNvSpPr txBox="1"/>
          <p:nvPr/>
        </p:nvSpPr>
        <p:spPr>
          <a:xfrm>
            <a:off x="1704480" y="2243060"/>
            <a:ext cx="17116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(0, 0, 1)</a:t>
            </a:r>
          </a:p>
        </p:txBody>
      </p:sp>
      <p:sp>
        <p:nvSpPr>
          <p:cNvPr id="160" name="cell"/>
          <p:cNvSpPr txBox="1"/>
          <p:nvPr/>
        </p:nvSpPr>
        <p:spPr>
          <a:xfrm>
            <a:off x="3716160" y="224306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</a:p>
        </p:txBody>
      </p:sp>
      <p:sp>
        <p:nvSpPr>
          <p:cNvPr id="161" name="cell"/>
          <p:cNvSpPr txBox="1"/>
          <p:nvPr/>
        </p:nvSpPr>
        <p:spPr>
          <a:xfrm>
            <a:off x="4923168" y="2243060"/>
            <a:ext cx="13093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</a:p>
        </p:txBody>
      </p:sp>
      <p:sp>
        <p:nvSpPr>
          <p:cNvPr id="162" name="cell"/>
          <p:cNvSpPr txBox="1"/>
          <p:nvPr/>
        </p:nvSpPr>
        <p:spPr>
          <a:xfrm>
            <a:off x="6532512" y="224306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34</a:t>
            </a:r>
          </a:p>
        </p:txBody>
      </p:sp>
      <p:sp>
        <p:nvSpPr>
          <p:cNvPr id="163" name="cell"/>
          <p:cNvSpPr txBox="1"/>
          <p:nvPr/>
        </p:nvSpPr>
        <p:spPr>
          <a:xfrm>
            <a:off x="7739520" y="2243060"/>
            <a:ext cx="37233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≥ 25 − 12y₁ − 32y₂</a:t>
            </a:r>
          </a:p>
        </p:txBody>
      </p:sp>
      <p:sp>
        <p:nvSpPr>
          <p:cNvPr id="164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5" name="cell"/>
          <p:cNvSpPr txBox="1"/>
          <p:nvPr/>
        </p:nvSpPr>
        <p:spPr>
          <a:xfrm>
            <a:off x="698640" y="2714520"/>
            <a:ext cx="70584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</a:p>
        </p:txBody>
      </p:sp>
      <p:sp>
        <p:nvSpPr>
          <p:cNvPr id="166" name="cell"/>
          <p:cNvSpPr txBox="1"/>
          <p:nvPr/>
        </p:nvSpPr>
        <p:spPr>
          <a:xfrm>
            <a:off x="1704480" y="2714520"/>
            <a:ext cx="17116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(1, 1, 0)</a:t>
            </a:r>
          </a:p>
        </p:txBody>
      </p:sp>
      <p:sp>
        <p:nvSpPr>
          <p:cNvPr id="167" name="cell"/>
          <p:cNvSpPr txBox="1"/>
          <p:nvPr/>
        </p:nvSpPr>
        <p:spPr>
          <a:xfrm>
            <a:off x="3716160" y="271452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</a:t>
            </a:r>
          </a:p>
        </p:txBody>
      </p:sp>
      <p:sp>
        <p:nvSpPr>
          <p:cNvPr id="168" name="cell"/>
          <p:cNvSpPr txBox="1"/>
          <p:nvPr/>
        </p:nvSpPr>
        <p:spPr>
          <a:xfrm>
            <a:off x="4923168" y="2714520"/>
            <a:ext cx="13093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</a:t>
            </a:r>
          </a:p>
        </p:txBody>
      </p:sp>
      <p:sp>
        <p:nvSpPr>
          <p:cNvPr id="169" name="cell"/>
          <p:cNvSpPr txBox="1"/>
          <p:nvPr/>
        </p:nvSpPr>
        <p:spPr>
          <a:xfrm>
            <a:off x="6532512" y="271452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27</a:t>
            </a:r>
          </a:p>
        </p:txBody>
      </p:sp>
      <p:sp>
        <p:nvSpPr>
          <p:cNvPr id="170" name="cell"/>
          <p:cNvSpPr txBox="1"/>
          <p:nvPr/>
        </p:nvSpPr>
        <p:spPr>
          <a:xfrm>
            <a:off x="7739520" y="2714520"/>
            <a:ext cx="37233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≥ 14 − 10y₃</a:t>
            </a:r>
          </a:p>
        </p:txBody>
      </p:sp>
      <p:sp>
        <p:nvSpPr>
          <p:cNvPr id="171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2" name="cell"/>
          <p:cNvSpPr txBox="1"/>
          <p:nvPr/>
        </p:nvSpPr>
        <p:spPr>
          <a:xfrm>
            <a:off x="698640" y="3185980"/>
            <a:ext cx="70584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</a:p>
        </p:txBody>
      </p:sp>
      <p:sp>
        <p:nvSpPr>
          <p:cNvPr id="173" name="cell"/>
          <p:cNvSpPr txBox="1"/>
          <p:nvPr/>
        </p:nvSpPr>
        <p:spPr>
          <a:xfrm>
            <a:off x="1704480" y="3185980"/>
            <a:ext cx="17116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(0, 1, 1)</a:t>
            </a:r>
          </a:p>
        </p:txBody>
      </p:sp>
      <p:sp>
        <p:nvSpPr>
          <p:cNvPr id="174" name="cell"/>
          <p:cNvSpPr txBox="1"/>
          <p:nvPr/>
        </p:nvSpPr>
        <p:spPr>
          <a:xfrm>
            <a:off x="3716160" y="318598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</a:t>
            </a:r>
          </a:p>
        </p:txBody>
      </p:sp>
      <p:sp>
        <p:nvSpPr>
          <p:cNvPr id="175" name="cell"/>
          <p:cNvSpPr txBox="1"/>
          <p:nvPr/>
        </p:nvSpPr>
        <p:spPr>
          <a:xfrm>
            <a:off x="4923168" y="3185980"/>
            <a:ext cx="13093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</a:p>
        </p:txBody>
      </p:sp>
      <p:sp>
        <p:nvSpPr>
          <p:cNvPr id="176" name="cell"/>
          <p:cNvSpPr txBox="1"/>
          <p:nvPr/>
        </p:nvSpPr>
        <p:spPr>
          <a:xfrm>
            <a:off x="6532512" y="318598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</a:p>
        </p:txBody>
      </p:sp>
      <p:sp>
        <p:nvSpPr>
          <p:cNvPr id="177" name="cell"/>
          <p:cNvSpPr txBox="1"/>
          <p:nvPr/>
        </p:nvSpPr>
        <p:spPr>
          <a:xfrm>
            <a:off x="7739520" y="3185980"/>
            <a:ext cx="37233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η ≥ 9</a:t>
            </a:r>
          </a:p>
        </p:txBody>
      </p:sp>
      <p:sp>
        <p:nvSpPr>
          <p:cNvPr id="178" name="row"/>
          <p:cNvSpPr/>
          <p:nvPr/>
        </p:nvSpPr>
        <p:spPr>
          <a:xfrm>
            <a:off x="548640" y="365744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9" name="cell"/>
          <p:cNvSpPr txBox="1"/>
          <p:nvPr/>
        </p:nvSpPr>
        <p:spPr>
          <a:xfrm>
            <a:off x="698640" y="3657440"/>
            <a:ext cx="70584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</a:t>
            </a:r>
          </a:p>
        </p:txBody>
      </p:sp>
      <p:sp>
        <p:nvSpPr>
          <p:cNvPr id="180" name="cell"/>
          <p:cNvSpPr txBox="1"/>
          <p:nvPr/>
        </p:nvSpPr>
        <p:spPr>
          <a:xfrm>
            <a:off x="1704480" y="3657440"/>
            <a:ext cx="171168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(0, 1, 1)</a:t>
            </a:r>
          </a:p>
        </p:txBody>
      </p:sp>
      <p:sp>
        <p:nvSpPr>
          <p:cNvPr id="181" name="cell"/>
          <p:cNvSpPr txBox="1"/>
          <p:nvPr/>
        </p:nvSpPr>
        <p:spPr>
          <a:xfrm>
            <a:off x="3716160" y="365744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</a:p>
        </p:txBody>
      </p:sp>
      <p:sp>
        <p:nvSpPr>
          <p:cNvPr id="182" name="cell"/>
          <p:cNvSpPr txBox="1"/>
          <p:nvPr/>
        </p:nvSpPr>
        <p:spPr>
          <a:xfrm>
            <a:off x="4923168" y="3657440"/>
            <a:ext cx="130934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</a:t>
            </a:r>
          </a:p>
        </p:txBody>
      </p:sp>
      <p:sp>
        <p:nvSpPr>
          <p:cNvPr id="183" name="cell"/>
          <p:cNvSpPr txBox="1"/>
          <p:nvPr/>
        </p:nvSpPr>
        <p:spPr>
          <a:xfrm>
            <a:off x="6532512" y="3657440"/>
            <a:ext cx="907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</a:p>
        </p:txBody>
      </p:sp>
      <p:sp>
        <p:nvSpPr>
          <p:cNvPr id="184" name="cell"/>
          <p:cNvSpPr txBox="1"/>
          <p:nvPr/>
        </p:nvSpPr>
        <p:spPr>
          <a:xfrm>
            <a:off x="7739520" y="3657440"/>
            <a:ext cx="37233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종료 (하한 = 상한)</a:t>
            </a:r>
          </a:p>
        </p:txBody>
      </p:sp>
      <p:sp>
        <p:nvSpPr>
          <p:cNvPr id="185" name="note"/>
          <p:cNvSpPr txBox="1"/>
          <p:nvPr/>
        </p:nvSpPr>
        <p:spPr>
          <a:xfrm>
            <a:off x="548640" y="416890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1회: 시설을 하나도 열지 않으면 수요를 충족할 수 없습니다. 쌍대 광선으로 만든 절단은 "열린 용량의 합이 총수요 9 이상이어야 한다"입니다. 마지막에 하한과 상한이 25로 만나 종료하고, 최적해는 y = (0, 1, 1), 비용 25입니다.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시설 입지 예 (3): 결과 읽기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8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계산한 예</a:t>
            </a:r>
          </a:p>
        </p:txBody>
      </p:sp>
      <p:sp>
        <p:nvSpPr>
          <p:cNvPr id="187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8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표를 한 줄씩</a:t>
            </a:r>
          </a:p>
        </p:txBody>
      </p:sp>
      <p:sp>
        <p:nvSpPr>
          <p:cNvPr id="189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ȳ = (0,0,0) → 수요를 못 채우므로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feasibility cut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"용량 합 ≥ 9".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ȳ = (0,0,1) → 부문제 값 25, 상한 = 9 + 25 = 34. optimality cut으로 η 의 하한을 마스터에 알려 줌.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ȳ = (1,1,0) → 부문제 14, 상한 = 13 + 14 = 27. 상한이 34 → 27 로 내려감.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ȳ = (0,1,1) → 부문제 9, 상한 25.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마스터가 같은 ȳ 를 다시 내고 하한이 25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 = 상한 = 25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</p:txBody>
      </p:sp>
      <p:sp>
        <p:nvSpPr>
          <p:cNvPr id="190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1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검증</a:t>
            </a:r>
          </a:p>
        </p:txBody>
      </p:sp>
      <p:sp>
        <p:nvSpPr>
          <p:cNvPr id="192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5개의 y 조합(비실현 제외)을 전부 풀어 본 결과: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31, 34, 25, 32, 27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중 최솟값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25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 Benders의 결과와 일치합니다.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 덕분에 8가지를 다 풀지 않고도(여기서는 서로 다른 ȳ 4개만 부문제로 확인) 최적을 확인했습니다.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문제에서는 y 의 조합이 천문학적이라 이 차이가 커집니다.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Benders의 약점과 개선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9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서론·3~9장 분류</a:t>
            </a:r>
          </a:p>
        </p:txBody>
      </p:sp>
      <p:sp>
        <p:nvSpPr>
          <p:cNvPr id="194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5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리뷰가 정리한 약점 5가지</a:t>
            </a:r>
          </a:p>
        </p:txBody>
      </p:sp>
      <p:sp>
        <p:nvSpPr>
          <p:cNvPr id="196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반복 하나가 오래 걸린다.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절단의 질이 나쁘다.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초기 반복이 비효율적이다.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④ 마스터 해가 지그재그로 움직이고 끝 부분에서 느리게 수렴한다 (tailing-off).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⑤ 동등한 해가 있어서 상한이 여러 반복 동안 변하지 않는다.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리뷰는 단순한 Benders가 과도한 계산 시간과 메모리를 쓸 수 있다고 합니다.</a:t>
            </a:r>
          </a:p>
        </p:txBody>
      </p:sp>
      <p:sp>
        <p:nvSpPr>
          <p:cNvPr id="197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8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개선 연구의 4차원 분류</a:t>
            </a:r>
          </a:p>
        </p:txBody>
      </p:sp>
      <p:sp>
        <p:nvSpPr>
          <p:cNvPr id="199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분해 전략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문제를 어떻게 마스터와 부문제로 나누나 (고전은 연결 제약과 비복잡 변수를 모두 투영, 수정은 일부만)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풀이 절차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마스터·부문제를 어떻게 푸나 (표준 대 고급: 구조 이용, 최적까지 안 풀기)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 생성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복잡한 변수의 시험값을 어떻게 정하나 (일반 마스터, 휴리스틱, 대체 마스터, 개선된 마스터)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 생성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절단을 어떻게 만드나 (고전은 부문제 풀이, 개선은 재정식화·보조 부문제)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정식화의 강도, 다른 분해와의 관계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0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2017), 2.2절</a:t>
            </a:r>
          </a:p>
        </p:txBody>
      </p:sp>
      <p:sp>
        <p:nvSpPr>
          <p:cNvPr id="201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2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정식화가 중요하다 (2.2절)</a:t>
            </a:r>
          </a:p>
        </p:txBody>
      </p:sp>
      <p:sp>
        <p:nvSpPr>
          <p:cNvPr id="203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문제의 동등한 정식화라도 Benders의 성능이 다릅니다.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Magnanti–Wong은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완화가 강한 정식화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더 좋다고 보였습니다 (루트 노드가 조여지고 분수 변수가 줄며 절단이 더 강해짐).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Cordeau 외는 유효부등식으로 정식화를 강화하자 성능이 크게 좋아졌다고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다만 강화는 보통 제약을 추가하므로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부문제가 어려워지거나 퇴화가 심해질 수 있어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반복 수와 부문제 난이도의 균형이 필요합니다.</a:t>
            </a:r>
          </a:p>
        </p:txBody>
      </p:sp>
      <p:sp>
        <p:nvSpPr>
          <p:cNvPr id="204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5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분해와의 관계, 한계</a:t>
            </a:r>
          </a:p>
        </p:txBody>
      </p:sp>
      <p:sp>
        <p:nvSpPr>
          <p:cNvPr id="206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Benders는 Lagrangian 이중 문제에 적용한 절단 평면법과 같습니다.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정수계획에서 Lagrangian 완화나 DW는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완화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 해로 수렴해서 분지한계법에 끼워야 하지만, Benders는 MILP의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최적해로 직접 수렴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하므로 그럴 필요가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반면 고전 Benders는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부문제의 정수 조건을 다루지 못합니다.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이를 넘는 확장이 리뷰 9장에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Costa 외에 따르면 cutset 부등식은 본질적으로 Benders의 feasibility cut입니다.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 직관: 패턴이 너무 많다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0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비유는 제가 만든 것. 개념은 Lübbecke, Desrosiers, Selected Topics in Column Generation (Operations Research 2005), 2~3장</a:t>
            </a:r>
          </a:p>
        </p:txBody>
      </p:sp>
      <p:sp>
        <p:nvSpPr>
          <p:cNvPr id="208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9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비유 (제가 만든 예)</a:t>
            </a:r>
          </a:p>
        </p:txBody>
      </p:sp>
      <p:sp>
        <p:nvSpPr>
          <p:cNvPr id="210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폭 10의 종이 롤을 잘라서 폭 3, 4, 5의 주문을 채우는 문제를 생각합니다.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롤을 자르는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매우 많습니다: 폭 3 세 개, 폭 4 두 개, 폭 5 두 개, 폭 3 둘 + 폭 4 하나 등.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"각 패턴을 몇 번 쓸지"가 변수입니다. 변수(열)가 폭발적으로 많습니다.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그런데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최적해에서 실제로 쓰이는 패턴은 몇 개뿐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그러면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처음부터 다 만들지 말고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쓸 만한 패턴만 필요할 때 만들어 넣으면 되지 않을까? → 열 생성</a:t>
            </a:r>
          </a:p>
        </p:txBody>
      </p:sp>
      <p:sp>
        <p:nvSpPr>
          <p:cNvPr id="211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2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아이디어</a:t>
            </a:r>
          </a:p>
        </p:txBody>
      </p:sp>
      <p:sp>
        <p:nvSpPr>
          <p:cNvPr id="213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제한된 마스터(RMP)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지금 가진 일부 열만으로 LP를 풉니다.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RMP의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쌍대값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은 "각 주문의 가치"를 알려 줍니다.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문제(pricing)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그 가치로 평가했을 때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이득이 되는 새 패턴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찾는 최적화 (절삭 문제에서는 배낭 문제).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이득이 되는 패턴이 없으면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끝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가진 열만으로 이미 전체의 최적입니다.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 (1): 마스터와 가격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1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2~3장</a:t>
            </a:r>
          </a:p>
        </p:txBody>
      </p:sp>
      <p:sp>
        <p:nvSpPr>
          <p:cNvPr id="215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6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 읽기</a:t>
            </a:r>
          </a:p>
        </p:txBody>
      </p:sp>
      <p:sp>
        <p:nvSpPr>
          <p:cNvPr id="217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문제(MP)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z* = min Σ_{j∈J} c_j λ_j  s.t.  Σ_{j∈J} a_j λ_j ≥ b,  λ_j ≥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a_j 의 비용이 c_j. J 가 너무 커서 부분집합 J′ 만 둔 것이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심플렉스에서 진입할 변수를 찾는 것이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책정(pricing)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argmin { c̄_j = c_j − uᵀa_j | j ∈ J 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(u ≥ 0 은 쌍대 변수)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c̄_j 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축소비용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음수이면 그 열을 넣으면 목적이 좋아집니다.</a:t>
            </a:r>
          </a:p>
        </p:txBody>
      </p:sp>
      <p:sp>
        <p:nvSpPr>
          <p:cNvPr id="218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9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암묵적인 열</a:t>
            </a:r>
          </a:p>
        </p:txBody>
      </p:sp>
      <p:sp>
        <p:nvSpPr>
          <p:cNvPr id="220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열이 조합 구조(경로, 집합, 순열)로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암묵적으로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주어지면, 열을 일일이 나열하지 않고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최적화로 찾습니다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c̄* = min { c(a) − ūᵀa : a ∈ A 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(이 부문제를 열 생성 문제, column generator라고도 함)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c̄* ≥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음의 축소비용 열이 없다는 뜻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RMP의 해가 MP의 최적해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c̄* &lt;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그 열을 RMP에 추가하고 다시 풉니다.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 (2): 수렴 중에 얻는 하한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2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식 (5)</a:t>
            </a:r>
          </a:p>
        </p:txBody>
      </p:sp>
      <p:sp>
        <p:nvSpPr>
          <p:cNvPr id="222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3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 (5)</a:t>
            </a:r>
          </a:p>
        </p:txBody>
      </p:sp>
      <p:sp>
        <p:nvSpPr>
          <p:cNvPr id="224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RMP의 최적값을 z̄ (= ūᵀb) 라 하면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z̄ 는 항상 z* 의 상한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 (열을 일부만 썼으니 완전한 최적보다 나쁘거나 같음).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Σ λ_j ≤ κ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라는 상한이 있다면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얻습니다: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z̄ + c̄*·κ ≤ z* ≤ z̄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(식 5)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목적함수가 변수의 합(c ≡ 1)이면 κ 대신 z* 를 써서 더 좋은 하한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z̄ / (1 − c̄*) ≤ z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* 를 얻습니다.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최적에서는 c̄* = 0 이라 두 값이 만납니다.</a:t>
            </a:r>
          </a:p>
        </p:txBody>
      </p:sp>
      <p:sp>
        <p:nvSpPr>
          <p:cNvPr id="225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6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하한이 필요한가</a:t>
            </a:r>
          </a:p>
        </p:txBody>
      </p:sp>
      <p:sp>
        <p:nvSpPr>
          <p:cNvPr id="227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tailing-off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(끝에서 진전이 거의 없음)가 심합니다.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하한을 알면 "이 정도면 충분히 가까워졌다"고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일찍 멈출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상한 z̄ 와 하한이 가까우면 정확한 최적을 증명하지 않아도 품질을 보장할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마지막으로 c̄* = 0 이 되면 하한 = 상한 = z* 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 예 (1): 1차원 절삭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2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3장. 숫자 설정은 제가 만든 것</a:t>
            </a:r>
          </a:p>
        </p:txBody>
      </p:sp>
      <p:sp>
        <p:nvSpPr>
          <p:cNvPr id="229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0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Gilmore–Gomory (1961), 고전 예제</a:t>
            </a:r>
          </a:p>
        </p:txBody>
      </p:sp>
      <p:sp>
        <p:nvSpPr>
          <p:cNvPr id="231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폭 W 의 종이 롤과 폭 w_i 의 주문 b_i (i = 1…m).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롤 수를 최소로.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{ 1ᵀλ : Aλ ≥ b, λ ∈ ℤ₊^{|J|} },   Σ_i a_ij w_i ≤ W  ∀ j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j = 가능한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 패턴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a_ij = 패턴 j 에서 주문 i 를 몇 개 얻는지.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선형 완화를 열 생성으로 풀며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문제는 배낭 문제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서베이는 이 문제가 열 생성의 고전 예제라고 소개하지만 구체적인 수치는 주지 않습니다.</a:t>
            </a:r>
          </a:p>
        </p:txBody>
      </p:sp>
      <p:sp>
        <p:nvSpPr>
          <p:cNvPr id="232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3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직접 돌려 본 설정</a:t>
            </a:r>
          </a:p>
        </p:txBody>
      </p:sp>
      <p:sp>
        <p:nvSpPr>
          <p:cNvPr id="234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 = 10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주문 폭 (3, 4, 5), 수요 (9, 7, 5)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열: 한 가지 폭만 채우는 패턴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(3,0,0), (0,2,0), (0,0,2)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초기 z̄ = 9/3 + 7/2 + 5/2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9.00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쌍대값 u = (1/3, 1/2, 1/2) = (0.333, 0.5, 0.5)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이제 가격 문제를 풉니다: 3a₁ + 4a₂ + 5a₃ ≤ 10 일 때 u·a 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하는 패턴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 예 (2): 반복 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3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제가 계산한 예 (논문의 예시 아님). 하한 = z̄ / (1 − c̄*)</a:t>
            </a:r>
          </a:p>
        </p:txBody>
      </p:sp>
      <p:sp>
        <p:nvSpPr>
          <p:cNvPr id="236" name="th"/>
          <p:cNvSpPr txBox="1"/>
          <p:nvPr/>
        </p:nvSpPr>
        <p:spPr>
          <a:xfrm>
            <a:off x="698640" y="1371600"/>
            <a:ext cx="637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반복</a:t>
            </a:r>
          </a:p>
        </p:txBody>
      </p:sp>
      <p:sp>
        <p:nvSpPr>
          <p:cNvPr id="237" name="th"/>
          <p:cNvSpPr txBox="1"/>
          <p:nvPr/>
        </p:nvSpPr>
        <p:spPr>
          <a:xfrm>
            <a:off x="1636287" y="1371600"/>
            <a:ext cx="82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z̄</a:t>
            </a:r>
          </a:p>
        </p:txBody>
      </p:sp>
      <p:sp>
        <p:nvSpPr>
          <p:cNvPr id="238" name="th"/>
          <p:cNvSpPr txBox="1"/>
          <p:nvPr/>
        </p:nvSpPr>
        <p:spPr>
          <a:xfrm>
            <a:off x="2761463" y="1371600"/>
            <a:ext cx="2137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쌍대값 u</a:t>
            </a:r>
          </a:p>
        </p:txBody>
      </p:sp>
      <p:sp>
        <p:nvSpPr>
          <p:cNvPr id="239" name="th"/>
          <p:cNvSpPr txBox="1"/>
          <p:nvPr/>
        </p:nvSpPr>
        <p:spPr>
          <a:xfrm>
            <a:off x="5199346" y="1371600"/>
            <a:ext cx="21378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 최적 패턴</a:t>
            </a:r>
          </a:p>
        </p:txBody>
      </p:sp>
      <p:sp>
        <p:nvSpPr>
          <p:cNvPr id="240" name="th"/>
          <p:cNvSpPr txBox="1"/>
          <p:nvPr/>
        </p:nvSpPr>
        <p:spPr>
          <a:xfrm>
            <a:off x="7637229" y="1371600"/>
            <a:ext cx="1200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패턴 가치</a:t>
            </a:r>
          </a:p>
        </p:txBody>
      </p:sp>
      <p:sp>
        <p:nvSpPr>
          <p:cNvPr id="241" name="th"/>
          <p:cNvSpPr txBox="1"/>
          <p:nvPr/>
        </p:nvSpPr>
        <p:spPr>
          <a:xfrm>
            <a:off x="9137464" y="1371600"/>
            <a:ext cx="12002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축소비용</a:t>
            </a:r>
          </a:p>
        </p:txBody>
      </p:sp>
      <p:sp>
        <p:nvSpPr>
          <p:cNvPr id="242" name="th"/>
          <p:cNvSpPr txBox="1"/>
          <p:nvPr/>
        </p:nvSpPr>
        <p:spPr>
          <a:xfrm>
            <a:off x="10637699" y="1371600"/>
            <a:ext cx="825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</a:t>
            </a:r>
          </a:p>
        </p:txBody>
      </p:sp>
      <p:sp>
        <p:nvSpPr>
          <p:cNvPr id="243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4" name="cell"/>
          <p:cNvSpPr txBox="1"/>
          <p:nvPr/>
        </p:nvSpPr>
        <p:spPr>
          <a:xfrm>
            <a:off x="698640" y="1771600"/>
            <a:ext cx="63764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</a:p>
        </p:txBody>
      </p:sp>
      <p:sp>
        <p:nvSpPr>
          <p:cNvPr id="245" name="cell"/>
          <p:cNvSpPr txBox="1"/>
          <p:nvPr/>
        </p:nvSpPr>
        <p:spPr>
          <a:xfrm>
            <a:off x="1636287" y="1771600"/>
            <a:ext cx="82517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9.00</a:t>
            </a:r>
          </a:p>
        </p:txBody>
      </p:sp>
      <p:sp>
        <p:nvSpPr>
          <p:cNvPr id="246" name="cell"/>
          <p:cNvSpPr txBox="1"/>
          <p:nvPr/>
        </p:nvSpPr>
        <p:spPr>
          <a:xfrm>
            <a:off x="2761463" y="1771600"/>
            <a:ext cx="213788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(0.333, 0.5, 0.5)</a:t>
            </a:r>
          </a:p>
        </p:txBody>
      </p:sp>
      <p:sp>
        <p:nvSpPr>
          <p:cNvPr id="247" name="cell"/>
          <p:cNvSpPr txBox="1"/>
          <p:nvPr/>
        </p:nvSpPr>
        <p:spPr>
          <a:xfrm>
            <a:off x="5199346" y="1771600"/>
            <a:ext cx="213788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(2, 1, 0)</a:t>
            </a:r>
          </a:p>
        </p:txBody>
      </p:sp>
      <p:sp>
        <p:nvSpPr>
          <p:cNvPr id="248" name="cell"/>
          <p:cNvSpPr txBox="1"/>
          <p:nvPr/>
        </p:nvSpPr>
        <p:spPr>
          <a:xfrm>
            <a:off x="7637229" y="1771600"/>
            <a:ext cx="120023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1.167</a:t>
            </a:r>
          </a:p>
        </p:txBody>
      </p:sp>
      <p:sp>
        <p:nvSpPr>
          <p:cNvPr id="249" name="cell"/>
          <p:cNvSpPr txBox="1"/>
          <p:nvPr/>
        </p:nvSpPr>
        <p:spPr>
          <a:xfrm>
            <a:off x="9137464" y="1771600"/>
            <a:ext cx="120023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−0.167</a:t>
            </a:r>
          </a:p>
        </p:txBody>
      </p:sp>
      <p:sp>
        <p:nvSpPr>
          <p:cNvPr id="250" name="cell"/>
          <p:cNvSpPr txBox="1"/>
          <p:nvPr/>
        </p:nvSpPr>
        <p:spPr>
          <a:xfrm>
            <a:off x="10637699" y="1771600"/>
            <a:ext cx="82517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7.71</a:t>
            </a:r>
          </a:p>
        </p:txBody>
      </p:sp>
      <p:sp>
        <p:nvSpPr>
          <p:cNvPr id="251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2" name="cell"/>
          <p:cNvSpPr txBox="1"/>
          <p:nvPr/>
        </p:nvSpPr>
        <p:spPr>
          <a:xfrm>
            <a:off x="698640" y="2243060"/>
            <a:ext cx="63764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</a:p>
        </p:txBody>
      </p:sp>
      <p:sp>
        <p:nvSpPr>
          <p:cNvPr id="253" name="cell"/>
          <p:cNvSpPr txBox="1"/>
          <p:nvPr/>
        </p:nvSpPr>
        <p:spPr>
          <a:xfrm>
            <a:off x="1636287" y="2243060"/>
            <a:ext cx="82517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8.25</a:t>
            </a:r>
          </a:p>
        </p:txBody>
      </p:sp>
      <p:sp>
        <p:nvSpPr>
          <p:cNvPr id="254" name="cell"/>
          <p:cNvSpPr txBox="1"/>
          <p:nvPr/>
        </p:nvSpPr>
        <p:spPr>
          <a:xfrm>
            <a:off x="2761463" y="2243060"/>
            <a:ext cx="213788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(0.25, 0.5, 0.5)</a:t>
            </a:r>
          </a:p>
        </p:txBody>
      </p:sp>
      <p:sp>
        <p:nvSpPr>
          <p:cNvPr id="255" name="cell"/>
          <p:cNvSpPr txBox="1"/>
          <p:nvPr/>
        </p:nvSpPr>
        <p:spPr>
          <a:xfrm>
            <a:off x="5199346" y="2243060"/>
            <a:ext cx="2137883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(0, 0, 2)</a:t>
            </a:r>
          </a:p>
        </p:txBody>
      </p:sp>
      <p:sp>
        <p:nvSpPr>
          <p:cNvPr id="256" name="cell"/>
          <p:cNvSpPr txBox="1"/>
          <p:nvPr/>
        </p:nvSpPr>
        <p:spPr>
          <a:xfrm>
            <a:off x="7637229" y="2243060"/>
            <a:ext cx="120023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1.000</a:t>
            </a:r>
          </a:p>
        </p:txBody>
      </p:sp>
      <p:sp>
        <p:nvSpPr>
          <p:cNvPr id="257" name="cell"/>
          <p:cNvSpPr txBox="1"/>
          <p:nvPr/>
        </p:nvSpPr>
        <p:spPr>
          <a:xfrm>
            <a:off x="9137464" y="2243060"/>
            <a:ext cx="120023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</a:t>
            </a:r>
          </a:p>
        </p:txBody>
      </p:sp>
      <p:sp>
        <p:nvSpPr>
          <p:cNvPr id="258" name="cell"/>
          <p:cNvSpPr txBox="1"/>
          <p:nvPr/>
        </p:nvSpPr>
        <p:spPr>
          <a:xfrm>
            <a:off x="10637699" y="2243060"/>
            <a:ext cx="825176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8.25</a:t>
            </a:r>
          </a:p>
        </p:txBody>
      </p:sp>
      <p:sp>
        <p:nvSpPr>
          <p:cNvPr id="259" name="note"/>
          <p:cNvSpPr txBox="1"/>
          <p:nvPr/>
        </p:nvSpPr>
        <p:spPr>
          <a:xfrm>
            <a:off x="548640" y="275452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1회: 가격 문제가 패턴 (2,1,0) (폭 3을 둘, 폭 4를 하나, 합계 10)을 찾고, 가치 2·0.333 + 0.5 = 1.167 &gt; 1 이라 축소비용이 음수입니다. 이 패턴을 추가합니다. 2회: 최적 가치가 1이라 축소비용 0, 열 생성이 끝납니다. LP 완화값 8.25 에서 하한과 상한이 만났습니다.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 예 (3): 정수해로 가기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3장. 열거 확인은 제가 한 것</a:t>
            </a:r>
          </a:p>
        </p:txBody>
      </p:sp>
      <p:sp>
        <p:nvSpPr>
          <p:cNvPr id="261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2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올림하면 되나?</a:t>
            </a:r>
          </a:p>
        </p:txBody>
      </p:sp>
      <p:sp>
        <p:nvSpPr>
          <p:cNvPr id="263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완화값 8.25. 롤은 정수여야 하므로 올림하면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 이상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패턴을 열거해서 정수 문제로 직접 풀어 보면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최적값 9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쓰는 패턴: (2,1,0) 5개, (0,2,0) 1개, (0,0,2) 3개 → 합계 9롤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검산: 폭 3 조각 5×2 = 10 ≥ 9, 폭 4 조각 5 + 2 = 7 ≥ 7, 폭 5 조각 3×2 = 6 ≥ 5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예에서는 LP 값을 올림한 것이 정수 최적값과 같았지만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항상 그런 것은 아닙니다.</a:t>
            </a:r>
          </a:p>
        </p:txBody>
      </p:sp>
      <p:sp>
        <p:nvSpPr>
          <p:cNvPr id="264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5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정수해를 찾으려면</a:t>
            </a:r>
          </a:p>
        </p:txBody>
      </p:sp>
      <p:sp>
        <p:nvSpPr>
          <p:cNvPr id="266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생성으로 얻은 마스터에는 분지에 쓸 변수가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서베이는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압축(원래의) 정식화를 반드시 찾아보라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고 강하게 권합니다.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절삭 문제의 압축 정식화(Kantorovich):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Σ_k y_k  s.t.  Σ_k x_ki ≥ b_i,  Σ_i w_i x_ki ≤ W y_k,  y_k ∈ {0,1}, x_ki ∈ ℤ₊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y_k: 롤 k를 쓰는지, x_ki: 롤 k에서 주문 i를 몇 개 자르는지.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 정식화(패턴)를 쓰는 이유는 LP 완화가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더 강할 수 있기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때문입니다.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Dantzig–Wolfe와 Lagrangian 이중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식 (20~22)</a:t>
            </a:r>
          </a:p>
        </p:txBody>
      </p:sp>
      <p:sp>
        <p:nvSpPr>
          <p:cNvPr id="268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9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뿌리</a:t>
            </a:r>
          </a:p>
        </p:txBody>
      </p:sp>
      <p:sp>
        <p:nvSpPr>
          <p:cNvPr id="270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min{cᵀx | Ax ≥ b, Dx ≥ d, x ≥ 0} 에서 P = {x ≥ 0 | Dx ≥ d} 의 점은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극점의 볼록 결합 + 극방향의 비음 결합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으로 쓸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대입하면 변수가 많지만 행은 적은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 정식화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됩니다 (열 = P 의 극점·극방향).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문제는 다시 LP입니다.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정수계획에서는 X 를 conv(X) 로 바꿔 같은 분해를 적용하면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Lagrangian 이중 문제의 값 L 과 같은 값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 LP를 얻습니다.</a:t>
            </a:r>
          </a:p>
        </p:txBody>
      </p:sp>
      <p:sp>
        <p:nvSpPr>
          <p:cNvPr id="271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2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"convexification"이라는 이름의 이유</a:t>
            </a:r>
          </a:p>
        </p:txBody>
      </p:sp>
      <p:sp>
        <p:nvSpPr>
          <p:cNvPr id="273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조건을 볼록 포(conv)로 바꿔서 LP로 만드는 것이라는 뜻입니다.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서베이는 부분기울기법(subgradient)이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국소 정보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쓰는 데 비해, RMP를 푸는 것은 모은 정보를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 쓰는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더 정교한 갱신 전략이라고 설명합니다.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Dantzig–Wolfe(열 생성)와 Lagrangian 이중이 얻는 값은 같은 L이고, 푸는 방식이 다릅니다.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열 생성의 어려움과 안정화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7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4장</a:t>
            </a:r>
          </a:p>
        </p:txBody>
      </p:sp>
      <p:sp>
        <p:nvSpPr>
          <p:cNvPr id="275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6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Tailing-off와 쌍대 진동</a:t>
            </a:r>
          </a:p>
        </p:txBody>
      </p:sp>
      <p:sp>
        <p:nvSpPr>
          <p:cNvPr id="277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Tailing-off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심플렉스 기반 열 생성은 최적에 가까운 해에는 빨리 가지만 끝에서 반복당 진전이 거의 없는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긴 꼬리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생깁니다 (Gilmore–Gomory, 1963). 퇴화한 최적해의 최적성 증명에 시간이 걸리기도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변수의 진동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쌍대값이 부드럽게 수렴하지 않고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심하게 진동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합니다. 서베이는 이것을 주요한 비효율의 원인으로 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그러면 가격 문제가 매번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엉뚱한 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찾습니다. 쌍대값이 흔들리니까요.</a:t>
            </a:r>
          </a:p>
        </p:txBody>
      </p:sp>
      <p:sp>
        <p:nvSpPr>
          <p:cNvPr id="278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9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안정화 기법</a:t>
            </a:r>
          </a:p>
        </p:txBody>
      </p:sp>
      <p:sp>
        <p:nvSpPr>
          <p:cNvPr id="280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Boxstep (Marsten)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쌍대 변수를 ū 주변 상자 안으로 제한하고 RMP를 다시 풉니다. 최적이 상자 경계에 있으면 상자를 옮깁니다.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가중 Dantzig–Wolfe (Wentges)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가격 책정에 최적 쌍대값 대신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볼록 결합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씁니다. ū^{k+1} := (1/ω_k)ū^k + ((ω_k − 1)/ω_k)ū^{best,k}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좋은 Lagrangian 하한을 낸 쌍대값 쪽으로 치우쳐 좋은 승수를 안정화합니다. 용량 있는 시설 입지에서 Lagrangian 하한은 더 좋아졌지만 RMP의 원 목적값은 더 천천히 줄었다고 보고됩니다.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신뢰 영역(trust region)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방법 등.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정수해를 얻는 법: branch-and-price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8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Lübbecke, Desrosiers, Selected Topics in Column Generation (Operations Research 2005), 5장</a:t>
            </a:r>
          </a:p>
        </p:txBody>
      </p:sp>
      <p:sp>
        <p:nvSpPr>
          <p:cNvPr id="282" name="card"/>
          <p:cNvSpPr/>
          <p:nvPr/>
        </p:nvSpPr>
        <p:spPr>
          <a:xfrm>
            <a:off x="548640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3" name="head"/>
          <p:cNvSpPr txBox="1"/>
          <p:nvPr/>
        </p:nvSpPr>
        <p:spPr>
          <a:xfrm>
            <a:off x="777240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분지와 열 생성의 결합</a:t>
            </a:r>
          </a:p>
        </p:txBody>
      </p:sp>
      <p:sp>
        <p:nvSpPr>
          <p:cNvPr id="284" name="body"/>
          <p:cNvSpPr txBox="1"/>
          <p:nvPr/>
        </p:nvSpPr>
        <p:spPr>
          <a:xfrm>
            <a:off x="777240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마스터를 정수로 풀어야 하는데 RMP의 선형 완화가 정수 비실현일 수 있고(Barnhart 외), 분지 없이는 최적의 정수해를 놓칠 수 있습니다(Villeneuve 외).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분지한계 트리의 모든 노드에서 열을 생성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합니다 (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branch-and-price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분지는 이미 분지한 열이 다시 생성되지 않도록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문제와 양립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해야 합니다. 그렇지 않으면 가격 문제가 최적해가 아니라 k번째로 좋은 해를 찾아야 해서 복잡해집니다.</a:t>
            </a:r>
          </a:p>
        </p:txBody>
      </p:sp>
      <p:sp>
        <p:nvSpPr>
          <p:cNvPr id="285" name="card"/>
          <p:cNvSpPr/>
          <p:nvPr/>
        </p:nvSpPr>
        <p:spPr>
          <a:xfrm>
            <a:off x="5653278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6" name="head"/>
          <p:cNvSpPr txBox="1"/>
          <p:nvPr/>
        </p:nvSpPr>
        <p:spPr>
          <a:xfrm>
            <a:off x="5881878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방법</a:t>
            </a:r>
          </a:p>
        </p:txBody>
      </p:sp>
      <p:sp>
        <p:nvSpPr>
          <p:cNvPr id="287" name="body"/>
          <p:cNvSpPr txBox="1"/>
          <p:nvPr/>
        </p:nvSpPr>
        <p:spPr>
          <a:xfrm>
            <a:off x="5881878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집합 분할 문제에서 가장 흔한 것은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Ryan–Foster 분지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분수 기저해 λ 에서 0 &lt; Σ_j a_rj a_sj λ_j &lt; 1 인 두 행 r, s 가 반드시 있습니다 (서베이의 Proposition 3).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가지는 "두 행을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열이 덮는다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"(= 1), 다른 가지는 "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서로 다른 열이 덮는다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"(= 0).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서베이의 가장 일반적인 권고: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압축 정식화의 원래 변수에 대해 분지하고 절단하라.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정수성이 요구되는 것은 원래 변수이기 때문입니다.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분지 결정을 마스터보다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가격 문제에 적용하는 것이 열 생성을 직접 통제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하므로 더 낫다고 합니다.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두 방법 비교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8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 / Lübbecke, Desrosiers, Selected Topics in Column Generation (Operations Research 2005). "어울리는 구조" 행은 서베이의 설명을 바탕으로 제가 정리</a:t>
            </a:r>
          </a:p>
        </p:txBody>
      </p:sp>
      <p:sp>
        <p:nvSpPr>
          <p:cNvPr id="289" name="th"/>
          <p:cNvSpPr txBox="1"/>
          <p:nvPr/>
        </p:nvSpPr>
        <p:spPr>
          <a:xfrm>
            <a:off x="698640" y="1371600"/>
            <a:ext cx="215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</a:p>
        </p:txBody>
      </p:sp>
      <p:sp>
        <p:nvSpPr>
          <p:cNvPr id="290" name="th"/>
          <p:cNvSpPr txBox="1"/>
          <p:nvPr/>
        </p:nvSpPr>
        <p:spPr>
          <a:xfrm>
            <a:off x="3157360" y="1371600"/>
            <a:ext cx="400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</a:t>
            </a:r>
          </a:p>
        </p:txBody>
      </p:sp>
      <p:sp>
        <p:nvSpPr>
          <p:cNvPr id="291" name="th"/>
          <p:cNvSpPr txBox="1"/>
          <p:nvPr/>
        </p:nvSpPr>
        <p:spPr>
          <a:xfrm>
            <a:off x="7460120" y="1371600"/>
            <a:ext cx="4002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 / Dantzig–Wolfe</a:t>
            </a:r>
          </a:p>
        </p:txBody>
      </p:sp>
      <p:sp>
        <p:nvSpPr>
          <p:cNvPr id="292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3" name="cell"/>
          <p:cNvSpPr txBox="1"/>
          <p:nvPr/>
        </p:nvSpPr>
        <p:spPr>
          <a:xfrm>
            <a:off x="698640" y="1771600"/>
            <a:ext cx="215872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쪼개는 대상</a:t>
            </a:r>
          </a:p>
        </p:txBody>
      </p:sp>
      <p:sp>
        <p:nvSpPr>
          <p:cNvPr id="294" name="cell"/>
          <p:cNvSpPr txBox="1"/>
          <p:nvPr/>
        </p:nvSpPr>
        <p:spPr>
          <a:xfrm>
            <a:off x="3157360" y="177160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복잡한 변수(정수) / 쉬운 변수(연속)</a:t>
            </a:r>
          </a:p>
        </p:txBody>
      </p:sp>
      <p:sp>
        <p:nvSpPr>
          <p:cNvPr id="295" name="cell"/>
          <p:cNvSpPr txBox="1"/>
          <p:nvPr/>
        </p:nvSpPr>
        <p:spPr>
          <a:xfrm>
            <a:off x="7460120" y="177160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 있는 제약 블록 → 변수(열)</a:t>
            </a:r>
          </a:p>
        </p:txBody>
      </p:sp>
      <p:sp>
        <p:nvSpPr>
          <p:cNvPr id="296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7" name="cell"/>
          <p:cNvSpPr txBox="1"/>
          <p:nvPr/>
        </p:nvSpPr>
        <p:spPr>
          <a:xfrm>
            <a:off x="698640" y="2243060"/>
            <a:ext cx="215872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마스터에 쌓이는 것</a:t>
            </a:r>
          </a:p>
        </p:txBody>
      </p:sp>
      <p:sp>
        <p:nvSpPr>
          <p:cNvPr id="298" name="cell"/>
          <p:cNvSpPr txBox="1"/>
          <p:nvPr/>
        </p:nvSpPr>
        <p:spPr>
          <a:xfrm>
            <a:off x="3157360" y="224306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절단(행)</a:t>
            </a:r>
          </a:p>
        </p:txBody>
      </p:sp>
      <p:sp>
        <p:nvSpPr>
          <p:cNvPr id="299" name="cell"/>
          <p:cNvSpPr txBox="1"/>
          <p:nvPr/>
        </p:nvSpPr>
        <p:spPr>
          <a:xfrm>
            <a:off x="7460120" y="224306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열(변수)</a:t>
            </a:r>
          </a:p>
        </p:txBody>
      </p:sp>
      <p:sp>
        <p:nvSpPr>
          <p:cNvPr id="300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1" name="cell"/>
          <p:cNvSpPr txBox="1"/>
          <p:nvPr/>
        </p:nvSpPr>
        <p:spPr>
          <a:xfrm>
            <a:off x="698640" y="2714520"/>
            <a:ext cx="215872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부문제의 역할</a:t>
            </a:r>
          </a:p>
        </p:txBody>
      </p:sp>
      <p:sp>
        <p:nvSpPr>
          <p:cNvPr id="302" name="cell"/>
          <p:cNvSpPr txBox="1"/>
          <p:nvPr/>
        </p:nvSpPr>
        <p:spPr>
          <a:xfrm>
            <a:off x="3157360" y="271452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해로 절단 생성</a:t>
            </a:r>
          </a:p>
        </p:txBody>
      </p:sp>
      <p:sp>
        <p:nvSpPr>
          <p:cNvPr id="303" name="cell"/>
          <p:cNvSpPr txBox="1"/>
          <p:nvPr/>
        </p:nvSpPr>
        <p:spPr>
          <a:xfrm>
            <a:off x="7460120" y="271452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해로 새 열을 찾는 최적화</a:t>
            </a:r>
          </a:p>
        </p:txBody>
      </p:sp>
      <p:sp>
        <p:nvSpPr>
          <p:cNvPr id="304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5" name="cell"/>
          <p:cNvSpPr txBox="1"/>
          <p:nvPr/>
        </p:nvSpPr>
        <p:spPr>
          <a:xfrm>
            <a:off x="698640" y="3185980"/>
            <a:ext cx="215872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얻는 경계</a:t>
            </a:r>
          </a:p>
        </p:txBody>
      </p:sp>
      <p:sp>
        <p:nvSpPr>
          <p:cNvPr id="306" name="cell"/>
          <p:cNvSpPr txBox="1"/>
          <p:nvPr/>
        </p:nvSpPr>
        <p:spPr>
          <a:xfrm>
            <a:off x="3157360" y="318598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 = 하한, 고정한 해 = 상한</a:t>
            </a:r>
          </a:p>
        </p:txBody>
      </p:sp>
      <p:sp>
        <p:nvSpPr>
          <p:cNvPr id="307" name="cell"/>
          <p:cNvSpPr txBox="1"/>
          <p:nvPr/>
        </p:nvSpPr>
        <p:spPr>
          <a:xfrm>
            <a:off x="7460120" y="318598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RMP = 상한, 가격 문제로 하한</a:t>
            </a:r>
          </a:p>
        </p:txBody>
      </p:sp>
      <p:sp>
        <p:nvSpPr>
          <p:cNvPr id="308" name="row"/>
          <p:cNvSpPr/>
          <p:nvPr/>
        </p:nvSpPr>
        <p:spPr>
          <a:xfrm>
            <a:off x="548640" y="365744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9" name="cell"/>
          <p:cNvSpPr txBox="1"/>
          <p:nvPr/>
        </p:nvSpPr>
        <p:spPr>
          <a:xfrm>
            <a:off x="698640" y="3657440"/>
            <a:ext cx="215872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대표 어려움</a:t>
            </a:r>
          </a:p>
        </p:txBody>
      </p:sp>
      <p:sp>
        <p:nvSpPr>
          <p:cNvPr id="310" name="cell"/>
          <p:cNvSpPr txBox="1"/>
          <p:nvPr/>
        </p:nvSpPr>
        <p:spPr>
          <a:xfrm>
            <a:off x="3157360" y="365744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약한 절단, 퇴화, 지그재그</a:t>
            </a:r>
          </a:p>
        </p:txBody>
      </p:sp>
      <p:sp>
        <p:nvSpPr>
          <p:cNvPr id="311" name="cell"/>
          <p:cNvSpPr txBox="1"/>
          <p:nvPr/>
        </p:nvSpPr>
        <p:spPr>
          <a:xfrm>
            <a:off x="7460120" y="365744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tailing-off, 쌍대 진동</a:t>
            </a:r>
          </a:p>
        </p:txBody>
      </p:sp>
      <p:sp>
        <p:nvSpPr>
          <p:cNvPr id="312" name="row"/>
          <p:cNvSpPr/>
          <p:nvPr/>
        </p:nvSpPr>
        <p:spPr>
          <a:xfrm>
            <a:off x="548640" y="41289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3" name="cell"/>
          <p:cNvSpPr txBox="1"/>
          <p:nvPr/>
        </p:nvSpPr>
        <p:spPr>
          <a:xfrm>
            <a:off x="698640" y="4128900"/>
            <a:ext cx="215872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정수해</a:t>
            </a:r>
          </a:p>
        </p:txBody>
      </p:sp>
      <p:sp>
        <p:nvSpPr>
          <p:cNvPr id="314" name="cell"/>
          <p:cNvSpPr txBox="1"/>
          <p:nvPr/>
        </p:nvSpPr>
        <p:spPr>
          <a:xfrm>
            <a:off x="3157360" y="412890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마스터가 정수 변수를 직접 다룸</a:t>
            </a:r>
          </a:p>
        </p:txBody>
      </p:sp>
      <p:sp>
        <p:nvSpPr>
          <p:cNvPr id="315" name="cell"/>
          <p:cNvSpPr txBox="1"/>
          <p:nvPr/>
        </p:nvSpPr>
        <p:spPr>
          <a:xfrm>
            <a:off x="7460120" y="4128900"/>
            <a:ext cx="4002760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branch-and-price 필요</a:t>
            </a:r>
          </a:p>
        </p:txBody>
      </p:sp>
      <p:sp>
        <p:nvSpPr>
          <p:cNvPr id="316" name="row"/>
          <p:cNvSpPr/>
          <p:nvPr/>
        </p:nvSpPr>
        <p:spPr>
          <a:xfrm>
            <a:off x="548640" y="4600360"/>
            <a:ext cx="11064240" cy="66292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7" name="cell"/>
          <p:cNvSpPr txBox="1"/>
          <p:nvPr/>
        </p:nvSpPr>
        <p:spPr>
          <a:xfrm>
            <a:off x="698640" y="4600360"/>
            <a:ext cx="215872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어울리는 구조</a:t>
            </a:r>
          </a:p>
        </p:txBody>
      </p:sp>
      <p:sp>
        <p:nvSpPr>
          <p:cNvPr id="318" name="cell"/>
          <p:cNvSpPr txBox="1"/>
          <p:nvPr/>
        </p:nvSpPr>
        <p:spPr>
          <a:xfrm>
            <a:off x="3157360" y="4600360"/>
            <a:ext cx="400276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결정 + 연속 흐름 (시설 입지, 확률계획)</a:t>
            </a:r>
          </a:p>
        </p:txBody>
      </p:sp>
      <p:sp>
        <p:nvSpPr>
          <p:cNvPr id="319" name="cell"/>
          <p:cNvSpPr txBox="1"/>
          <p:nvPr/>
        </p:nvSpPr>
        <p:spPr>
          <a:xfrm>
            <a:off x="7460120" y="4600360"/>
            <a:ext cx="4002760" cy="66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패턴이 폭발하는 문제 (절삭, 차량경로, 승무원)</a:t>
            </a:r>
          </a:p>
        </p:txBody>
      </p:sp>
      <p:sp>
        <p:nvSpPr>
          <p:cNvPr id="320" name="note"/>
          <p:cNvSpPr txBox="1"/>
          <p:nvPr/>
        </p:nvSpPr>
        <p:spPr>
          <a:xfrm>
            <a:off x="548640" y="536328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리뷰 표 2에는 Benders가 쓰이는 문제들의 목록이 있습니다.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한계와 확인 문제 (1)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2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Rahmaniani, Crainic, Gendreau, Rei, The Benders Decomposition Algorithm: A Literature Review (EJOR 2017)</a:t>
            </a:r>
          </a:p>
        </p:txBody>
      </p:sp>
      <p:sp>
        <p:nvSpPr>
          <p:cNvPr id="322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3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한계</a:t>
            </a:r>
          </a:p>
        </p:txBody>
      </p:sp>
      <p:sp>
        <p:nvSpPr>
          <p:cNvPr id="324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논문은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서베이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이고 실험표가 적어서, "어느 쪽이 얼마나 빠르다" 같은 수치는 이 자료에 없습니다.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 두 예제는 제가 만든 아주 작은 문제이고, 분해가 실제로 더 빠른지는 보여 주지 않습니다. 개념과 식이 어떻게 돌아가는지 확인하기 위한 것입니다.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 리뷰의 3~9장(분해 전략, 해 생성, 절단 생성, 휴리스틱, 확장)은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분류 체계만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요약했고 세부는 다루지 않았습니다.</a:t>
            </a:r>
          </a:p>
        </p:txBody>
      </p:sp>
      <p:sp>
        <p:nvSpPr>
          <p:cNvPr id="325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26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 문제</a:t>
            </a:r>
          </a:p>
        </p:txBody>
      </p:sp>
      <p:sp>
        <p:nvSpPr>
          <p:cNvPr id="327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Benders에서 마스터의 목적값은 하한인가 상한인가? 왜?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절삭 예에서 패턴 (1,1,0) 의 가치는? (u = (1/3, 1/2, 1/2)) 이 패턴을 추가해야 하나?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z̄ = 10, c̄* = −0.25 이고 목적이 변수의 합일 때 하한은?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Q4.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열 생성의 마스터에는 왜 분지 변수가 없나? 해결 방법은?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Q5.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시설 입지 예의 1회에서 왜 feasibility cut이 만들어졌나?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 (2): 정답과 해설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2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문제입니다. 풀이는 제가 계산한 값</a:t>
            </a:r>
          </a:p>
        </p:txBody>
      </p:sp>
      <p:sp>
        <p:nvSpPr>
          <p:cNvPr id="329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0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</a:t>
            </a:r>
          </a:p>
        </p:txBody>
      </p:sp>
      <p:sp>
        <p:nvSpPr>
          <p:cNvPr id="331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A1.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마스터는 절단을 일부만 가진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완화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이므로 실제 최적보다 나쁠(작을) 수 없습니다. 반대로 ȳ 로 고정한 원 문제의 값은 실제 가능한 해이므로 상한입니다.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A2.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가치 = 1/3 + 1/2 =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0.833 &lt; 1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이므로 축소비용 = 1 − 0.833 &gt; 0.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추가하지 않습니다.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(패턴 (2,1,0) 은 1.167이라 추가)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A3.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z̄ / (1 − c̄*) = 10 / 1.25 =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A4.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열 λ 는 "패턴을 몇 번 쓰나"라서 원래 정수 변수가 아닙니다.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압축(원래) 정식화를 찾아 원래 변수에 분지·절단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하거나, Ryan–Foster 같은 분지를 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A5.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ȳ = (0,0,0) 은 어떤 시설도 열지 않아 수요 9를 못 채우는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부문제이기 때문입니다.</a:t>
            </a:r>
          </a:p>
        </p:txBody>
      </p:sp>
      <p:sp>
        <p:nvSpPr>
          <p:cNvPr id="332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3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자료의 요약</a:t>
            </a:r>
          </a:p>
        </p:txBody>
      </p:sp>
      <p:sp>
        <p:nvSpPr>
          <p:cNvPr id="334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Benders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정수 변수는 마스터에, 연속 변수는 부문제에. 부문제의 쌍대 해로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절단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만들어 마스터를 조인다. 마스터 = 하한, 고정한 해 = 상한.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열 생성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열이 폭발적으로 많으면 일부만 두고 풀고, 쌍대값으로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이득 되는 열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찾아 추가한다. RMP = 상한, 가격 문제로 하한.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방법 모두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쌍대 정보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 핵심 재료입니다. 하나는 절단(행)으로, 하나는 열로 되돌려 줍니다.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효과(속도)는 이 자료에서 측정하지 않았습니다.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2026-10-22T13:39:41Z</dcterms:created>
  <dcterms:modified xsi:type="dcterms:W3CDTF">2026-10-22T13:39:41Z</dcterms:modified>
</cp:coreProperties>
</file>