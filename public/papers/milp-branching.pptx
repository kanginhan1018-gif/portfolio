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과외 노트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규칙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변수를 먼저 쪼갤까 — 과외 노트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· Koch · Martin (2005) · Anderson 외 (2020) · Hendel (2015)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분지 규칙이 중요한가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Table 1</a:t>
            </a:r>
          </a:p>
        </p:txBody>
      </p:sp>
      <p:sp>
        <p:nvSpPr>
          <p:cNvPr id="102" name="card"/>
          <p:cNvSpPr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3" name="head"/>
          <p:cNvSpPr txBox="1"/>
          <p:nvPr/>
        </p:nvSpPr>
        <p:spPr>
          <a:xfrm>
            <a:off x="777240" y="152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문제, 같은 알고리즘인데 쪼개는 순서만 바꿨을 뿐입니다</a:t>
            </a:r>
          </a:p>
        </p:txBody>
      </p:sp>
      <p:sp>
        <p:nvSpPr>
          <p:cNvPr id="104" name="body"/>
          <p:cNvSpPr txBox="1"/>
          <p:nvPr/>
        </p:nvSpPr>
        <p:spPr>
          <a:xfrm>
            <a:off x="777240" y="1997360"/>
            <a:ext cx="1060704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 트리는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변수를 먼저 쪼개느냐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따라 크기가 크게 달라집니다. 다른 건 하나도 안 바꿔도요.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실험(Table 1, 기하평균):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random 선택은 노드 275,789개 · 923.6초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branching(η_rel=8)은 노드 48,773개 · 170.5초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노드는 약 5.7배, 시간은 약 5.4배 차이입니다.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질문은 이렇게 바뀝니다.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쪼갤 변수에 점수를 어떻게 매길까?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흐름: ① 분지가 정확히 무엇을 하는지 → ② 점수의 재료(Δ) → ③ 점수 함수(가중합·곱·몫) → ④ 규칙 6가지 → ⑤ 실험 표 읽기 → ⑥ "η=4~8"의 정체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전제: 0교시(분지한계법)를 읽었다고 가정합니다. LP 완화, 상한·하한, 가지치기 개념이면 충분합니다.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분지가 하는 일: 알고리즘 한 줄씩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Algorithm 1</a:t>
            </a:r>
          </a:p>
        </p:txBody>
      </p:sp>
      <p:sp>
        <p:nvSpPr>
          <p:cNvPr id="106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7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Algorithm 1 (최소화 문제)</a:t>
            </a:r>
          </a:p>
        </p:txBody>
      </p:sp>
      <p:sp>
        <p:nvSpPr>
          <p:cNvPr id="108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문제 집합 S를 LP 완화 하나로 시작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S가 비었으면 끝: 최적값 c* 반환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문제 Q를 하나 꺼냄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LP를 풀어 최적값 c̄_Q 와 최적해 x̄_Q 를 얻음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c̄_Q ≥ c* 이면 버림 (이미 가진 해보다 나아질 수 없음)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 x̄_Q 가 정수 실행가능이면 c* := c̄_Q 로 갱신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아니면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Q를 쪼개서 S에 넣고 3으로</a:t>
            </a:r>
          </a:p>
        </p:txBody>
      </p:sp>
      <p:sp>
        <p:nvSpPr>
          <p:cNvPr id="109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0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용어와 방향</a:t>
            </a:r>
          </a:p>
        </p:txBody>
      </p:sp>
      <p:sp>
        <p:nvSpPr>
          <p:cNvPr id="111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* : 지금까지 찾은 최선의 정수해 값. 최소화에서는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역할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c̄_Q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노드 Q의 LP 값. 그 노드 아래 모든 해의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최소화 문제이므로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값이 오를수록(하한이 올라갈수록) 진전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0교시의 최대화 예제와는 방향이 반대입니다.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5번이 가지치기의 핵심: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 ≥ 최선의 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이면 그 가지는 볼 필요가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글의 모든 규칙은 7번 "어떻게 쪼갤까"만 다릅니다.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분지: 변수 하나를 둘로 쪼갠다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1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식 (1). 숫자 예시는 제가 만든 값</a:t>
            </a:r>
          </a:p>
        </p:txBody>
      </p:sp>
      <p:sp>
        <p:nvSpPr>
          <p:cNvPr id="113" name="card"/>
          <p:cNvSpPr/>
          <p:nvPr/>
        </p:nvSpPr>
        <p:spPr>
          <a:xfrm>
            <a:off x="548640" y="1371600"/>
            <a:ext cx="6284671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4" name="head"/>
          <p:cNvSpPr txBox="1"/>
          <p:nvPr/>
        </p:nvSpPr>
        <p:spPr>
          <a:xfrm>
            <a:off x="777240" y="1521600"/>
            <a:ext cx="5827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쪼개나</a:t>
            </a:r>
          </a:p>
        </p:txBody>
      </p:sp>
      <p:sp>
        <p:nvSpPr>
          <p:cNvPr id="115" name="body"/>
          <p:cNvSpPr txBox="1"/>
          <p:nvPr/>
        </p:nvSpPr>
        <p:spPr>
          <a:xfrm>
            <a:off x="777240" y="1997360"/>
            <a:ext cx="5827471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 x_i 의 LP 값 x̄_i 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분수일 때만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후보가 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아래쪽 거리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f⁻ = x̄_i − ⌊x̄_i⌋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위쪽 거리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f⁺ = ⌈x̄_i⌉ − x̄_i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 자식 Q⁻ : 제약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x_i ≤ ⌊x̄_i⌋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를 추가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오른쪽 자식 Q⁺ : 제약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x_i ≥ ⌈x̄_i⌉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를 추가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자식을 합치면 정수해는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하나도 빠지지 않습니다.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사라지는 건 x_i가 두 정수 사이에 있는 영역뿐이고, 그 영역에는 정수해가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분지를 선형 부등식으로만 하는 이유: 자식도 LP로 풀어야 하기 때문입니다.</a:t>
            </a:r>
          </a:p>
        </p:txBody>
      </p:sp>
      <p:sp>
        <p:nvSpPr>
          <p:cNvPr id="116" name="card"/>
          <p:cNvSpPr/>
          <p:nvPr/>
        </p:nvSpPr>
        <p:spPr>
          <a:xfrm>
            <a:off x="7061911" y="1371600"/>
            <a:ext cx="4550969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7" name="head"/>
          <p:cNvSpPr txBox="1"/>
          <p:nvPr/>
        </p:nvSpPr>
        <p:spPr>
          <a:xfrm>
            <a:off x="7290511" y="1521600"/>
            <a:ext cx="4093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숫자로 보기: x̄_i = 2.4</a:t>
            </a:r>
          </a:p>
        </p:txBody>
      </p:sp>
      <p:sp>
        <p:nvSpPr>
          <p:cNvPr id="118" name="body"/>
          <p:cNvSpPr txBox="1"/>
          <p:nvPr/>
        </p:nvSpPr>
        <p:spPr>
          <a:xfrm>
            <a:off x="7290511" y="1997360"/>
            <a:ext cx="4093769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f⁻ = 2.4 − 2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f⁺ = 3 − 2.4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0.6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 자식: x_i ≤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오른쪽 자식: x_i ≥ 3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x_i = 2.5 같은 값은 두 자식 어디에도 없지만, x_i는 정수이므로 어차피 불가능한 값입니다.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분수 변수가 여러 개면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것을 쪼갤지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문제입니다. 이게 분지 규칙입니다.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 규칙이 정하는 것은 점수 하나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1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Algorithm 2</a:t>
            </a:r>
          </a:p>
        </p:txBody>
      </p:sp>
      <p:sp>
        <p:nvSpPr>
          <p:cNvPr id="120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1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선택 (Algorithm 2)</a:t>
            </a:r>
          </a:p>
        </p:txBody>
      </p:sp>
      <p:sp>
        <p:nvSpPr>
          <p:cNvPr id="122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분수 변수들의 집합 C (후보)를 만든다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 i 마다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 s_i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를 계산한다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3단계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점수가 가장 큰 변수를 고른다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규칙들의 차이는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2단계(점수 계산)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뿐입니다. 1·3단계는 모두 같습니다.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점수는 대개 "이 변수를 쪼갰을 때 두 자식의 하한이 얼마나 오를까"를 반영합니다.</a:t>
            </a:r>
          </a:p>
        </p:txBody>
      </p:sp>
      <p:sp>
        <p:nvSpPr>
          <p:cNvPr id="123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두 가지가 필요합니다</a:t>
            </a:r>
          </a:p>
        </p:txBody>
      </p:sp>
      <p:sp>
        <p:nvSpPr>
          <p:cNvPr id="125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재료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두 자식의 하한 증가량 Δ⁻, Δ⁺ 를 어떻게 얻나. 직접 풀어서 측정할 수도, 과거 기록으로 추정할 수도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합치는 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(Δ⁻, Δ⁺) 두 숫자를 점수 하나로 어떻게 합치나. 가중합, 곱, 몫이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글의 순서: 먼저 Δ가 무엇인지(6번), 점수 함수(7~8번), 그다음 재료를 얻는 규칙들(9~16번)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점수의 재료: 하한 증가량 Δ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2.1절. 숫자 예시는 제가 만든 값</a:t>
            </a:r>
          </a:p>
        </p:txBody>
      </p:sp>
      <p:sp>
        <p:nvSpPr>
          <p:cNvPr id="127" name="card"/>
          <p:cNvSpPr/>
          <p:nvPr/>
        </p:nvSpPr>
        <p:spPr>
          <a:xfrm>
            <a:off x="548640" y="1371600"/>
            <a:ext cx="6284671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8" name="head"/>
          <p:cNvSpPr txBox="1"/>
          <p:nvPr/>
        </p:nvSpPr>
        <p:spPr>
          <a:xfrm>
            <a:off x="777240" y="1521600"/>
            <a:ext cx="5827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정의</a:t>
            </a:r>
          </a:p>
        </p:txBody>
      </p:sp>
      <p:sp>
        <p:nvSpPr>
          <p:cNvPr id="129" name="body"/>
          <p:cNvSpPr txBox="1"/>
          <p:nvPr/>
        </p:nvSpPr>
        <p:spPr>
          <a:xfrm>
            <a:off x="777240" y="1997360"/>
            <a:ext cx="5827471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Δ⁻ = c̄(Q⁻) − c̄(Q)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왼쪽 자식 LP 값 − 부모 LP 값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Δ⁺ = c̄(Q⁺) − c̄(Q)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오른쪽 자식 LP 값 − 부모 LP 값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흔한 오해: Δ는 "정수 조건을 추가했을 때"의 증가량이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아닙니다.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실제로는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부모 LP에 변수 하나의 경계 제약만 더해 다시 풀었을 때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LP 값이 얼마나 올랐는가입니다. 자식에서도 다른 변수의 정수 조건은 여전히 완화돼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제약이 하나 늘면 실행가능 영역이 줄어, 최소화 LP 값은 같거나 커집니다. 그래서 Δ ≥ 0.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자식이 비실현이면 Δ는 사실상 무한대입니다. 논문은 "특별한 처리가 필요하다"고만 적습니다.</a:t>
            </a:r>
          </a:p>
        </p:txBody>
      </p:sp>
      <p:sp>
        <p:nvSpPr>
          <p:cNvPr id="130" name="card"/>
          <p:cNvSpPr/>
          <p:nvPr/>
        </p:nvSpPr>
        <p:spPr>
          <a:xfrm>
            <a:off x="7061911" y="1371600"/>
            <a:ext cx="4550969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1" name="head"/>
          <p:cNvSpPr txBox="1"/>
          <p:nvPr/>
        </p:nvSpPr>
        <p:spPr>
          <a:xfrm>
            <a:off x="7290511" y="1521600"/>
            <a:ext cx="4093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 예 (제가 만든 값)</a:t>
            </a:r>
          </a:p>
        </p:txBody>
      </p:sp>
      <p:sp>
        <p:nvSpPr>
          <p:cNvPr id="132" name="body"/>
          <p:cNvSpPr txBox="1"/>
          <p:nvPr/>
        </p:nvSpPr>
        <p:spPr>
          <a:xfrm>
            <a:off x="7290511" y="1997360"/>
            <a:ext cx="4093769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부모 LP 값 = 10,  x̄_i = 2.4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 자식(x_i ≤ 2) LP 값 = 10.8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Δ⁻ = 0.8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오른쪽 자식(x_i ≥ 3) LP 값 = 11.5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Δ⁺ = 1.5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 변화당 이득: 0.8 / 0.4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1.5 / 0.6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두 값을 모두 보나? 두 자식을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풀어야 하므로, 한쪽만 좋아서는 반쪽짜리 진전입니다.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두 증가량을 하나의 점수로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소스 SCIPbranchGetScore 와 파라미터 문서로 확인. 논문의 식은 SCIP의 s(scorefac=1/6)와 같은 형태</a:t>
            </a:r>
          </a:p>
        </p:txBody>
      </p:sp>
      <p:sp>
        <p:nvSpPr>
          <p:cNvPr id="134" name="th"/>
          <p:cNvSpPr txBox="1"/>
          <p:nvPr/>
        </p:nvSpPr>
        <p:spPr>
          <a:xfrm>
            <a:off x="698640" y="1371600"/>
            <a:ext cx="2134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</a:t>
            </a:r>
          </a:p>
        </p:txBody>
      </p:sp>
      <p:sp>
        <p:nvSpPr>
          <p:cNvPr id="135" name="th"/>
          <p:cNvSpPr txBox="1"/>
          <p:nvPr/>
        </p:nvSpPr>
        <p:spPr>
          <a:xfrm>
            <a:off x="3132772" y="1371600"/>
            <a:ext cx="3240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</a:t>
            </a:r>
          </a:p>
        </p:txBody>
      </p:sp>
      <p:sp>
        <p:nvSpPr>
          <p:cNvPr id="136" name="th"/>
          <p:cNvSpPr txBox="1"/>
          <p:nvPr/>
        </p:nvSpPr>
        <p:spPr>
          <a:xfrm>
            <a:off x="6673328" y="1371600"/>
            <a:ext cx="47895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법</a:t>
            </a:r>
          </a:p>
        </p:txBody>
      </p:sp>
      <p:sp>
        <p:nvSpPr>
          <p:cNvPr id="137" name="row"/>
          <p:cNvSpPr/>
          <p:nvPr/>
        </p:nvSpPr>
        <p:spPr>
          <a:xfrm>
            <a:off x="548640" y="1771600"/>
            <a:ext cx="11064240" cy="662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8" name="cell"/>
          <p:cNvSpPr txBox="1"/>
          <p:nvPr/>
        </p:nvSpPr>
        <p:spPr>
          <a:xfrm>
            <a:off x="698640" y="1771600"/>
            <a:ext cx="2134132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가중합</a:t>
            </a: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(2005 논문, μ=1/6)</a:t>
            </a:r>
          </a:p>
        </p:txBody>
      </p:sp>
      <p:sp>
        <p:nvSpPr>
          <p:cNvPr id="139" name="cell"/>
          <p:cNvSpPr txBox="1"/>
          <p:nvPr/>
        </p:nvSpPr>
        <p:spPr>
          <a:xfrm>
            <a:off x="3132772" y="1771600"/>
            <a:ext cx="3240556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(1−μ)·min(Δ⁻,Δ⁺) + μ·max(Δ⁻,Δ⁺)</a:t>
            </a:r>
          </a:p>
        </p:txBody>
      </p:sp>
      <p:sp>
        <p:nvSpPr>
          <p:cNvPr id="140" name="cell"/>
          <p:cNvSpPr txBox="1"/>
          <p:nvPr/>
        </p:nvSpPr>
        <p:spPr>
          <a:xfrm>
            <a:off x="6673328" y="1771600"/>
            <a:ext cx="478955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쪽에 5/6, 큰 쪽에 1/6. 합이라서 한쪽이 아주 크면 점수가 높아집니다.</a:t>
            </a:r>
          </a:p>
        </p:txBody>
      </p:sp>
      <p:sp>
        <p:nvSpPr>
          <p:cNvPr id="141" name="row"/>
          <p:cNvSpPr/>
          <p:nvPr/>
        </p:nvSpPr>
        <p:spPr>
          <a:xfrm>
            <a:off x="548640" y="2494520"/>
            <a:ext cx="11064240" cy="662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2" name="cell"/>
          <p:cNvSpPr txBox="1"/>
          <p:nvPr/>
        </p:nvSpPr>
        <p:spPr>
          <a:xfrm>
            <a:off x="698640" y="2494520"/>
            <a:ext cx="2134132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곱</a:t>
            </a: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(SCIP 기본값 p)</a:t>
            </a:r>
          </a:p>
        </p:txBody>
      </p:sp>
      <p:sp>
        <p:nvSpPr>
          <p:cNvPr id="143" name="cell"/>
          <p:cNvSpPr txBox="1"/>
          <p:nvPr/>
        </p:nvSpPr>
        <p:spPr>
          <a:xfrm>
            <a:off x="3132772" y="2494520"/>
            <a:ext cx="3240556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Δ⁻ · Δ⁺</a:t>
            </a:r>
          </a:p>
        </p:txBody>
      </p:sp>
      <p:sp>
        <p:nvSpPr>
          <p:cNvPr id="144" name="cell"/>
          <p:cNvSpPr txBox="1"/>
          <p:nvPr/>
        </p:nvSpPr>
        <p:spPr>
          <a:xfrm>
            <a:off x="6673328" y="2494520"/>
            <a:ext cx="478955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값이 모두 커야 점수가 큽니다. 한쪽이 0에 가까우면 점수도 0에 가깝습니다.</a:t>
            </a:r>
          </a:p>
        </p:txBody>
      </p:sp>
      <p:sp>
        <p:nvSpPr>
          <p:cNvPr id="145" name="row"/>
          <p:cNvSpPr/>
          <p:nvPr/>
        </p:nvSpPr>
        <p:spPr>
          <a:xfrm>
            <a:off x="548640" y="3217440"/>
            <a:ext cx="11064240" cy="662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6" name="cell"/>
          <p:cNvSpPr txBox="1"/>
          <p:nvPr/>
        </p:nvSpPr>
        <p:spPr>
          <a:xfrm>
            <a:off x="698640" y="3217440"/>
            <a:ext cx="2134132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몫</a:t>
            </a: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(SCIP q)</a:t>
            </a:r>
          </a:p>
        </p:txBody>
      </p:sp>
      <p:sp>
        <p:nvSpPr>
          <p:cNvPr id="147" name="cell"/>
          <p:cNvSpPr txBox="1"/>
          <p:nvPr/>
        </p:nvSpPr>
        <p:spPr>
          <a:xfrm>
            <a:off x="3132772" y="3217440"/>
            <a:ext cx="3240556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min(Δ⁻,Δ⁺)² / max(Δ⁻,Δ⁺)</a:t>
            </a:r>
          </a:p>
        </p:txBody>
      </p:sp>
      <p:sp>
        <p:nvSpPr>
          <p:cNvPr id="148" name="cell"/>
          <p:cNvSpPr txBox="1"/>
          <p:nvPr/>
        </p:nvSpPr>
        <p:spPr>
          <a:xfrm>
            <a:off x="6673328" y="3217440"/>
            <a:ext cx="478955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값이 같으면 그 값 자체, 차이가 클수록 줄어듭니다.</a:t>
            </a:r>
          </a:p>
        </p:txBody>
      </p:sp>
      <p:sp>
        <p:nvSpPr>
          <p:cNvPr id="149" name="note"/>
          <p:cNvSpPr txBox="1"/>
          <p:nvPr/>
        </p:nvSpPr>
        <p:spPr>
          <a:xfrm>
            <a:off x="548640" y="398036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SCIP에서는 Δ가 아주 작은 ε 이하로 내려가지 않게 바닥을 둡니다. 가중합의 SCIP 파라미터는 scorefunc=s, scorefac=0.167 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가중합 vs 곱: 언제 다른 후보를 고르나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Anderson, Le Bodic, Morgan (2020), SCIP branch.c. 숫자 예시는 제가 만든 값</a:t>
            </a:r>
          </a:p>
        </p:txBody>
      </p:sp>
      <p:sp>
        <p:nvSpPr>
          <p:cNvPr id="151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2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예 (제가 만든 값)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 A: (Δ⁻, Δ⁺) = (0.01, 100) — 한쪽만 폭발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 B: (Δ⁻, Δ⁺) = (2, 2) — 두 쪽이 고르게 오름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가중합(μ=1/6): A = 5/6·0.01 + 1/6·100 ≈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16.7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B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 선택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곱: A = 0.01 × 100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B = 2 × 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 선택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해석: 한쪽 자식이 거의 안 올랐으면(0.01) 그 자식은 쉽게 안 닫혀서 트리가 그쪽으로 계속 자랍니다. 곱은 이걸 벌줍니다.</a:t>
            </a:r>
          </a:p>
        </p:txBody>
      </p:sp>
      <p:sp>
        <p:nvSpPr>
          <p:cNvPr id="154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5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쪽이 더 낫나</a:t>
            </a:r>
          </a:p>
        </p:txBody>
      </p:sp>
      <p:sp>
        <p:nvSpPr>
          <p:cNvPr id="156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SCIP의 기본값은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곱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Anderson 외는 Achterberg의 박사논문이 "곱이 가중합보다 실험에서 10% 넘게 낫다"고 보였다고 인용합니다.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저는 박사논문 원문을 읽지 못했고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 인용만 확인했습니다.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문제에 따라 달라질 수 있으니 "곱이 항상 낫다"는 아닙니다.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나아간 점수 ratio, svts(Le Bodic–Nemhauser 모델)는 큰 트리(50,000 노드 이상)에서 곱보다 시간이 각각 4%, 11% 빠르지만 전체로는 거의 차이가 없습니다 (SCIP 6.0, MIPLIB 2017).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1: Most infeasible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2.1절, Table 1. 예시 계산은 제가 한 것</a:t>
            </a:r>
          </a:p>
        </p:txBody>
      </p:sp>
      <p:sp>
        <p:nvSpPr>
          <p:cNvPr id="158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9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분수에 가까운 변수</a:t>
            </a:r>
          </a:p>
        </p:txBody>
      </p:sp>
      <p:sp>
        <p:nvSpPr>
          <p:cNvPr id="160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s_i = 0.5 − | 소수 부분 − 0.5 |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소수 부분이 0.5에 가까울수록 높습니다.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예: x̄ = 2.5 → 점수 0.5 (최고),  x̄ = 2.1 → 0.1,  x̄ = 2.9 → 0.1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직관: 0.5 근처의 변수는 올릴지 내릴지 가장 판단하기 어려우니 먼저 결정해 버리자.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LP를 추가로 풀지 않아서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아주 빠릅니다.</a:t>
            </a:r>
          </a:p>
        </p:txBody>
      </p:sp>
      <p:sp>
        <p:nvSpPr>
          <p:cNvPr id="161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2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결과: 거의 쓸모없음</a:t>
            </a:r>
          </a:p>
        </p:txBody>
      </p:sp>
      <p:sp>
        <p:nvSpPr>
          <p:cNvPr id="163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Table 1(기하평균): most infeasible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262,369개 / 938.0초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random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275,789개 / 923.6초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둘이 거의 같다 → 변수의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소수 부분만으로는 정보가 없다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는 뜻입니다.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저자들은 이후 비교에서 이 규칙을 뺍니다.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교훈: 좋은 점수는 "이 변수를 쪼개면 하한이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얼마나 오르는가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(Δ)"를 반영해야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2: Strong branching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6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2.3절, Table 1</a:t>
            </a:r>
          </a:p>
        </p:txBody>
      </p:sp>
      <p:sp>
        <p:nvSpPr>
          <p:cNvPr id="165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6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풀어 본다</a:t>
            </a:r>
          </a:p>
        </p:txBody>
      </p:sp>
      <p:sp>
        <p:nvSpPr>
          <p:cNvPr id="167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분지하기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후보마다 두 자식 LP를 실제로 풀어 Δ⁻, Δ⁺ 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점수가 가장 큰 후보를 고릅니다. 후보 전체를 끝까지 풀면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 strong branching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(CPLEX 7.5에서 도입).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장점: 지역적으로 가장 좋은 변수를 고르므로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수가 가장 적습니다.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단점: 노드 하나에서 LP를 (후보 수 × 2)개 풀어야 해서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노드당 시간이 큽니다.</a:t>
            </a:r>
          </a:p>
        </p:txBody>
      </p:sp>
      <p:sp>
        <p:nvSpPr>
          <p:cNvPr id="168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9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노드는 적은데 시간은 크다</a:t>
            </a:r>
          </a:p>
        </p:txBody>
      </p:sp>
      <p:sp>
        <p:nvSpPr>
          <p:cNvPr id="170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Table 1: full strong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7,242개 · 504.4초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reliability(η=8)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48,773개 · 170.5초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노드는 약 6.7배 적은데 시간은 약 3배 느립니다.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속도를 내는 방법 3가지: ① 후보 집합을 C′ ⊆ C 로 제한 ② 후보당 쌍대 심플렉스 반복 수를 γ로 제한 ③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look-ahead λ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점수 큰 순서로 평가하다가 새 최고 후보가 λ번 연속 안 나오면 중단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SIP에서는 γ = 2γ̄ (γ̄ 는 지금까지 LP당 평균 반복 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3: Pseudocost (1) 아이디어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7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2.2절</a:t>
            </a:r>
          </a:p>
        </p:txBody>
      </p:sp>
      <p:sp>
        <p:nvSpPr>
          <p:cNvPr id="172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3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기록으로 추정한다</a:t>
            </a:r>
          </a:p>
        </p:txBody>
      </p:sp>
      <p:sp>
        <p:nvSpPr>
          <p:cNvPr id="174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branching은 정확하지만 비쌉니다.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변수를 이미 여러 번 분지해 봤다면, 그때 Δ가 얼마였는지 기억해 뒀다가 쓰면 되지 않을까?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분지할 때마다 얻은 증가량을 변수별로(위·아래 따로) 기록합니다.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전에는 LP를 풀지 않고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기록의 평균으로 Δ를 추정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 거의 공짜입니다.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그냥 Δ가 아니라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 변화당 이득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(Δ를 이동 거리 f로 나눈 값)을 기록하는 이유: 분지할 때마다 소수 부분 f가 달라서, 거리로 나눠야 서로 비교하고 평균 낼 수 있습니다.</a:t>
            </a:r>
          </a:p>
        </p:txBody>
      </p:sp>
      <p:sp>
        <p:nvSpPr>
          <p:cNvPr id="175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6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</a:t>
            </a:r>
          </a:p>
        </p:txBody>
      </p:sp>
      <p:sp>
        <p:nvSpPr>
          <p:cNvPr id="177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음식점 평점과 같습니다. 직접 먹어 보면(strong branching) 정확하지만 시간이 듭니다.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이전 손님들의 평균 평점(pseudocost)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을 보면 바로 고를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평점이 한두 개뿐인 가게는 믿기 어렵죠? 이게 다음 문제입니다.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관측이 적은 pseudocost는 믿을 수 없다.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뒤에 나올 reliability branching은 바로 이 문제를 푸는 규칙입니다.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3: Pseudocost (2) Ψ 읽는 법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7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2.2절. 숫자 예시는 정의에 맞춰 만든 가상의 값</a:t>
            </a:r>
          </a:p>
        </p:txBody>
      </p:sp>
      <p:sp>
        <p:nvSpPr>
          <p:cNvPr id="179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0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기호 하나씩 (위쪽 방향, 아래쪽도 같은 방식)</a:t>
            </a:r>
          </a:p>
        </p:txBody>
      </p:sp>
      <p:sp>
        <p:nvSpPr>
          <p:cNvPr id="181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위로 분지할 때 x_i 가 움직이는 거리 (⌈x̄_i⌉ − x̄_i)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그때 실제로 측정한 자식 LP 하한의 증가량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ς⁺ = Δ⁺ / f⁺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단위 변화당 이득, 한 번의 관측값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σ⁺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지금까지 쌓인 ς⁺ 의 합, 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그 관측 횟수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Ψ⁺ = σ⁺ / η⁺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ς⁺ 의 평균, 곧 pseudocost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전에는 Δ⁺ 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f⁺·Ψ⁺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로 추정해 점수에 씁니다: s_i = score(f⁻Ψ⁻, f⁺Ψ⁺)</a:t>
            </a:r>
          </a:p>
        </p:txBody>
      </p:sp>
      <p:sp>
        <p:nvSpPr>
          <p:cNvPr id="182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3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 예시와 초기화</a:t>
            </a:r>
          </a:p>
        </p:txBody>
      </p:sp>
      <p:sp>
        <p:nvSpPr>
          <p:cNvPr id="184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(f⁺, Δ⁺) = (0.6, 1.2), (0.5, 0.75), (0.4, 1.0)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ς⁺ = 2.0, 1.5, 2.5 → σ⁺ = 6.0, η⁺ = 3 →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Ψ⁺ = 2.0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노드에서 f⁺ = 0.3 이면 예상 증가량 = 0.3 × 2.0 =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0.6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기록이 없으면(η = 0) "초기화되지 않았다"고 하고, 초기화된 변수들의 평균 Ψ_avg 로 대신합니다. 모두 없으면 1.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약점: 트리 윗부분에서는 기록이 없는데, 가장 중요한 결정이 바로 거기서 일어납니다.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4·5: Hybrid와 strong 초기화 pseudocost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8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2.4~2.5절</a:t>
            </a:r>
          </a:p>
        </p:txBody>
      </p:sp>
      <p:sp>
        <p:nvSpPr>
          <p:cNvPr id="186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7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Hybrid strong/pseudocost</a:t>
            </a:r>
          </a:p>
        </p:txBody>
      </p:sp>
      <p:sp>
        <p:nvSpPr>
          <p:cNvPr id="188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깊이 d 이하(트리 윗부분)에서는 strong branching, 그 아래에서는 pseudocost를 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직관: 윗부분의 결정이 가장 중요하니 비싸도 정확하게.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약점: 깊이 d가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이라 트리 모양을 모릅니다.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neos3 같은 문제의 트리는 경로처럼 길게 뻗어 평균 깊이가 깊어서 strong branching이 거의 쓰이지 않습니다. 반대로 vpm2는 균형 잡힌 트리입니다.</a:t>
            </a:r>
          </a:p>
        </p:txBody>
      </p:sp>
      <p:sp>
        <p:nvSpPr>
          <p:cNvPr id="189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0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Strong으로 초기화한 pseudocost</a:t>
            </a:r>
          </a:p>
        </p:txBody>
      </p:sp>
      <p:sp>
        <p:nvSpPr>
          <p:cNvPr id="191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pseudocost가 초기화되지 않은(η = 0) 변수에만 strong branching을 하고, 그 결과로 pseudocost를 초기화합니다.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이후에는 pseudocost만 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약점: 관측이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딱 1번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뿐인 pseudocost도 "믿을 만하다"고 취급합니다. 평점 1개짜리 가게를 믿는 셈입니다.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약점을 고친 것이 다음 규칙, reliability branching입니다.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6: Reliability branching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9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2.6~2.7절, Algorithm 3</a:t>
            </a:r>
          </a:p>
        </p:txBody>
      </p:sp>
      <p:sp>
        <p:nvSpPr>
          <p:cNvPr id="193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4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논문의 제안</a:t>
            </a:r>
          </a:p>
        </p:txBody>
      </p:sp>
      <p:sp>
        <p:nvSpPr>
          <p:cNvPr id="195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믿을 만한 변수는 pseudocost로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믿기 어려운 변수는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branching으로 다시 잽니다.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믿기 어렵다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min(η⁻, η⁺) &lt; η_rel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위·아래 중 관측이 적은 쪽이 η_rel 보다 작다는 뜻입니다.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은 "관측이 몇 번 이상이어야 믿을지"를 정하는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문턱값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결과: strong branching의 정확도를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변수에만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씁니다.</a:t>
            </a:r>
          </a:p>
        </p:txBody>
      </p:sp>
      <p:sp>
        <p:nvSpPr>
          <p:cNvPr id="196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7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Algorithm 3의 흐름</a:t>
            </a:r>
          </a:p>
        </p:txBody>
      </p:sp>
      <p:sp>
        <p:nvSpPr>
          <p:cNvPr id="198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모든 후보의 점수를 pseudocost로 계산해 큰 순서로 정렬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믿기 어려운 후보마다 (a) 두 자식에서 쌍대 심플렉스를 최대 γ번 돌려 Δ̃⁻, Δ̃⁺ 를 얻고 (b) 그 값으로 pseudocost를 갱신하고 (c) 점수를 score(Δ̃⁻, Δ̃⁺) 로 바꿉니다.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최고 점수가 λ번 연속 안 바뀌면 중단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번의 결정을 숫자로 따라가기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9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만든 가상의 숫자입니다 (정의에 맞춰 계산). 점수 함수는 곱</a:t>
            </a:r>
          </a:p>
        </p:txBody>
      </p:sp>
      <p:sp>
        <p:nvSpPr>
          <p:cNvPr id="200" name="th"/>
          <p:cNvSpPr txBox="1"/>
          <p:nvPr/>
        </p:nvSpPr>
        <p:spPr>
          <a:xfrm>
            <a:off x="698640" y="1371600"/>
            <a:ext cx="82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</a:t>
            </a:r>
          </a:p>
        </p:txBody>
      </p:sp>
      <p:sp>
        <p:nvSpPr>
          <p:cNvPr id="201" name="th"/>
          <p:cNvSpPr txBox="1"/>
          <p:nvPr/>
        </p:nvSpPr>
        <p:spPr>
          <a:xfrm>
            <a:off x="1823816" y="1371600"/>
            <a:ext cx="1387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(η⁻, η⁺)</a:t>
            </a:r>
          </a:p>
        </p:txBody>
      </p:sp>
      <p:sp>
        <p:nvSpPr>
          <p:cNvPr id="202" name="th"/>
          <p:cNvSpPr txBox="1"/>
          <p:nvPr/>
        </p:nvSpPr>
        <p:spPr>
          <a:xfrm>
            <a:off x="3511581" y="1371600"/>
            <a:ext cx="307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 (Δ⁻, Δ⁺) = (f⁻Ψ⁻, f⁺Ψ⁺)</a:t>
            </a:r>
          </a:p>
        </p:txBody>
      </p:sp>
      <p:sp>
        <p:nvSpPr>
          <p:cNvPr id="203" name="th"/>
          <p:cNvSpPr txBox="1"/>
          <p:nvPr/>
        </p:nvSpPr>
        <p:spPr>
          <a:xfrm>
            <a:off x="6887111" y="1371600"/>
            <a:ext cx="1200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곱 점수</a:t>
            </a:r>
          </a:p>
        </p:txBody>
      </p:sp>
      <p:sp>
        <p:nvSpPr>
          <p:cNvPr id="204" name="th"/>
          <p:cNvSpPr txBox="1"/>
          <p:nvPr/>
        </p:nvSpPr>
        <p:spPr>
          <a:xfrm>
            <a:off x="8387346" y="1371600"/>
            <a:ext cx="307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(η_rel = 4)</a:t>
            </a:r>
          </a:p>
        </p:txBody>
      </p:sp>
      <p:sp>
        <p:nvSpPr>
          <p:cNvPr id="205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6" name="cell"/>
          <p:cNvSpPr txBox="1"/>
          <p:nvPr/>
        </p:nvSpPr>
        <p:spPr>
          <a:xfrm>
            <a:off x="698640" y="177160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</a:t>
            </a:r>
          </a:p>
        </p:txBody>
      </p:sp>
      <p:sp>
        <p:nvSpPr>
          <p:cNvPr id="207" name="cell"/>
          <p:cNvSpPr txBox="1"/>
          <p:nvPr/>
        </p:nvSpPr>
        <p:spPr>
          <a:xfrm>
            <a:off x="1823816" y="1771600"/>
            <a:ext cx="138776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(9, 7)</a:t>
            </a:r>
          </a:p>
        </p:txBody>
      </p:sp>
      <p:sp>
        <p:nvSpPr>
          <p:cNvPr id="208" name="cell"/>
          <p:cNvSpPr txBox="1"/>
          <p:nvPr/>
        </p:nvSpPr>
        <p:spPr>
          <a:xfrm>
            <a:off x="3511581" y="177160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(0.8, 1.8)</a:t>
            </a:r>
          </a:p>
        </p:txBody>
      </p:sp>
      <p:sp>
        <p:nvSpPr>
          <p:cNvPr id="209" name="cell"/>
          <p:cNvSpPr txBox="1"/>
          <p:nvPr/>
        </p:nvSpPr>
        <p:spPr>
          <a:xfrm>
            <a:off x="6887111" y="177160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1.44</a:t>
            </a:r>
          </a:p>
        </p:txBody>
      </p:sp>
      <p:sp>
        <p:nvSpPr>
          <p:cNvPr id="210" name="cell"/>
          <p:cNvSpPr txBox="1"/>
          <p:nvPr/>
        </p:nvSpPr>
        <p:spPr>
          <a:xfrm>
            <a:off x="8387346" y="177160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신뢰: min = 7 ≥ 4</a:t>
            </a:r>
          </a:p>
        </p:txBody>
      </p:sp>
      <p:sp>
        <p:nvSpPr>
          <p:cNvPr id="211" name="row"/>
          <p:cNvSpPr/>
          <p:nvPr/>
        </p:nvSpPr>
        <p:spPr>
          <a:xfrm>
            <a:off x="548640" y="2243060"/>
            <a:ext cx="11064240" cy="662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2" name="cell"/>
          <p:cNvSpPr txBox="1"/>
          <p:nvPr/>
        </p:nvSpPr>
        <p:spPr>
          <a:xfrm>
            <a:off x="698640" y="2243060"/>
            <a:ext cx="825176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</a:t>
            </a:r>
          </a:p>
        </p:txBody>
      </p:sp>
      <p:sp>
        <p:nvSpPr>
          <p:cNvPr id="213" name="cell"/>
          <p:cNvSpPr txBox="1"/>
          <p:nvPr/>
        </p:nvSpPr>
        <p:spPr>
          <a:xfrm>
            <a:off x="1823816" y="2243060"/>
            <a:ext cx="1387765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(2, 6)</a:t>
            </a:r>
          </a:p>
        </p:txBody>
      </p:sp>
      <p:sp>
        <p:nvSpPr>
          <p:cNvPr id="214" name="cell"/>
          <p:cNvSpPr txBox="1"/>
          <p:nvPr/>
        </p:nvSpPr>
        <p:spPr>
          <a:xfrm>
            <a:off x="3511581" y="2243060"/>
            <a:ext cx="307553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(3.0, 1.0)</a:t>
            </a:r>
          </a:p>
        </p:txBody>
      </p:sp>
      <p:sp>
        <p:nvSpPr>
          <p:cNvPr id="215" name="cell"/>
          <p:cNvSpPr txBox="1"/>
          <p:nvPr/>
        </p:nvSpPr>
        <p:spPr>
          <a:xfrm>
            <a:off x="6887111" y="2243060"/>
            <a:ext cx="1200235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3.00</a:t>
            </a:r>
          </a:p>
        </p:txBody>
      </p:sp>
      <p:sp>
        <p:nvSpPr>
          <p:cNvPr id="216" name="cell"/>
          <p:cNvSpPr txBox="1"/>
          <p:nvPr/>
        </p:nvSpPr>
        <p:spPr>
          <a:xfrm>
            <a:off x="8387346" y="2243060"/>
            <a:ext cx="307553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불신: min = 2 &lt; 4 → strong branching</a:t>
            </a:r>
          </a:p>
        </p:txBody>
      </p:sp>
      <p:sp>
        <p:nvSpPr>
          <p:cNvPr id="217" name="row"/>
          <p:cNvSpPr/>
          <p:nvPr/>
        </p:nvSpPr>
        <p:spPr>
          <a:xfrm>
            <a:off x="548640" y="296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8" name="cell"/>
          <p:cNvSpPr txBox="1"/>
          <p:nvPr/>
        </p:nvSpPr>
        <p:spPr>
          <a:xfrm>
            <a:off x="698640" y="296598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x₃</a:t>
            </a:r>
          </a:p>
        </p:txBody>
      </p:sp>
      <p:sp>
        <p:nvSpPr>
          <p:cNvPr id="219" name="cell"/>
          <p:cNvSpPr txBox="1"/>
          <p:nvPr/>
        </p:nvSpPr>
        <p:spPr>
          <a:xfrm>
            <a:off x="1823816" y="2965980"/>
            <a:ext cx="138776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(5, 5)</a:t>
            </a:r>
          </a:p>
        </p:txBody>
      </p:sp>
      <p:sp>
        <p:nvSpPr>
          <p:cNvPr id="220" name="cell"/>
          <p:cNvSpPr txBox="1"/>
          <p:nvPr/>
        </p:nvSpPr>
        <p:spPr>
          <a:xfrm>
            <a:off x="3511581" y="296598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(0.3, 0.7)</a:t>
            </a:r>
          </a:p>
        </p:txBody>
      </p:sp>
      <p:sp>
        <p:nvSpPr>
          <p:cNvPr id="221" name="cell"/>
          <p:cNvSpPr txBox="1"/>
          <p:nvPr/>
        </p:nvSpPr>
        <p:spPr>
          <a:xfrm>
            <a:off x="6887111" y="296598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0.21</a:t>
            </a:r>
          </a:p>
        </p:txBody>
      </p:sp>
      <p:sp>
        <p:nvSpPr>
          <p:cNvPr id="222" name="cell"/>
          <p:cNvSpPr txBox="1"/>
          <p:nvPr/>
        </p:nvSpPr>
        <p:spPr>
          <a:xfrm>
            <a:off x="8387346" y="296598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신뢰: min = 5 ≥ 4</a:t>
            </a:r>
          </a:p>
        </p:txBody>
      </p:sp>
      <p:sp>
        <p:nvSpPr>
          <p:cNvPr id="223" name="note"/>
          <p:cNvSpPr txBox="1"/>
          <p:nvPr/>
        </p:nvSpPr>
        <p:spPr>
          <a:xfrm>
            <a:off x="548640" y="347744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pseudocost만 썼다면 점수가 가장 높은 x₂(3.00)를 고릅니다. 그런데 x₂의 아래쪽 기록은 2번뿐이라 믿기 어렵습니다. strong branching으로 실제로 재면 (Δ̃⁻, Δ̃⁺) = (0.6, 0.9) → 점수 0.54로 떨어지고, 최종 선택은 x₁(1.44)이 됩니다. 이것이 reliability branching이 막아 주는 실수입니다.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파라미터 하나로 모든 규칙이 이어진다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Figure 1</a:t>
            </a:r>
          </a:p>
        </p:txBody>
      </p:sp>
      <p:sp>
        <p:nvSpPr>
          <p:cNvPr id="225" name="th"/>
          <p:cNvSpPr txBox="1"/>
          <p:nvPr/>
        </p:nvSpPr>
        <p:spPr>
          <a:xfrm>
            <a:off x="698640" y="1371600"/>
            <a:ext cx="41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</a:t>
            </a:r>
          </a:p>
        </p:txBody>
      </p:sp>
      <p:sp>
        <p:nvSpPr>
          <p:cNvPr id="226" name="th"/>
          <p:cNvSpPr txBox="1"/>
          <p:nvPr/>
        </p:nvSpPr>
        <p:spPr>
          <a:xfrm>
            <a:off x="5124336" y="1371600"/>
            <a:ext cx="633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</a:p>
        </p:txBody>
      </p:sp>
      <p:sp>
        <p:nvSpPr>
          <p:cNvPr id="227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8" name="cell"/>
          <p:cNvSpPr txBox="1"/>
          <p:nvPr/>
        </p:nvSpPr>
        <p:spPr>
          <a:xfrm>
            <a:off x="698640" y="1771600"/>
            <a:ext cx="41256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0  (또는 hybrid의 d = 0)</a:t>
            </a:r>
          </a:p>
        </p:txBody>
      </p:sp>
      <p:sp>
        <p:nvSpPr>
          <p:cNvPr id="229" name="cell"/>
          <p:cNvSpPr txBox="1"/>
          <p:nvPr/>
        </p:nvSpPr>
        <p:spPr>
          <a:xfrm>
            <a:off x="5124336" y="1771600"/>
            <a:ext cx="63385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순수 pseudocost</a:t>
            </a:r>
          </a:p>
        </p:txBody>
      </p:sp>
      <p:sp>
        <p:nvSpPr>
          <p:cNvPr id="230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1" name="cell"/>
          <p:cNvSpPr txBox="1"/>
          <p:nvPr/>
        </p:nvSpPr>
        <p:spPr>
          <a:xfrm>
            <a:off x="698640" y="2243060"/>
            <a:ext cx="41256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1</a:t>
            </a:r>
          </a:p>
        </p:txBody>
      </p:sp>
      <p:sp>
        <p:nvSpPr>
          <p:cNvPr id="232" name="cell"/>
          <p:cNvSpPr txBox="1"/>
          <p:nvPr/>
        </p:nvSpPr>
        <p:spPr>
          <a:xfrm>
            <a:off x="5124336" y="2243060"/>
            <a:ext cx="63385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branching으로 초기화한 pseudocost</a:t>
            </a:r>
          </a:p>
        </p:txBody>
      </p:sp>
      <p:sp>
        <p:nvSpPr>
          <p:cNvPr id="233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4" name="cell"/>
          <p:cNvSpPr txBox="1"/>
          <p:nvPr/>
        </p:nvSpPr>
        <p:spPr>
          <a:xfrm>
            <a:off x="698640" y="2714520"/>
            <a:ext cx="41256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η_rel, d → ∞</a:t>
            </a:r>
          </a:p>
        </p:txBody>
      </p:sp>
      <p:sp>
        <p:nvSpPr>
          <p:cNvPr id="235" name="cell"/>
          <p:cNvSpPr txBox="1"/>
          <p:nvPr/>
        </p:nvSpPr>
        <p:spPr>
          <a:xfrm>
            <a:off x="5124336" y="2714520"/>
            <a:ext cx="63385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branching</a:t>
            </a:r>
          </a:p>
        </p:txBody>
      </p:sp>
      <p:sp>
        <p:nvSpPr>
          <p:cNvPr id="236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7" name="cell"/>
          <p:cNvSpPr txBox="1"/>
          <p:nvPr/>
        </p:nvSpPr>
        <p:spPr>
          <a:xfrm>
            <a:off x="698640" y="3185980"/>
            <a:ext cx="41256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위에 더해 λ = ∞</a:t>
            </a:r>
          </a:p>
        </p:txBody>
      </p:sp>
      <p:sp>
        <p:nvSpPr>
          <p:cNvPr id="238" name="cell"/>
          <p:cNvSpPr txBox="1"/>
          <p:nvPr/>
        </p:nvSpPr>
        <p:spPr>
          <a:xfrm>
            <a:off x="5124336" y="3185980"/>
            <a:ext cx="63385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 strong branching</a:t>
            </a:r>
          </a:p>
        </p:txBody>
      </p:sp>
      <p:sp>
        <p:nvSpPr>
          <p:cNvPr id="239" name="note"/>
          <p:cNvSpPr txBox="1"/>
          <p:nvPr/>
        </p:nvSpPr>
        <p:spPr>
          <a:xfrm>
            <a:off x="548640" y="369744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은 pseudocost에서 strong branching 쪽으로 연속적으로 움직이는 다이얼입니다. 논문에서 가장 좋은 성능은 η_rel ∈ [4, 8] 구간에서 나옵니다.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실험 결과 읽기: Table 1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4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Table 1. 기하평균, look-ahead λ=4. 833 MHz Alpha, 시간 제한 1시간, 자체 솔버 SIP</a:t>
            </a:r>
          </a:p>
        </p:txBody>
      </p:sp>
      <p:sp>
        <p:nvSpPr>
          <p:cNvPr id="241" name="th"/>
          <p:cNvSpPr txBox="1"/>
          <p:nvPr/>
        </p:nvSpPr>
        <p:spPr>
          <a:xfrm>
            <a:off x="698640" y="1371600"/>
            <a:ext cx="3651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</a:t>
            </a:r>
          </a:p>
        </p:txBody>
      </p:sp>
      <p:sp>
        <p:nvSpPr>
          <p:cNvPr id="242" name="th"/>
          <p:cNvSpPr txBox="1"/>
          <p:nvPr/>
        </p:nvSpPr>
        <p:spPr>
          <a:xfrm>
            <a:off x="4650154" y="1371600"/>
            <a:ext cx="2070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</a:t>
            </a:r>
          </a:p>
        </p:txBody>
      </p:sp>
      <p:sp>
        <p:nvSpPr>
          <p:cNvPr id="243" name="th"/>
          <p:cNvSpPr txBox="1"/>
          <p:nvPr/>
        </p:nvSpPr>
        <p:spPr>
          <a:xfrm>
            <a:off x="7021062" y="1371600"/>
            <a:ext cx="2070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시간(초)</a:t>
            </a:r>
          </a:p>
        </p:txBody>
      </p:sp>
      <p:sp>
        <p:nvSpPr>
          <p:cNvPr id="244" name="th"/>
          <p:cNvSpPr txBox="1"/>
          <p:nvPr/>
        </p:nvSpPr>
        <p:spPr>
          <a:xfrm>
            <a:off x="9391970" y="1371600"/>
            <a:ext cx="2070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못 푼 인스턴스</a:t>
            </a:r>
          </a:p>
        </p:txBody>
      </p:sp>
      <p:sp>
        <p:nvSpPr>
          <p:cNvPr id="245" name="row"/>
          <p:cNvSpPr/>
          <p:nvPr/>
        </p:nvSpPr>
        <p:spPr>
          <a:xfrm>
            <a:off x="548640" y="177160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6" name="cell"/>
          <p:cNvSpPr txBox="1"/>
          <p:nvPr/>
        </p:nvSpPr>
        <p:spPr>
          <a:xfrm>
            <a:off x="698640" y="177160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random</a:t>
            </a:r>
          </a:p>
        </p:txBody>
      </p:sp>
      <p:sp>
        <p:nvSpPr>
          <p:cNvPr id="247" name="cell"/>
          <p:cNvSpPr txBox="1"/>
          <p:nvPr/>
        </p:nvSpPr>
        <p:spPr>
          <a:xfrm>
            <a:off x="4650154" y="17716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275,789</a:t>
            </a:r>
          </a:p>
        </p:txBody>
      </p:sp>
      <p:sp>
        <p:nvSpPr>
          <p:cNvPr id="248" name="cell"/>
          <p:cNvSpPr txBox="1"/>
          <p:nvPr/>
        </p:nvSpPr>
        <p:spPr>
          <a:xfrm>
            <a:off x="7021062" y="17716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923.6</a:t>
            </a:r>
          </a:p>
        </p:txBody>
      </p:sp>
      <p:sp>
        <p:nvSpPr>
          <p:cNvPr id="249" name="cell"/>
          <p:cNvSpPr txBox="1"/>
          <p:nvPr/>
        </p:nvSpPr>
        <p:spPr>
          <a:xfrm>
            <a:off x="9391970" y="17716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</a:p>
        </p:txBody>
      </p:sp>
      <p:sp>
        <p:nvSpPr>
          <p:cNvPr id="250" name="row"/>
          <p:cNvSpPr/>
          <p:nvPr/>
        </p:nvSpPr>
        <p:spPr>
          <a:xfrm>
            <a:off x="548640" y="217306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1" name="cell"/>
          <p:cNvSpPr txBox="1"/>
          <p:nvPr/>
        </p:nvSpPr>
        <p:spPr>
          <a:xfrm>
            <a:off x="698640" y="217306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most infeasible</a:t>
            </a:r>
          </a:p>
        </p:txBody>
      </p:sp>
      <p:sp>
        <p:nvSpPr>
          <p:cNvPr id="252" name="cell"/>
          <p:cNvSpPr txBox="1"/>
          <p:nvPr/>
        </p:nvSpPr>
        <p:spPr>
          <a:xfrm>
            <a:off x="4650154" y="21730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262,369</a:t>
            </a:r>
          </a:p>
        </p:txBody>
      </p:sp>
      <p:sp>
        <p:nvSpPr>
          <p:cNvPr id="253" name="cell"/>
          <p:cNvSpPr txBox="1"/>
          <p:nvPr/>
        </p:nvSpPr>
        <p:spPr>
          <a:xfrm>
            <a:off x="7021062" y="21730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938.0</a:t>
            </a:r>
          </a:p>
        </p:txBody>
      </p:sp>
      <p:sp>
        <p:nvSpPr>
          <p:cNvPr id="254" name="cell"/>
          <p:cNvSpPr txBox="1"/>
          <p:nvPr/>
        </p:nvSpPr>
        <p:spPr>
          <a:xfrm>
            <a:off x="9391970" y="21730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</a:p>
        </p:txBody>
      </p:sp>
      <p:sp>
        <p:nvSpPr>
          <p:cNvPr id="255" name="row"/>
          <p:cNvSpPr/>
          <p:nvPr/>
        </p:nvSpPr>
        <p:spPr>
          <a:xfrm>
            <a:off x="548640" y="257452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6" name="cell"/>
          <p:cNvSpPr txBox="1"/>
          <p:nvPr/>
        </p:nvSpPr>
        <p:spPr>
          <a:xfrm>
            <a:off x="698640" y="257452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</a:t>
            </a:r>
          </a:p>
        </p:txBody>
      </p:sp>
      <p:sp>
        <p:nvSpPr>
          <p:cNvPr id="257" name="cell"/>
          <p:cNvSpPr txBox="1"/>
          <p:nvPr/>
        </p:nvSpPr>
        <p:spPr>
          <a:xfrm>
            <a:off x="4650154" y="25745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88,707</a:t>
            </a:r>
          </a:p>
        </p:txBody>
      </p:sp>
      <p:sp>
        <p:nvSpPr>
          <p:cNvPr id="258" name="cell"/>
          <p:cNvSpPr txBox="1"/>
          <p:nvPr/>
        </p:nvSpPr>
        <p:spPr>
          <a:xfrm>
            <a:off x="7021062" y="25745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283.4</a:t>
            </a:r>
          </a:p>
        </p:txBody>
      </p:sp>
      <p:sp>
        <p:nvSpPr>
          <p:cNvPr id="259" name="cell"/>
          <p:cNvSpPr txBox="1"/>
          <p:nvPr/>
        </p:nvSpPr>
        <p:spPr>
          <a:xfrm>
            <a:off x="9391970" y="25745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260" name="row"/>
          <p:cNvSpPr/>
          <p:nvPr/>
        </p:nvSpPr>
        <p:spPr>
          <a:xfrm>
            <a:off x="548640" y="297598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1" name="cell"/>
          <p:cNvSpPr txBox="1"/>
          <p:nvPr/>
        </p:nvSpPr>
        <p:spPr>
          <a:xfrm>
            <a:off x="698640" y="297598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 strong</a:t>
            </a:r>
          </a:p>
        </p:txBody>
      </p:sp>
      <p:sp>
        <p:nvSpPr>
          <p:cNvPr id="262" name="cell"/>
          <p:cNvSpPr txBox="1"/>
          <p:nvPr/>
        </p:nvSpPr>
        <p:spPr>
          <a:xfrm>
            <a:off x="4650154" y="297598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7,242</a:t>
            </a:r>
          </a:p>
        </p:txBody>
      </p:sp>
      <p:sp>
        <p:nvSpPr>
          <p:cNvPr id="263" name="cell"/>
          <p:cNvSpPr txBox="1"/>
          <p:nvPr/>
        </p:nvSpPr>
        <p:spPr>
          <a:xfrm>
            <a:off x="7021062" y="297598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504.4</a:t>
            </a:r>
          </a:p>
        </p:txBody>
      </p:sp>
      <p:sp>
        <p:nvSpPr>
          <p:cNvPr id="264" name="cell"/>
          <p:cNvSpPr txBox="1"/>
          <p:nvPr/>
        </p:nvSpPr>
        <p:spPr>
          <a:xfrm>
            <a:off x="9391970" y="297598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265" name="row"/>
          <p:cNvSpPr/>
          <p:nvPr/>
        </p:nvSpPr>
        <p:spPr>
          <a:xfrm>
            <a:off x="548640" y="337744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6" name="cell"/>
          <p:cNvSpPr txBox="1"/>
          <p:nvPr/>
        </p:nvSpPr>
        <p:spPr>
          <a:xfrm>
            <a:off x="698640" y="337744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hybrid (깊이 10)</a:t>
            </a:r>
          </a:p>
        </p:txBody>
      </p:sp>
      <p:sp>
        <p:nvSpPr>
          <p:cNvPr id="267" name="cell"/>
          <p:cNvSpPr txBox="1"/>
          <p:nvPr/>
        </p:nvSpPr>
        <p:spPr>
          <a:xfrm>
            <a:off x="4650154" y="337744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65,966</a:t>
            </a:r>
          </a:p>
        </p:txBody>
      </p:sp>
      <p:sp>
        <p:nvSpPr>
          <p:cNvPr id="268" name="cell"/>
          <p:cNvSpPr txBox="1"/>
          <p:nvPr/>
        </p:nvSpPr>
        <p:spPr>
          <a:xfrm>
            <a:off x="7021062" y="337744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229.6</a:t>
            </a:r>
          </a:p>
        </p:txBody>
      </p:sp>
      <p:sp>
        <p:nvSpPr>
          <p:cNvPr id="269" name="cell"/>
          <p:cNvSpPr txBox="1"/>
          <p:nvPr/>
        </p:nvSpPr>
        <p:spPr>
          <a:xfrm>
            <a:off x="9391970" y="337744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270" name="row"/>
          <p:cNvSpPr/>
          <p:nvPr/>
        </p:nvSpPr>
        <p:spPr>
          <a:xfrm>
            <a:off x="548640" y="377890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1" name="cell"/>
          <p:cNvSpPr txBox="1"/>
          <p:nvPr/>
        </p:nvSpPr>
        <p:spPr>
          <a:xfrm>
            <a:off x="698640" y="377890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η_rel = 1</a:t>
            </a:r>
          </a:p>
        </p:txBody>
      </p:sp>
      <p:sp>
        <p:nvSpPr>
          <p:cNvPr id="272" name="cell"/>
          <p:cNvSpPr txBox="1"/>
          <p:nvPr/>
        </p:nvSpPr>
        <p:spPr>
          <a:xfrm>
            <a:off x="4650154" y="37789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70,014</a:t>
            </a:r>
          </a:p>
        </p:txBody>
      </p:sp>
      <p:sp>
        <p:nvSpPr>
          <p:cNvPr id="273" name="cell"/>
          <p:cNvSpPr txBox="1"/>
          <p:nvPr/>
        </p:nvSpPr>
        <p:spPr>
          <a:xfrm>
            <a:off x="7021062" y="37789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216.4</a:t>
            </a:r>
          </a:p>
        </p:txBody>
      </p:sp>
      <p:sp>
        <p:nvSpPr>
          <p:cNvPr id="274" name="cell"/>
          <p:cNvSpPr txBox="1"/>
          <p:nvPr/>
        </p:nvSpPr>
        <p:spPr>
          <a:xfrm>
            <a:off x="9391970" y="377890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</a:p>
        </p:txBody>
      </p:sp>
      <p:sp>
        <p:nvSpPr>
          <p:cNvPr id="275" name="row"/>
          <p:cNvSpPr/>
          <p:nvPr/>
        </p:nvSpPr>
        <p:spPr>
          <a:xfrm>
            <a:off x="548640" y="418036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6" name="cell"/>
          <p:cNvSpPr txBox="1"/>
          <p:nvPr/>
        </p:nvSpPr>
        <p:spPr>
          <a:xfrm>
            <a:off x="698640" y="418036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η_rel = 4</a:t>
            </a:r>
          </a:p>
        </p:txBody>
      </p:sp>
      <p:sp>
        <p:nvSpPr>
          <p:cNvPr id="277" name="cell"/>
          <p:cNvSpPr txBox="1"/>
          <p:nvPr/>
        </p:nvSpPr>
        <p:spPr>
          <a:xfrm>
            <a:off x="4650154" y="41803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53,523</a:t>
            </a:r>
          </a:p>
        </p:txBody>
      </p:sp>
      <p:sp>
        <p:nvSpPr>
          <p:cNvPr id="278" name="cell"/>
          <p:cNvSpPr txBox="1"/>
          <p:nvPr/>
        </p:nvSpPr>
        <p:spPr>
          <a:xfrm>
            <a:off x="7021062" y="41803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178.2</a:t>
            </a:r>
          </a:p>
        </p:txBody>
      </p:sp>
      <p:sp>
        <p:nvSpPr>
          <p:cNvPr id="279" name="cell"/>
          <p:cNvSpPr txBox="1"/>
          <p:nvPr/>
        </p:nvSpPr>
        <p:spPr>
          <a:xfrm>
            <a:off x="9391970" y="418036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</a:t>
            </a:r>
          </a:p>
        </p:txBody>
      </p:sp>
      <p:sp>
        <p:nvSpPr>
          <p:cNvPr id="280" name="row"/>
          <p:cNvSpPr/>
          <p:nvPr/>
        </p:nvSpPr>
        <p:spPr>
          <a:xfrm>
            <a:off x="548640" y="458182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1" name="cell"/>
          <p:cNvSpPr txBox="1"/>
          <p:nvPr/>
        </p:nvSpPr>
        <p:spPr>
          <a:xfrm>
            <a:off x="698640" y="4581820"/>
            <a:ext cx="3651514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η_rel = 8</a:t>
            </a:r>
          </a:p>
        </p:txBody>
      </p:sp>
      <p:sp>
        <p:nvSpPr>
          <p:cNvPr id="282" name="cell"/>
          <p:cNvSpPr txBox="1"/>
          <p:nvPr/>
        </p:nvSpPr>
        <p:spPr>
          <a:xfrm>
            <a:off x="4650154" y="45818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48,773</a:t>
            </a:r>
          </a:p>
        </p:txBody>
      </p:sp>
      <p:sp>
        <p:nvSpPr>
          <p:cNvPr id="283" name="cell"/>
          <p:cNvSpPr txBox="1"/>
          <p:nvPr/>
        </p:nvSpPr>
        <p:spPr>
          <a:xfrm>
            <a:off x="7021062" y="45818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170.5</a:t>
            </a:r>
          </a:p>
        </p:txBody>
      </p:sp>
      <p:sp>
        <p:nvSpPr>
          <p:cNvPr id="284" name="cell"/>
          <p:cNvSpPr txBox="1"/>
          <p:nvPr/>
        </p:nvSpPr>
        <p:spPr>
          <a:xfrm>
            <a:off x="9391970" y="4581820"/>
            <a:ext cx="2070908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</a:t>
            </a:r>
          </a:p>
        </p:txBody>
      </p:sp>
      <p:sp>
        <p:nvSpPr>
          <p:cNvPr id="285" name="note"/>
          <p:cNvSpPr txBox="1"/>
          <p:nvPr/>
        </p:nvSpPr>
        <p:spPr>
          <a:xfrm>
            <a:off x="548640" y="502328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인스턴스: MIPLIB 2003 등에서 CPLEX 9.0이 5,000 노드 이상, 1시간 이하로 푸는 것만 골랐습니다.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표에서 읽어야 할 4가지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8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3.3절</a:t>
            </a:r>
          </a:p>
        </p:txBody>
      </p:sp>
      <p:sp>
        <p:nvSpPr>
          <p:cNvPr id="287" name="card"/>
          <p:cNvSpPr/>
          <p:nvPr/>
        </p:nvSpPr>
        <p:spPr>
          <a:xfrm>
            <a:off x="548640" y="1371600"/>
            <a:ext cx="650138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8" name="head"/>
          <p:cNvSpPr txBox="1"/>
          <p:nvPr/>
        </p:nvSpPr>
        <p:spPr>
          <a:xfrm>
            <a:off x="777240" y="1521600"/>
            <a:ext cx="604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결론 (3.3절)</a:t>
            </a:r>
          </a:p>
        </p:txBody>
      </p:sp>
      <p:sp>
        <p:nvSpPr>
          <p:cNvPr id="289" name="body"/>
          <p:cNvSpPr txBox="1"/>
          <p:nvPr/>
        </p:nvSpPr>
        <p:spPr>
          <a:xfrm>
            <a:off x="777240" y="1997360"/>
            <a:ext cx="604418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full strong은 노드가 최소(7,242)지만 시간은 504.4초.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노드 수 ≠ 시간. 참고로 strong branching 계열은 비실현이거나 상한을 넘는 자식을 노드로 안 세어 노드 수가 약 절반으로 잡힌다는 주석이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시간 기준으로 reliability는 어떤 파라미터에서도 hybrid보다 낫습니다.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hybrid는 깊이가 고정이라 트리 모양에 못 맞춥니다.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look-ahead λ는 일정 값 이상에서 노드 수에 큰 영향이 없고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커지면 노드당 시간만 늘어납니다. 후보가 이미 pseudocost 순으로 정렬돼 있어 λ=4로 충분합니다.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η_rel 을 키우면 노드 수는 줄지만 시간은 η_rel = 8까지 좋아지다 나빠집니다.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(η_rel=8, λ=4)가 최적점.</a:t>
            </a:r>
          </a:p>
        </p:txBody>
      </p:sp>
      <p:sp>
        <p:nvSpPr>
          <p:cNvPr id="290" name="card"/>
          <p:cNvSpPr/>
          <p:nvPr/>
        </p:nvSpPr>
        <p:spPr>
          <a:xfrm>
            <a:off x="7278624" y="1371600"/>
            <a:ext cx="433425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1" name="head"/>
          <p:cNvSpPr txBox="1"/>
          <p:nvPr/>
        </p:nvSpPr>
        <p:spPr>
          <a:xfrm>
            <a:off x="7507224" y="1521600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별 결과</a:t>
            </a:r>
          </a:p>
        </p:txBody>
      </p:sp>
      <p:sp>
        <p:nvSpPr>
          <p:cNvPr id="292" name="body"/>
          <p:cNvSpPr txBox="1"/>
          <p:nvPr/>
        </p:nvSpPr>
        <p:spPr>
          <a:xfrm>
            <a:off x="7507224" y="1997360"/>
            <a:ext cx="387705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1: 노드 70,014 / 216.4초 / 못 푼 1개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4: 노드 53,523 / 178.2초 / 0개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8: 노드 48,773 /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170.5초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/ 0개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16: 노드 44,650 / 179.0초 / 0개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32: 노드 39,655 / 184.2초 / 0개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수는 η가 클수록 줄지만 strong branching 비용이 늘어 시간은 8에서 바닥입니다.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"η_rel = 4~8"은 증명된 값인가?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9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Hendel (2015), CPAIOR, LNCS 9075. PDF 본문에서 확인</a:t>
            </a:r>
          </a:p>
        </p:txBody>
      </p:sp>
      <p:sp>
        <p:nvSpPr>
          <p:cNvPr id="294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5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아닙니다. 경험적 최적점입니다</a:t>
            </a:r>
          </a:p>
        </p:txBody>
      </p:sp>
      <p:sp>
        <p:nvSpPr>
          <p:cNvPr id="296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논문은 한 솔버(SIP)와 한 인스턴스 집합에서 측정했습니다.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"관측이 몇 번이면 pseudocost가 믿을 만해진다"를 보인 이론은 제가 찾은 범위에서는 없었습니다.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Hendel (2015)은 고정 횟수 문턱값의 약점을 지적합니다: 구조가 다른 변수에 같은 횟수를 요구하고, 문제 크기에 맞는지 알 수 없다.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대안으로 변수별 pseudocost의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분산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신뢰도를 판단하는 두 기준(rer, hyp)을 제안했습니다.</a:t>
            </a:r>
          </a:p>
        </p:txBody>
      </p:sp>
      <p:sp>
        <p:nvSpPr>
          <p:cNvPr id="297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8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Hendel의 실험 (SCIP 3.1.0.2, 135개)</a:t>
            </a:r>
          </a:p>
        </p:txBody>
      </p:sp>
      <p:sp>
        <p:nvSpPr>
          <p:cNvPr id="299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 5 (기준): 노드 100%, 시간 기준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rer-0.01: 노드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80.5%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시간 +6.1%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hyp: 노드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82.4%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시간 +1.5%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(98개를 모두 푼 경우의 값)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노드는 줄었지만 시간은 줄지 않았습니다. "통계 기준이 낫다"고 단정할 수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 Bodic–Nemhauser 모델은 점수 함수 이론이고 문턱값은 다루지 않습니다.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지금의 SCIP는 어떻게 설정돼 있나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0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파라미터 목록, Hendel (2015)</a:t>
            </a:r>
          </a:p>
        </p:txBody>
      </p:sp>
      <p:sp>
        <p:nvSpPr>
          <p:cNvPr id="301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2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기본값 (PySCIPOpt 6.3.0 / SCIP 10.0)</a:t>
            </a:r>
          </a:p>
        </p:txBody>
      </p:sp>
      <p:sp>
        <p:nvSpPr>
          <p:cNvPr id="303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branching/scorefunc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(곱)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branching/scorefac = 0.167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branching/relpscost/minreliable = 1.0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branching/relpscost/maxreliable = 5.0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branching/relpscost/maxlookahead = 9</a:t>
            </a:r>
          </a:p>
        </p:txBody>
      </p:sp>
      <p:sp>
        <p:nvSpPr>
          <p:cNvPr id="304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5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2005년 논문과 비교</a:t>
            </a:r>
          </a:p>
        </p:txBody>
      </p:sp>
      <p:sp>
        <p:nvSpPr>
          <p:cNvPr id="306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최적점은 η_rel = 8, λ = 4. 지금 기본값은 신뢰도 기준 1~5, look-ahead 9.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Hendel (2015)은 SCIP 3.1 시점에 고정 문턱값이 5였고 동적으로 조정된다고 서술합니다.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minreliable, maxreliable 두 값이 정확히 어떻게 쓰이는지는 소스에서 확인하지 못했습니다.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점수는 2005년의 가중합(μ=1/6) 대신 지금은 곱이 기본입니다.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정리: 규칙 6가지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0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</a:t>
            </a:r>
          </a:p>
        </p:txBody>
      </p:sp>
      <p:sp>
        <p:nvSpPr>
          <p:cNvPr id="308" name="th"/>
          <p:cNvSpPr txBox="1"/>
          <p:nvPr/>
        </p:nvSpPr>
        <p:spPr>
          <a:xfrm>
            <a:off x="698640" y="1371600"/>
            <a:ext cx="2512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</a:t>
            </a:r>
          </a:p>
        </p:txBody>
      </p:sp>
      <p:sp>
        <p:nvSpPr>
          <p:cNvPr id="309" name="th"/>
          <p:cNvSpPr txBox="1"/>
          <p:nvPr/>
        </p:nvSpPr>
        <p:spPr>
          <a:xfrm>
            <a:off x="3511582" y="1371600"/>
            <a:ext cx="307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Δ를 어떻게 얻나</a:t>
            </a:r>
          </a:p>
        </p:txBody>
      </p:sp>
      <p:sp>
        <p:nvSpPr>
          <p:cNvPr id="310" name="th"/>
          <p:cNvSpPr txBox="1"/>
          <p:nvPr/>
        </p:nvSpPr>
        <p:spPr>
          <a:xfrm>
            <a:off x="6887112" y="1371600"/>
            <a:ext cx="176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</a:t>
            </a:r>
          </a:p>
        </p:txBody>
      </p:sp>
      <p:sp>
        <p:nvSpPr>
          <p:cNvPr id="311" name="th"/>
          <p:cNvSpPr txBox="1"/>
          <p:nvPr/>
        </p:nvSpPr>
        <p:spPr>
          <a:xfrm>
            <a:off x="8949936" y="1371600"/>
            <a:ext cx="2512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특징</a:t>
            </a:r>
          </a:p>
        </p:txBody>
      </p:sp>
      <p:sp>
        <p:nvSpPr>
          <p:cNvPr id="312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3" name="cell"/>
          <p:cNvSpPr txBox="1"/>
          <p:nvPr/>
        </p:nvSpPr>
        <p:spPr>
          <a:xfrm>
            <a:off x="698640" y="177160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most infeasible</a:t>
            </a:r>
          </a:p>
        </p:txBody>
      </p:sp>
      <p:sp>
        <p:nvSpPr>
          <p:cNvPr id="314" name="cell"/>
          <p:cNvSpPr txBox="1"/>
          <p:nvPr/>
        </p:nvSpPr>
        <p:spPr>
          <a:xfrm>
            <a:off x="3511582" y="177160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소수 부분만 봄 (Δ 안 씀)</a:t>
            </a:r>
          </a:p>
        </p:txBody>
      </p:sp>
      <p:sp>
        <p:nvSpPr>
          <p:cNvPr id="315" name="cell"/>
          <p:cNvSpPr txBox="1"/>
          <p:nvPr/>
        </p:nvSpPr>
        <p:spPr>
          <a:xfrm>
            <a:off x="6887112" y="177160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거의 0</a:t>
            </a:r>
          </a:p>
        </p:txBody>
      </p:sp>
      <p:sp>
        <p:nvSpPr>
          <p:cNvPr id="316" name="cell"/>
          <p:cNvSpPr txBox="1"/>
          <p:nvPr/>
        </p:nvSpPr>
        <p:spPr>
          <a:xfrm>
            <a:off x="8949936" y="177160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random과 비슷</a:t>
            </a:r>
          </a:p>
        </p:txBody>
      </p:sp>
      <p:sp>
        <p:nvSpPr>
          <p:cNvPr id="317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8" name="cell"/>
          <p:cNvSpPr txBox="1"/>
          <p:nvPr/>
        </p:nvSpPr>
        <p:spPr>
          <a:xfrm>
            <a:off x="698640" y="224306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branching</a:t>
            </a:r>
          </a:p>
        </p:txBody>
      </p:sp>
      <p:sp>
        <p:nvSpPr>
          <p:cNvPr id="319" name="cell"/>
          <p:cNvSpPr txBox="1"/>
          <p:nvPr/>
        </p:nvSpPr>
        <p:spPr>
          <a:xfrm>
            <a:off x="3511582" y="224306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자식 LP를 직접 풂</a:t>
            </a:r>
          </a:p>
        </p:txBody>
      </p:sp>
      <p:sp>
        <p:nvSpPr>
          <p:cNvPr id="320" name="cell"/>
          <p:cNvSpPr txBox="1"/>
          <p:nvPr/>
        </p:nvSpPr>
        <p:spPr>
          <a:xfrm>
            <a:off x="6887112" y="224306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노드당 매우 큼</a:t>
            </a:r>
          </a:p>
        </p:txBody>
      </p:sp>
      <p:sp>
        <p:nvSpPr>
          <p:cNvPr id="321" name="cell"/>
          <p:cNvSpPr txBox="1"/>
          <p:nvPr/>
        </p:nvSpPr>
        <p:spPr>
          <a:xfrm>
            <a:off x="8949936" y="224306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최소, 시간은 큼</a:t>
            </a:r>
          </a:p>
        </p:txBody>
      </p:sp>
      <p:sp>
        <p:nvSpPr>
          <p:cNvPr id="322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3" name="cell"/>
          <p:cNvSpPr txBox="1"/>
          <p:nvPr/>
        </p:nvSpPr>
        <p:spPr>
          <a:xfrm>
            <a:off x="698640" y="271452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</a:t>
            </a:r>
          </a:p>
        </p:txBody>
      </p:sp>
      <p:sp>
        <p:nvSpPr>
          <p:cNvPr id="324" name="cell"/>
          <p:cNvSpPr txBox="1"/>
          <p:nvPr/>
        </p:nvSpPr>
        <p:spPr>
          <a:xfrm>
            <a:off x="3511582" y="271452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평균으로 추정</a:t>
            </a:r>
          </a:p>
        </p:txBody>
      </p:sp>
      <p:sp>
        <p:nvSpPr>
          <p:cNvPr id="325" name="cell"/>
          <p:cNvSpPr txBox="1"/>
          <p:nvPr/>
        </p:nvSpPr>
        <p:spPr>
          <a:xfrm>
            <a:off x="6887112" y="271452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거의 0</a:t>
            </a:r>
          </a:p>
        </p:txBody>
      </p:sp>
      <p:sp>
        <p:nvSpPr>
          <p:cNvPr id="326" name="cell"/>
          <p:cNvSpPr txBox="1"/>
          <p:nvPr/>
        </p:nvSpPr>
        <p:spPr>
          <a:xfrm>
            <a:off x="8949936" y="271452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초반에 기록 부족</a:t>
            </a:r>
          </a:p>
        </p:txBody>
      </p:sp>
      <p:sp>
        <p:nvSpPr>
          <p:cNvPr id="327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8" name="cell"/>
          <p:cNvSpPr txBox="1"/>
          <p:nvPr/>
        </p:nvSpPr>
        <p:spPr>
          <a:xfrm>
            <a:off x="698640" y="318598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hybrid</a:t>
            </a:r>
          </a:p>
        </p:txBody>
      </p:sp>
      <p:sp>
        <p:nvSpPr>
          <p:cNvPr id="329" name="cell"/>
          <p:cNvSpPr txBox="1"/>
          <p:nvPr/>
        </p:nvSpPr>
        <p:spPr>
          <a:xfrm>
            <a:off x="3511582" y="318598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윗부분 strong, 아래 pseudocost</a:t>
            </a:r>
          </a:p>
        </p:txBody>
      </p:sp>
      <p:sp>
        <p:nvSpPr>
          <p:cNvPr id="330" name="cell"/>
          <p:cNvSpPr txBox="1"/>
          <p:nvPr/>
        </p:nvSpPr>
        <p:spPr>
          <a:xfrm>
            <a:off x="6887112" y="318598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</a:t>
            </a:r>
          </a:p>
        </p:txBody>
      </p:sp>
      <p:sp>
        <p:nvSpPr>
          <p:cNvPr id="331" name="cell"/>
          <p:cNvSpPr txBox="1"/>
          <p:nvPr/>
        </p:nvSpPr>
        <p:spPr>
          <a:xfrm>
            <a:off x="8949936" y="318598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깊이 고정이 약점</a:t>
            </a:r>
          </a:p>
        </p:txBody>
      </p:sp>
      <p:sp>
        <p:nvSpPr>
          <p:cNvPr id="332" name="row"/>
          <p:cNvSpPr/>
          <p:nvPr/>
        </p:nvSpPr>
        <p:spPr>
          <a:xfrm>
            <a:off x="548640" y="365744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3" name="cell"/>
          <p:cNvSpPr txBox="1"/>
          <p:nvPr/>
        </p:nvSpPr>
        <p:spPr>
          <a:xfrm>
            <a:off x="698640" y="365744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strong 초기화 pseudocost</a:t>
            </a:r>
          </a:p>
        </p:txBody>
      </p:sp>
      <p:sp>
        <p:nvSpPr>
          <p:cNvPr id="334" name="cell"/>
          <p:cNvSpPr txBox="1"/>
          <p:nvPr/>
        </p:nvSpPr>
        <p:spPr>
          <a:xfrm>
            <a:off x="3511582" y="365744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= 0 일 때만 strong</a:t>
            </a:r>
          </a:p>
        </p:txBody>
      </p:sp>
      <p:sp>
        <p:nvSpPr>
          <p:cNvPr id="335" name="cell"/>
          <p:cNvSpPr txBox="1"/>
          <p:nvPr/>
        </p:nvSpPr>
        <p:spPr>
          <a:xfrm>
            <a:off x="6887112" y="365744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</a:t>
            </a:r>
          </a:p>
        </p:txBody>
      </p:sp>
      <p:sp>
        <p:nvSpPr>
          <p:cNvPr id="336" name="cell"/>
          <p:cNvSpPr txBox="1"/>
          <p:nvPr/>
        </p:nvSpPr>
        <p:spPr>
          <a:xfrm>
            <a:off x="8949936" y="365744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1번도 믿음</a:t>
            </a:r>
          </a:p>
        </p:txBody>
      </p:sp>
      <p:sp>
        <p:nvSpPr>
          <p:cNvPr id="337" name="row"/>
          <p:cNvSpPr/>
          <p:nvPr/>
        </p:nvSpPr>
        <p:spPr>
          <a:xfrm>
            <a:off x="548640" y="41289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8" name="cell"/>
          <p:cNvSpPr txBox="1"/>
          <p:nvPr/>
        </p:nvSpPr>
        <p:spPr>
          <a:xfrm>
            <a:off x="698640" y="412890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</a:t>
            </a:r>
          </a:p>
        </p:txBody>
      </p:sp>
      <p:sp>
        <p:nvSpPr>
          <p:cNvPr id="339" name="cell"/>
          <p:cNvSpPr txBox="1"/>
          <p:nvPr/>
        </p:nvSpPr>
        <p:spPr>
          <a:xfrm>
            <a:off x="3511582" y="4128900"/>
            <a:ext cx="307553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&lt; η_rel 일 때만 strong</a:t>
            </a:r>
          </a:p>
        </p:txBody>
      </p:sp>
      <p:sp>
        <p:nvSpPr>
          <p:cNvPr id="340" name="cell"/>
          <p:cNvSpPr txBox="1"/>
          <p:nvPr/>
        </p:nvSpPr>
        <p:spPr>
          <a:xfrm>
            <a:off x="6887112" y="4128900"/>
            <a:ext cx="176282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</a:t>
            </a:r>
          </a:p>
        </p:txBody>
      </p:sp>
      <p:sp>
        <p:nvSpPr>
          <p:cNvPr id="341" name="cell"/>
          <p:cNvSpPr txBox="1"/>
          <p:nvPr/>
        </p:nvSpPr>
        <p:spPr>
          <a:xfrm>
            <a:off x="8949936" y="4128900"/>
            <a:ext cx="25129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 기준 최고 (η_rel = 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4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문제입니다. 풀이는 제가 계산한 값</a:t>
            </a:r>
          </a:p>
        </p:txBody>
      </p:sp>
      <p:sp>
        <p:nvSpPr>
          <p:cNvPr id="343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4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(풀어 보고 오른쪽을 보세요)</a:t>
            </a:r>
          </a:p>
        </p:txBody>
      </p:sp>
      <p:sp>
        <p:nvSpPr>
          <p:cNvPr id="345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x̄_i = 3.7, 부모 LP 값 20, 왼쪽 자식(x_i ≤ 3) LP 값 21.2, 오른쪽 자식(x_i ≥ 4) LP 값 20.9. Δ⁻, Δ⁺, f⁻, f⁺ 와 곱 점수는?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변수 j의 위쪽 관측이 (f, Δ) = (0.5, 1.0), (0.25, 0.75) 두 번이다. Ψ⁺ 는? 다음에 f⁺ = 0.4 이면 예상 Δ⁺ 는?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η_rel = 4 일 때 (η⁻, η⁺) = (7, 3) 인 변수의 pseudocost는 믿을 만한가?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full strong branching은 노드 수가 가장 적은데 왜 reliability보다 느린가?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"η_rel = 4~8이 최적"은 증명된 사실인가?</a:t>
            </a:r>
          </a:p>
        </p:txBody>
      </p:sp>
      <p:sp>
        <p:nvSpPr>
          <p:cNvPr id="346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7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정답과 해설</a:t>
            </a:r>
          </a:p>
        </p:txBody>
      </p:sp>
      <p:sp>
        <p:nvSpPr>
          <p:cNvPr id="348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Δ⁻ = 1.2, Δ⁺ = 0.9, f⁻ = 0.7, f⁺ = 0.3, 곱 = 1.2 × 0.9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ς = 2.0, 3.0 → σ = 5.0, η = 2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Ψ⁺ = 2.5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예상 Δ⁺ = 0.4 × 2.5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min(7, 3) = 3 &lt; 4 이므로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믿기 어렵다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strong branching으로 다시 잰다.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노드 하나에서 후보 수 × 2개의 LP를 풀어서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노드당 비용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훨씬 큽니다.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아니오. 한 솔버·인스턴스 집합에서 얻은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경험적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최적점입니다.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2026-10-22T13:39:41Z</dcterms:created>
  <dcterms:modified xsi:type="dcterms:W3CDTF">2026-10-22T13:39:41Z</dcterms:modified>
</cp:coreProperties>
</file>