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9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리뷰 · 과외 노트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Conflict analysis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실패한 노드에서 배우기 — 과외 노트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6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MIP (Discrete Optimization 4, 4–20)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C9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Inhan Kang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아이디어: 막다른 길의 이유를 적어 둔다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01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1장</a:t>
            </a:r>
          </a:p>
        </p:txBody>
      </p:sp>
      <p:sp>
        <p:nvSpPr>
          <p:cNvPr id="102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3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무슨 문제를 푸는 기법인가</a:t>
            </a:r>
          </a:p>
        </p:txBody>
      </p:sp>
      <p:sp>
        <p:nvSpPr>
          <p:cNvPr id="104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분지한계법은 노드의 LP가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비실현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이거나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최선의 해보다 나빠지면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그 노드를 버립니다.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당시 MIP 솔버(CPLEX, Lindo, SIP, XPress)는 그냥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버리기만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반면 SAT 솔버는 비실현 부분 문제를 분석해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conflict clause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를 만들고 이후 탐색에서 재사용합니다.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논문의 제안: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일을 MIP에서 하자.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"부분 문제가 비실현이면, 그 원인이 된 변수 경계(분지 결정과 그 결과)의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최소한의 집합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찾고, 그 집합이 다시 나타나지 못하게 하는 제약을 학습한다."</a:t>
            </a:r>
          </a:p>
        </p:txBody>
      </p:sp>
      <p:sp>
        <p:nvSpPr>
          <p:cNvPr id="105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6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비유 (제가 만든 예)</a:t>
            </a:r>
          </a:p>
        </p:txBody>
      </p:sp>
      <p:sp>
        <p:nvSpPr>
          <p:cNvPr id="107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미로에서 A 문을 열고, B 문을 닫고, C 문을 열었더니 막다른 길이었다고 합시다.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그냥 되돌아가면 다른 가지에서 </a:t>
            </a: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이유로 또 막힙니다.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원인을 따져 보니 사실 </a:t>
            </a: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 열기 + B 닫기</a:t>
            </a: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만으로 이미 막힌 것이었고 C는 상관없었다면?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"A를 열고 B를 닫는 조합은 절대 안 된다"를 규칙으로 적어 둡니다. 이후 그 조합이 나오면 </a:t>
            </a: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C가 뭐든 볼 필요 없이</a:t>
            </a: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바로 가지칩니다.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이게 conflict analysis의 전부입니다. 나머지는 "원인을 어떻게 찾나"와 "규칙을 어떻게 적나"입니다.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MIP에서 어려운 점 두 가지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08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1장</a:t>
            </a:r>
          </a:p>
        </p:txBody>
      </p:sp>
      <p:sp>
        <p:nvSpPr>
          <p:cNvPr id="109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0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SAT 기법을 그대로 못 쓰나</a:t>
            </a:r>
          </a:p>
        </p:txBody>
      </p:sp>
      <p:sp>
        <p:nvSpPr>
          <p:cNvPr id="111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변수가 이진만이 아닙니다.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일반 정수와 연속변수도 있습니다. 한 변수의 경계가 루트에서 현재 노드까지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여러 번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바뀔 수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비실현의 원인이 보통 단일 제약이 아니라 LP 완화 전체입니다.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SAT는 절 하나가 비어서 충돌이 나는데, MIP는 여러 제약이 합쳐져 비실현이 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SAT 기법을 쓰기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전에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LP가 왜 비실현인지부터 찾아야 합니다.</a:t>
            </a:r>
          </a:p>
        </p:txBody>
      </p:sp>
      <p:sp>
        <p:nvSpPr>
          <p:cNvPr id="112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3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자료의 순서</a:t>
            </a:r>
          </a:p>
        </p:txBody>
      </p:sp>
      <p:sp>
        <p:nvSpPr>
          <p:cNvPr id="114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2부 (4~7번)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SAT에서 하는 일. 충돌 그래프, 컷, UIP, 비연대순 되돌아가기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3부 (8~14번)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MIP로 옮기기. 쌍대 광선으로 원인 찾고(Example 3.1, 3.5), 제약으로 만들기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4부 (15~16번)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실험 결과를 어떻게 읽나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마무리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한계와 확인 문제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먼저 SAT 쪽 개념을 알아 두면 MIP 부분이 훨씬 쉽습니다.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SAT에서 하는 일 (1): 전파와 충돌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15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2장</a:t>
            </a:r>
          </a:p>
        </p:txBody>
      </p:sp>
      <p:sp>
        <p:nvSpPr>
          <p:cNvPr id="116" name="card"/>
          <p:cNvSpPr/>
          <p:nvPr/>
        </p:nvSpPr>
        <p:spPr>
          <a:xfrm>
            <a:off x="54864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7" name="head"/>
          <p:cNvSpPr txBox="1"/>
          <p:nvPr/>
        </p:nvSpPr>
        <p:spPr>
          <a:xfrm>
            <a:off x="77724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BCP (불리언 제약 전파)</a:t>
            </a:r>
          </a:p>
        </p:txBody>
      </p:sp>
      <p:sp>
        <p:nvSpPr>
          <p:cNvPr id="118" name="body"/>
          <p:cNvSpPr txBox="1"/>
          <p:nvPr/>
        </p:nvSpPr>
        <p:spPr>
          <a:xfrm>
            <a:off x="77724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SAT 솔버는 DPLL 방식으로 변수를 0 또는 1로 고정하며 쪼갭니다.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고정할 때마다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BCP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 연쇄 추론을 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 하나가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 하나의 리터럴만 남으면(unit clause)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그 리터럴을 1로 고정합니다.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절의 모든 리터럴이 0이 되어 비면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충돌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</p:txBody>
      </p:sp>
      <p:sp>
        <p:nvSpPr>
          <p:cNvPr id="119" name="card"/>
          <p:cNvSpPr/>
          <p:nvPr/>
        </p:nvSpPr>
        <p:spPr>
          <a:xfrm>
            <a:off x="619506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0" name="head"/>
          <p:cNvSpPr txBox="1"/>
          <p:nvPr/>
        </p:nvSpPr>
        <p:spPr>
          <a:xfrm>
            <a:off x="642366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읽는 예 (제가 만든 예)</a:t>
            </a:r>
          </a:p>
        </p:txBody>
      </p:sp>
      <p:sp>
        <p:nvSpPr>
          <p:cNvPr id="121" name="body"/>
          <p:cNvSpPr txBox="1"/>
          <p:nvPr/>
        </p:nvSpPr>
        <p:spPr>
          <a:xfrm>
            <a:off x="642366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 (x₁ ∨ x₂ ∨ x₃) 에서 x₁ = 0, x₂ = 0 으로 정해지면 남은 리터럴은 x₃ 하나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x₃ = 1 강제.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절 (¬x₃ ∨ x₄) 가 있으면 x₃ = 1 이므로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x₄ = 1 강제.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이렇게 연쇄가 이어집니다.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그러다 어떤 절이 전부 0이 되면 충돌입니다. 그 연쇄를 거꾸로 따라가면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원인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찾을 수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인과 관계를 그림으로 그린 것이 다음 슬라이드의 충돌 그래프입니다.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SAT에서 하는 일 (2): 충돌 그래프와 컷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22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2장, Example 2.2</a:t>
            </a:r>
          </a:p>
        </p:txBody>
      </p:sp>
      <p:sp>
        <p:nvSpPr>
          <p:cNvPr id="123" name="card"/>
          <p:cNvSpPr/>
          <p:nvPr/>
        </p:nvSpPr>
        <p:spPr>
          <a:xfrm>
            <a:off x="54864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4" name="head"/>
          <p:cNvSpPr txBox="1"/>
          <p:nvPr/>
        </p:nvSpPr>
        <p:spPr>
          <a:xfrm>
            <a:off x="77724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충돌 그래프</a:t>
            </a:r>
          </a:p>
        </p:txBody>
      </p:sp>
      <p:sp>
        <p:nvSpPr>
          <p:cNvPr id="125" name="body"/>
          <p:cNvSpPr txBox="1"/>
          <p:nvPr/>
        </p:nvSpPr>
        <p:spPr>
          <a:xfrm>
            <a:off x="77724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정점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변수 값 지정 (예: x₄ = 1). 충돌을 나타내는 특별한 정점 λ 가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화살표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"이 값들이 저 값을 강제했다"는 추론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들어오는 화살표가 없는 정점 = </a:t>
            </a: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 정점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(우리가 직접 고른 결정)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 정점들과 충돌 정점 λ 를 가르는 </a:t>
            </a: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컷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마다 conflict clause 하나가 나옵니다.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컷의 이유 쪽 경계에 있는 리터럴 집합 V_f 를 모두 1로 고정하면 충돌이 나므로, </a:t>
            </a: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중 적어도 하나는 반대 값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이어야 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C_f = ⋁ ¬ℓ_j  (ℓ_j ∈ V_f)</a:t>
            </a:r>
          </a:p>
        </p:txBody>
      </p:sp>
      <p:sp>
        <p:nvSpPr>
          <p:cNvPr id="126" name="card"/>
          <p:cNvSpPr/>
          <p:nvPr/>
        </p:nvSpPr>
        <p:spPr>
          <a:xfrm>
            <a:off x="619506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7" name="head"/>
          <p:cNvSpPr txBox="1"/>
          <p:nvPr/>
        </p:nvSpPr>
        <p:spPr>
          <a:xfrm>
            <a:off x="642366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Example 2.2 (18개 절의 CNF)</a:t>
            </a:r>
          </a:p>
        </p:txBody>
      </p:sp>
      <p:sp>
        <p:nvSpPr>
          <p:cNvPr id="128" name="body"/>
          <p:cNvSpPr txBox="1"/>
          <p:nvPr/>
        </p:nvSpPr>
        <p:spPr>
          <a:xfrm>
            <a:off x="642366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분지: x₁=0, x₄=1, x₆=0, x₁₀=1, x₁₂=0 → 절 C₁₄ 에서 충돌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컷 A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분지 변수 전부 (x₁ ∨ ¬x₄ ∨ x₆ ∨ ¬x₁₀ ∨ x₁₂) → 현재 부분 문제에서만 위반되므로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쓸모없음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컷 D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(¬x₁₇ ∨ ¬x₁₈) → 이미 있는 충돌 감지 절 C₁₄ 와 같아 쓸모없음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컷 B (All-FUIP)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(x₃ ∨ ¬x₈ ∨ ¬x₁₅) →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쓸모 있음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컷 C (1-FUIP)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(¬x₈ ∨ ¬x₉ ∨ ¬x₁₅) →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쓸모 있음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쓸모 있는 컷은 분지 변수 쪽(너무 구체적)과 충돌 쪽(너무 뻔함)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사이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 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SAT에서 하는 일 (3): UIP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29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2장</a:t>
            </a:r>
          </a:p>
        </p:txBody>
      </p:sp>
      <p:sp>
        <p:nvSpPr>
          <p:cNvPr id="130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1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컷을 고를까</a:t>
            </a:r>
          </a:p>
        </p:txBody>
      </p:sp>
      <p:sp>
        <p:nvSpPr>
          <p:cNvPr id="132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깊이 수준 d 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UIP(unique implication point)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그 수준의 분지 정점에서 충돌 정점까지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경로가 반드시 지나는 정점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충돌 정점에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가장 가까운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UIP가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FUIP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 선형 시간에 한 번의 스캔으로 찾습니다.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직관: UIP는 "이 한 값만 알면 충돌이 나는" 병목입니다. 그 병목에서 자르면 절이 짧고 일반적입니다.</a:t>
            </a:r>
          </a:p>
        </p:txBody>
      </p:sp>
      <p:sp>
        <p:nvSpPr>
          <p:cNvPr id="133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4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가지 컷</a:t>
            </a:r>
          </a:p>
        </p:txBody>
      </p:sp>
      <p:sp>
        <p:nvSpPr>
          <p:cNvPr id="135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1-FUIP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마지막 깊이 수준의 FUIP까지를 이유 쪽으로 두는 컷. (예제의 컷 C)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All-FUIP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깊이 수준에서 FUIP를 이유 쪽에 두는 컷. (예제의 컷 B)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짧은 절일수록 더 많은 경우를 한 번에 막으므로 트리를 크게 자릅니다.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실험에서도 학습된 절의 리터럴이 적을수록 효과가 컸다고 논문은 한 가지 설명으로 제시합니다 (비실현 인스턴스에서).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SAT에서 하는 일 (4): 되돌아가기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36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2장</a:t>
            </a:r>
          </a:p>
        </p:txBody>
      </p:sp>
      <p:sp>
        <p:nvSpPr>
          <p:cNvPr id="137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8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재수렴 절과 비연대순 되돌아가기</a:t>
            </a:r>
          </a:p>
        </p:txBody>
      </p:sp>
      <p:sp>
        <p:nvSpPr>
          <p:cNvPr id="139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재수렴 절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충돌이 없어도 정점 ℓ_u 에서 컷을 만들어 학습하는 절입니다. Example 2.2에서는 (¬x₈ ∨ x₁₂ ∨ x₁₅). 이 절이 있으면 BCP가 ¬x₁₅ → x₁₂ 도 추론하게 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비연대순 되돌아가기(non-chronological backtracking)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학습한 절이 깊이 d′ &lt; d 수준의 값만으로 충돌을 설명하면,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깊이 d′ 의 노드를 다시 평가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해서 반대 값을 미리 고정합니다.</a:t>
            </a:r>
          </a:p>
        </p:txBody>
      </p:sp>
      <p:sp>
        <p:nvSpPr>
          <p:cNvPr id="140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1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직관</a:t>
            </a:r>
          </a:p>
        </p:txBody>
      </p:sp>
      <p:sp>
        <p:nvSpPr>
          <p:cNvPr id="142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되돌아가기는 "방금 한 결정"만 취소합니다.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비연대순은 "진짜 원인이 된 오래된 결정"까지 단번에 거슬러 올라가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사이의 부분 트리를 평가 없이 가지칩니다.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Example 2.2에서는 학습한 C_C, C_R 을 넣고 깊이 3의 노드를 다시 평가하면 x₁₅ = 0, x₁₂ = 1 이 추론되어 충돌 → x₁=0, x₄=1, x₆=0 아래의 부분 트리(중간의 x₁₀ 분지 포함)를 통째로 가지칩니다.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MIP로 일반화: 경계 변경이 정점이다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43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3장</a:t>
            </a:r>
          </a:p>
        </p:txBody>
      </p:sp>
      <p:sp>
        <p:nvSpPr>
          <p:cNvPr id="144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5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일반화된 충돌 그래프</a:t>
            </a:r>
          </a:p>
        </p:txBody>
      </p:sp>
      <p:sp>
        <p:nvSpPr>
          <p:cNvPr id="146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변수가 이진만이 아니면 한 변수의 경계가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여러 번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바뀔 수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정점이 "고정"이 아니라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경계 변경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 (예: z₂ ≥ 2, z₁ ≤ 1).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변수가 여러 정점으로 나올 수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들어오는 화살표가 없는 정점 = 분지 결정, 나머지 = 전파로 생긴 경계 변경.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충돌은 "LP가 비실현"이거나 "LP 값이 상한을 넘음"입니다.</a:t>
            </a:r>
          </a:p>
        </p:txBody>
      </p:sp>
      <p:sp>
        <p:nvSpPr>
          <p:cNvPr id="147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8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질문</a:t>
            </a:r>
          </a:p>
        </p:txBody>
      </p:sp>
      <p:sp>
        <p:nvSpPr>
          <p:cNvPr id="149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SAT에서는 어느 절이 비었는지 보면 되지만, MIP에서는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LP 전체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 비실현입니다.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먼저 "이 비실현에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경계 변경들이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관여했나"를 LP의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쌍대 광선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으로 찾습니다. (10~12번)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그다음에야 SAT처럼 컷을 고르고 제약을 만듭니다.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Example 3.1: 문제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50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3장, Example 3.1</a:t>
            </a:r>
          </a:p>
        </p:txBody>
      </p:sp>
      <p:sp>
        <p:nvSpPr>
          <p:cNvPr id="151" name="card"/>
          <p:cNvSpPr/>
          <p:nvPr/>
        </p:nvSpPr>
        <p:spPr>
          <a:xfrm>
            <a:off x="548640" y="1371600"/>
            <a:ext cx="6501384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2" name="head"/>
          <p:cNvSpPr txBox="1"/>
          <p:nvPr/>
        </p:nvSpPr>
        <p:spPr>
          <a:xfrm>
            <a:off x="777240" y="1521600"/>
            <a:ext cx="6044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이진 x₁…x₇, 음이 아닌 정수 z₁…z₅</a:t>
            </a:r>
          </a:p>
        </p:txBody>
      </p:sp>
      <p:sp>
        <p:nvSpPr>
          <p:cNvPr id="153" name="body"/>
          <p:cNvSpPr txBox="1"/>
          <p:nvPr/>
        </p:nvSpPr>
        <p:spPr>
          <a:xfrm>
            <a:off x="777240" y="1997360"/>
            <a:ext cx="6044184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(2)  2x₁ + 3z₁ + 2z₂ ≤ 9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(3)  9x₂ − z₁ − 2z₂ ≤ 0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(4)  −3x₂ + 5x₃ − 3x₄ ≤ 4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(5)  −3x₂ + 9x₄ − 2z₃ ≤ 6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(6)  9x₅ − z₂ + 2z₃ ≤ 8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(7)  −4x₆ − 7x₇ + 2z₃ ≤ 3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(8)  5x₇ − 2z₂ ≤ 2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(9)  −x₅ + 5x₇ + 4z₂ − 5z₃ ≤ 2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(10) x₁ − x₂ + x₃ − 2x₅ + x₆ − z₁ − 2z₂ + z₃ − 2z₄ + 4z₅ ≤ 1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(11) 2x₂ − x₄ + 3x₅ − 2x₆ − z₁ + 5z₂ + z₃ + 2z₄ − 6z₅ ≤ 2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(12) −2x₁ − 2x₃ + x₄ + x₅ + z₁ + 2z₂ − 2z₃ + 2z₄ − 2z₅ ≤ 1</a:t>
            </a:r>
          </a:p>
        </p:txBody>
      </p:sp>
      <p:sp>
        <p:nvSpPr>
          <p:cNvPr id="154" name="card"/>
          <p:cNvSpPr/>
          <p:nvPr/>
        </p:nvSpPr>
        <p:spPr>
          <a:xfrm>
            <a:off x="7278624" y="1371600"/>
            <a:ext cx="4334256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5" name="head"/>
          <p:cNvSpPr txBox="1"/>
          <p:nvPr/>
        </p:nvSpPr>
        <p:spPr>
          <a:xfrm>
            <a:off x="7507224" y="1521600"/>
            <a:ext cx="3877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 x₁ = 1 로 연쇄 추론</a:t>
            </a:r>
          </a:p>
        </p:txBody>
      </p:sp>
      <p:sp>
        <p:nvSpPr>
          <p:cNvPr id="156" name="body"/>
          <p:cNvSpPr txBox="1"/>
          <p:nvPr/>
        </p:nvSpPr>
        <p:spPr>
          <a:xfrm>
            <a:off x="7507224" y="1997360"/>
            <a:ext cx="3877056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경계 강화로 z₁ ≤ 3, z₂ ≤ 4, z₃ ≤ 6, z₄ ≤ 23, z₅ ≤ 15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 (2)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3z₁ + 2z₂ ≤ 7 이므로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z₁ ≤ 2, z₂ ≤ 3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 (3)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9x₂ ≤ z₁ + 2z₂ ≤ 2 + 6 = 8 이므로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x₂ = 0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 (6)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2z₃ ≤ 8 + z₂ − 9x₅ ≤ 11 이므로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z₃ ≤ 5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이어서 x₃ = 1, x₆ = 0 으로 분지하고 추론을 계속하면 LP 완화가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비실현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됩니다 (논문 Figure 4).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(이 계산은 논문의 설명을 제가 따라 계산해 확인한 것입니다.)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비실현 LP를 분석하기: 쌍대 광선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57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3.2절, Lemma 3.3</a:t>
            </a:r>
          </a:p>
        </p:txBody>
      </p:sp>
      <p:sp>
        <p:nvSpPr>
          <p:cNvPr id="158" name="card"/>
          <p:cNvSpPr/>
          <p:nvPr/>
        </p:nvSpPr>
        <p:spPr>
          <a:xfrm>
            <a:off x="548640" y="1371600"/>
            <a:ext cx="563453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9" name="head"/>
          <p:cNvSpPr txBox="1"/>
          <p:nvPr/>
        </p:nvSpPr>
        <p:spPr>
          <a:xfrm>
            <a:off x="777240" y="1521600"/>
            <a:ext cx="51773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증명을 읽는 법 (3.2절)</a:t>
            </a:r>
          </a:p>
        </p:txBody>
      </p:sp>
      <p:sp>
        <p:nvSpPr>
          <p:cNvPr id="160" name="body"/>
          <p:cNvSpPr txBox="1"/>
          <p:nvPr/>
        </p:nvSpPr>
        <p:spPr>
          <a:xfrm>
            <a:off x="777240" y="1997360"/>
            <a:ext cx="517733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LP가 비실현이면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쌍대 광선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(ȳ, r̄) ≥ 0 이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조건: Aᵀȳ + r̄ = 0 이고 bᵀȳ + ũᵀr̄ &lt; 0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이것이 비실현의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증명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 행들을 ȳ 가중치로 더하면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 = (ȳᵀA + r̄ᵀ)x ≤ ȳᵀb + r̄ᵀũ &lt; 0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되어 모순입니다. 여기서 ũ 는 현재 노드의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상한입니다.</a:t>
            </a:r>
          </a:p>
        </p:txBody>
      </p:sp>
      <p:sp>
        <p:nvSpPr>
          <p:cNvPr id="161" name="card"/>
          <p:cNvSpPr/>
          <p:nvPr/>
        </p:nvSpPr>
        <p:spPr>
          <a:xfrm>
            <a:off x="6411772" y="1371600"/>
            <a:ext cx="520110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2" name="head"/>
          <p:cNvSpPr txBox="1"/>
          <p:nvPr/>
        </p:nvSpPr>
        <p:spPr>
          <a:xfrm>
            <a:off x="6640372" y="1521600"/>
            <a:ext cx="4743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쉽게 말하면</a:t>
            </a:r>
          </a:p>
        </p:txBody>
      </p:sp>
      <p:sp>
        <p:nvSpPr>
          <p:cNvPr id="163" name="body"/>
          <p:cNvSpPr txBox="1"/>
          <p:nvPr/>
        </p:nvSpPr>
        <p:spPr>
          <a:xfrm>
            <a:off x="6640372" y="1997360"/>
            <a:ext cx="474390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"제약 몇 개에 적당한 배수를 곱해 더했더니 변수가 전부 사라지고,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 ≤ 음수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같은 모순이 나온다"는 증명서입니다.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배수가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0인 제약은 원인이 아닙니다.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증명에 안 쓰였으니까요.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증명에서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 경계가 실제로 필요했는지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 곧 "원인이 된 경계 변경"입니다.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그런데 원인 집합을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 찾는 문제(minimal cardinality bound-IIS)는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NP-hard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 (Lemma 3.3). 그래서 휴리스틱을 씁니다.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원인 줄이기: Algorithm 3.4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64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3.2절, Algorithm 3.4</a:t>
            </a:r>
          </a:p>
        </p:txBody>
      </p:sp>
      <p:sp>
        <p:nvSpPr>
          <p:cNvPr id="165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6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 경계를 전역 경계로 완화해 본다</a:t>
            </a:r>
          </a:p>
        </p:txBody>
      </p:sp>
      <p:sp>
        <p:nvSpPr>
          <p:cNvPr id="167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저자는 Farkas 보조정리를 쓰는 휴리스틱을 시도했으나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계산 오버헤드가 매우 컸다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 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대신 아주 단순한 방법: 지역 상한을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전역 상한으로 가능한 한 완화해도 d := ȳᵀb + r̄ᵀû &lt; 0 이 유지되는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변수를 골라 하나씩 완화합니다.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r̄_j = 0 인 변수는 아무 비용 없이 완화됩니다.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완화 못 하고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남은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지역 경계가 비실현의 원인입니다.</a:t>
            </a:r>
          </a:p>
        </p:txBody>
      </p:sp>
      <p:sp>
        <p:nvSpPr>
          <p:cNvPr id="168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9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직관</a:t>
            </a:r>
          </a:p>
        </p:txBody>
      </p:sp>
      <p:sp>
        <p:nvSpPr>
          <p:cNvPr id="170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"이 경계를 느슨하게 풀어 줘도 여전히 모순이 나나?" 를 하나씩 시험하는 것입니다.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여전히 모순이면 그 경계는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 없던 것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이니 원인에서 뺍니다.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모순이 사라지면 그 경계는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원인의 일부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이므로 남깁니다.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최소성은 보장하지 못하지만 싸고 잘 동작합니다.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Example 3.5: 쌍대 광선으로 원인 찾기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71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3.2절, Example 3.5. 합산 검증은 제가 한 것</a:t>
            </a:r>
          </a:p>
        </p:txBody>
      </p:sp>
      <p:sp>
        <p:nvSpPr>
          <p:cNvPr id="172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3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계산</a:t>
            </a:r>
          </a:p>
        </p:txBody>
      </p:sp>
      <p:sp>
        <p:nvSpPr>
          <p:cNvPr id="174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Example 3.1의 비실현 LP에서 쌍대 광선은 (나머지는 0):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ȳ₍₁₀₎ = 2, ȳ₍₁₁₎ = 1, ȳ₍₁₂₎ = 1,  r̄_z₁ = 2, r̄_z₂ = −3, r̄_z₃ = −1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 = 2·1 + 1·2 + 1·1 + 2·1 − 3·2 − 1·3 = −2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 경계: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z₁ ≤ 1, z₂ ≥ 2, z₃ ≥ 3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 다른 지역 경계는 r̄ = 0 이므로 전역으로 완화됩니다.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z₃ ≥ 3 은 z₃ ≥ 2 로 완화해도 d = −1 &lt; 0 으로 비실현이 유지됩니다. 더 완화하면 d ≥ 0.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결론: 원인은 z₁ ≤ 1, z₂ ≥ 2, z₃ ≥ 2</a:t>
            </a:r>
          </a:p>
        </p:txBody>
      </p:sp>
      <p:sp>
        <p:nvSpPr>
          <p:cNvPr id="175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6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제가 직접 확인한 계산</a:t>
            </a:r>
          </a:p>
        </p:txBody>
      </p:sp>
      <p:sp>
        <p:nvSpPr>
          <p:cNvPr id="177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(10)을 2배, (11), (12)를 1배씩 더하면 x 변수와 z₄, z₅ 가 모두 사라지고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−2z₁ + 3z₂ + z₃ ≤ 5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가 남습니다.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 경계 z₁ ≤ 1, z₂ ≥ 2, z₃ ≥ 2 에서 좌변의 최솟값은 −2 + 6 + 2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 &gt; 5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→ 모순.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z₃ ≥ 1 까지 완화하면 최솟값이 5가 되어 모순이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사라집니다.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z₃ ≥ 2 까지만 완화할 수 있고, 논문의 결론과 일치합니다.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상한을 넘는 LP도 같은 방식으로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78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3.3절</a:t>
            </a:r>
          </a:p>
        </p:txBody>
      </p:sp>
      <p:sp>
        <p:nvSpPr>
          <p:cNvPr id="179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0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3.3절</a:t>
            </a:r>
          </a:p>
        </p:txBody>
      </p:sp>
      <p:sp>
        <p:nvSpPr>
          <p:cNvPr id="181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LP가 비실현은 아니지만 최적값이 현재 최선의 상한 z̄ 를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넘으면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(최대화 문제), 쌍대 해로 같은 분석을 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bᵀȳ + ûᵀr̄ ≤ z̄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가 유지되도록 경계를 완화합니다 (Algorithm 3.6).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완화한 뒤 쌍대 LP를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다시 풀어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더 좋은 하한으로 더 완화하는 단계가 선택적으로 있습니다.</a:t>
            </a:r>
          </a:p>
        </p:txBody>
      </p:sp>
      <p:sp>
        <p:nvSpPr>
          <p:cNvPr id="182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3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정리</a:t>
            </a:r>
          </a:p>
        </p:txBody>
      </p:sp>
      <p:sp>
        <p:nvSpPr>
          <p:cNvPr id="184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비실현 노드와 "상한 초과" 노드는 모두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가지치기되는 노드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경우 모두 "왜 가지쳐졌나"의 원인 경계를 찾아 학습할 수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논문은 두 경우를 같은 틀(쌍대 증명 + 경계 완화)로 처리합니다.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학습 제약 만들기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85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3.4절, Example 3.7</a:t>
            </a:r>
          </a:p>
        </p:txBody>
      </p:sp>
      <p:sp>
        <p:nvSpPr>
          <p:cNvPr id="186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7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이진 변수만 있을 때와 일반 정수가 섞일 때</a:t>
            </a:r>
          </a:p>
        </p:txBody>
      </p:sp>
      <p:sp>
        <p:nvSpPr>
          <p:cNvPr id="188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이진만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conflict set 의 리터럴로 </a:t>
            </a: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집합 피복(set covering) 제약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만듭니다 (식 1).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Σ_{x_j ∈ V_f} (1 − x_j) + Σ_{¬x_j ∈ V_f} x_j ≥ 1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정수가 섞이면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z₂ ≥ 2 같은 비이진 경계 변경은 단순한 집합 피복으로 쓸 수 없습니다. 선형으로 쓰려면 보조 이진 변수를 도입한 시스템(식 15)이 필요합니다.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저자는 이 시스템이 "아마 매우 약할 것"이고 LP에 넣는 비용이 크다고 보고 </a:t>
            </a: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비이진 변수가 들어가는 conflict 제약을 만들지 않기로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합니다 (약하다는 것은 실험으로 확인하지는 않았다고 적습니다).</a:t>
            </a:r>
          </a:p>
        </p:txBody>
      </p:sp>
      <p:sp>
        <p:nvSpPr>
          <p:cNvPr id="189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0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대신 컷을 고른다 (Example 3.7)</a:t>
            </a:r>
          </a:p>
        </p:txBody>
      </p:sp>
      <p:sp>
        <p:nvSpPr>
          <p:cNvPr id="191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비이진 경계 변경을 이유 쪽에서 </a:t>
            </a: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충돌 쪽으로 옮겨서</a:t>
            </a: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컷 B를 만듭니다.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학습된 제약: </a:t>
            </a: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(x₂ = 1) ∨ (x₄ = 0) ∨ (x₇ = 0)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선형식으로: </a:t>
            </a: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x₂ + (1 − x₄) + (1 − x₇) ≥ 1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이진 변수만 남아서 집합 피복으로 쓸 수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</a:t>
            </a: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분지 결정으로 생긴 경계 변경은 이유 쪽에 있어야 하므로 옮길 수 없습니다. 그 경우 그 경계 변경을 conflict set에서 빼는데, 이때 절은 </a:t>
            </a: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전역적으로는 유효하지 않게</a:t>
            </a: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되어 그 노드를 루트로 하는 </a:t>
            </a: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부분 트리에서만</a:t>
            </a: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쓰입니다.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실험 결과 (1): feasible한 MIP 29개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92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4장. SCIP 0.79a (CPLEX 9.03을 LP 솔버로 사용)</a:t>
            </a:r>
          </a:p>
        </p:txBody>
      </p:sp>
      <p:sp>
        <p:nvSpPr>
          <p:cNvPr id="193" name="th"/>
          <p:cNvSpPr txBox="1"/>
          <p:nvPr/>
        </p:nvSpPr>
        <p:spPr>
          <a:xfrm>
            <a:off x="698640" y="1371600"/>
            <a:ext cx="338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</a:p>
        </p:txBody>
      </p:sp>
      <p:sp>
        <p:nvSpPr>
          <p:cNvPr id="194" name="th"/>
          <p:cNvSpPr txBox="1"/>
          <p:nvPr/>
        </p:nvSpPr>
        <p:spPr>
          <a:xfrm>
            <a:off x="4386720" y="1371600"/>
            <a:ext cx="2005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CPLEX 9.03</a:t>
            </a:r>
          </a:p>
        </p:txBody>
      </p:sp>
      <p:sp>
        <p:nvSpPr>
          <p:cNvPr id="195" name="th"/>
          <p:cNvSpPr txBox="1"/>
          <p:nvPr/>
        </p:nvSpPr>
        <p:spPr>
          <a:xfrm>
            <a:off x="6691770" y="1371600"/>
            <a:ext cx="2005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SCIP 기본</a:t>
            </a:r>
          </a:p>
        </p:txBody>
      </p:sp>
      <p:sp>
        <p:nvSpPr>
          <p:cNvPr id="196" name="th"/>
          <p:cNvSpPr txBox="1"/>
          <p:nvPr/>
        </p:nvSpPr>
        <p:spPr>
          <a:xfrm>
            <a:off x="8996820" y="1371600"/>
            <a:ext cx="2466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SCIP + conflict</a:t>
            </a:r>
          </a:p>
        </p:txBody>
      </p:sp>
      <p:sp>
        <p:nvSpPr>
          <p:cNvPr id="197" name="row"/>
          <p:cNvSpPr/>
          <p:nvPr/>
        </p:nvSpPr>
        <p:spPr>
          <a:xfrm>
            <a:off x="548640" y="177160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8" name="cell"/>
          <p:cNvSpPr txBox="1"/>
          <p:nvPr/>
        </p:nvSpPr>
        <p:spPr>
          <a:xfrm>
            <a:off x="698640" y="1771600"/>
            <a:ext cx="338808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 수 (기하평균)</a:t>
            </a:r>
          </a:p>
        </p:txBody>
      </p:sp>
      <p:sp>
        <p:nvSpPr>
          <p:cNvPr id="199" name="cell"/>
          <p:cNvSpPr txBox="1"/>
          <p:nvPr/>
        </p:nvSpPr>
        <p:spPr>
          <a:xfrm>
            <a:off x="4386720" y="1771600"/>
            <a:ext cx="200505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41,268</a:t>
            </a:r>
          </a:p>
        </p:txBody>
      </p:sp>
      <p:sp>
        <p:nvSpPr>
          <p:cNvPr id="200" name="cell"/>
          <p:cNvSpPr txBox="1"/>
          <p:nvPr/>
        </p:nvSpPr>
        <p:spPr>
          <a:xfrm>
            <a:off x="6691770" y="1771600"/>
            <a:ext cx="200505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29,633</a:t>
            </a:r>
          </a:p>
        </p:txBody>
      </p:sp>
      <p:sp>
        <p:nvSpPr>
          <p:cNvPr id="201" name="cell"/>
          <p:cNvSpPr txBox="1"/>
          <p:nvPr/>
        </p:nvSpPr>
        <p:spPr>
          <a:xfrm>
            <a:off x="8996820" y="1771600"/>
            <a:ext cx="24660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15,441</a:t>
            </a:r>
          </a:p>
        </p:txBody>
      </p:sp>
      <p:sp>
        <p:nvSpPr>
          <p:cNvPr id="202" name="row"/>
          <p:cNvSpPr/>
          <p:nvPr/>
        </p:nvSpPr>
        <p:spPr>
          <a:xfrm>
            <a:off x="548640" y="224306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3" name="cell"/>
          <p:cNvSpPr txBox="1"/>
          <p:nvPr/>
        </p:nvSpPr>
        <p:spPr>
          <a:xfrm>
            <a:off x="698640" y="2243060"/>
            <a:ext cx="338808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 (기하평균, 초)</a:t>
            </a:r>
          </a:p>
        </p:txBody>
      </p:sp>
      <p:sp>
        <p:nvSpPr>
          <p:cNvPr id="204" name="cell"/>
          <p:cNvSpPr txBox="1"/>
          <p:nvPr/>
        </p:nvSpPr>
        <p:spPr>
          <a:xfrm>
            <a:off x="4386720" y="2243060"/>
            <a:ext cx="200505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202.0</a:t>
            </a:r>
          </a:p>
        </p:txBody>
      </p:sp>
      <p:sp>
        <p:nvSpPr>
          <p:cNvPr id="205" name="cell"/>
          <p:cNvSpPr txBox="1"/>
          <p:nvPr/>
        </p:nvSpPr>
        <p:spPr>
          <a:xfrm>
            <a:off x="6691770" y="2243060"/>
            <a:ext cx="200505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257.2</a:t>
            </a:r>
          </a:p>
        </p:txBody>
      </p:sp>
      <p:sp>
        <p:nvSpPr>
          <p:cNvPr id="206" name="cell"/>
          <p:cNvSpPr txBox="1"/>
          <p:nvPr/>
        </p:nvSpPr>
        <p:spPr>
          <a:xfrm>
            <a:off x="8996820" y="2243060"/>
            <a:ext cx="24660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297.8</a:t>
            </a:r>
          </a:p>
        </p:txBody>
      </p:sp>
      <p:sp>
        <p:nvSpPr>
          <p:cNvPr id="207" name="row"/>
          <p:cNvSpPr/>
          <p:nvPr/>
        </p:nvSpPr>
        <p:spPr>
          <a:xfrm>
            <a:off x="548640" y="271452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8" name="cell"/>
          <p:cNvSpPr txBox="1"/>
          <p:nvPr/>
        </p:nvSpPr>
        <p:spPr>
          <a:xfrm>
            <a:off x="698640" y="2714520"/>
            <a:ext cx="338808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24개(둘 다 푼 것) 노드</a:t>
            </a:r>
          </a:p>
        </p:txBody>
      </p:sp>
      <p:sp>
        <p:nvSpPr>
          <p:cNvPr id="209" name="cell"/>
          <p:cNvSpPr txBox="1"/>
          <p:nvPr/>
        </p:nvSpPr>
        <p:spPr>
          <a:xfrm>
            <a:off x="4386720" y="2714520"/>
            <a:ext cx="200505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32,994</a:t>
            </a:r>
          </a:p>
        </p:txBody>
      </p:sp>
      <p:sp>
        <p:nvSpPr>
          <p:cNvPr id="210" name="cell"/>
          <p:cNvSpPr txBox="1"/>
          <p:nvPr/>
        </p:nvSpPr>
        <p:spPr>
          <a:xfrm>
            <a:off x="6691770" y="2714520"/>
            <a:ext cx="200505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17,509</a:t>
            </a:r>
          </a:p>
        </p:txBody>
      </p:sp>
      <p:sp>
        <p:nvSpPr>
          <p:cNvPr id="211" name="cell"/>
          <p:cNvSpPr txBox="1"/>
          <p:nvPr/>
        </p:nvSpPr>
        <p:spPr>
          <a:xfrm>
            <a:off x="8996820" y="2714520"/>
            <a:ext cx="24660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9,720</a:t>
            </a:r>
          </a:p>
        </p:txBody>
      </p:sp>
      <p:sp>
        <p:nvSpPr>
          <p:cNvPr id="212" name="row"/>
          <p:cNvSpPr/>
          <p:nvPr/>
        </p:nvSpPr>
        <p:spPr>
          <a:xfrm>
            <a:off x="548640" y="318598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3" name="cell"/>
          <p:cNvSpPr txBox="1"/>
          <p:nvPr/>
        </p:nvSpPr>
        <p:spPr>
          <a:xfrm>
            <a:off x="698640" y="3185980"/>
            <a:ext cx="338808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24개 시간 (초)</a:t>
            </a:r>
          </a:p>
        </p:txBody>
      </p:sp>
      <p:sp>
        <p:nvSpPr>
          <p:cNvPr id="214" name="cell"/>
          <p:cNvSpPr txBox="1"/>
          <p:nvPr/>
        </p:nvSpPr>
        <p:spPr>
          <a:xfrm>
            <a:off x="4386720" y="3185980"/>
            <a:ext cx="200505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178.8</a:t>
            </a:r>
          </a:p>
        </p:txBody>
      </p:sp>
      <p:sp>
        <p:nvSpPr>
          <p:cNvPr id="215" name="cell"/>
          <p:cNvSpPr txBox="1"/>
          <p:nvPr/>
        </p:nvSpPr>
        <p:spPr>
          <a:xfrm>
            <a:off x="6691770" y="3185980"/>
            <a:ext cx="200505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179.4</a:t>
            </a:r>
          </a:p>
        </p:txBody>
      </p:sp>
      <p:sp>
        <p:nvSpPr>
          <p:cNvPr id="216" name="cell"/>
          <p:cNvSpPr txBox="1"/>
          <p:nvPr/>
        </p:nvSpPr>
        <p:spPr>
          <a:xfrm>
            <a:off x="8996820" y="3185980"/>
            <a:ext cx="24660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187.4</a:t>
            </a:r>
          </a:p>
        </p:txBody>
      </p:sp>
      <p:sp>
        <p:nvSpPr>
          <p:cNvPr id="217" name="note"/>
          <p:cNvSpPr txBox="1"/>
          <p:nvPr/>
        </p:nvSpPr>
        <p:spPr>
          <a:xfrm>
            <a:off x="548640" y="3697440"/>
            <a:ext cx="110642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문장: 노드 수는 약 50% 줄지만 시간은 약 15% 늘어납니다. 인스턴스별로 보면 conflict analysis는 노드를 21개에서, 시간을 12개에서 줄이고, 기본 설정이 노드가 적은 것은 5개, 더 빠른 것은 16개입니다. 시간이 늘어나는 이유 가운데 하나로 conflict 제약을 전파와 절단 분리에서 처리하는 오버헤드를 듭니다.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실험 결과 (2): 비실현 인스턴스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18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Programming, 4장</a:t>
            </a:r>
          </a:p>
        </p:txBody>
      </p:sp>
      <p:sp>
        <p:nvSpPr>
          <p:cNvPr id="219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0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ALU 검증 문제</a:t>
            </a:r>
          </a:p>
        </p:txBody>
      </p:sp>
      <p:sp>
        <p:nvSpPr>
          <p:cNvPr id="221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칩 검증 문제로 만든 인스턴스입니다.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해가 하나라도 있으면 검증하려는 성질의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이므로,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비실현이 곧 성질이 맞다는 증명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변수의 약 80%가 이진이고 20%가 일반 정수, 입력·출력 레지스터 폭 4~10비트, 8개의 성질을 검사합니다.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결과: conflict analysis가 노드 수와 시간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모두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에서 기본 설정을 크게 앞섭니다.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성질 1은 10비트에서도 쉽게 풀리는데 기본 설정은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100만 노드가 넘게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필요합니다.</a:t>
            </a:r>
          </a:p>
        </p:txBody>
      </p:sp>
      <p:sp>
        <p:nvSpPr>
          <p:cNvPr id="222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3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여기서 강한가</a:t>
            </a:r>
          </a:p>
        </p:txBody>
      </p:sp>
      <p:sp>
        <p:nvSpPr>
          <p:cNvPr id="224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비실현 문제는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막다른 길이 계속 나옵니다.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막다른 길이 많을수록 "이유를 적어 둔 규칙"이 자주 쓰입니다.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인스턴스에서 학습된 절은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리터럴이 아주 적어서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트리를 크게 잘라낸다는 점이 한 가지 설명으로 제시됩니다.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feasible 인스턴스에서는 절 길이와 성능 사이에 상관이 보이지 않았다고 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저자의 결론: feasible 인스턴스에서도 이득이 나려면 알고리즘의 추가 개선이 필요하고, SAT의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 데이터베이스 관리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(Goldberg–Novikov)를 도입하면 더 좋아질 것.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읽을 때 주의할 점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25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(2007), Conflict Analysis in Mixed Integer Programming</a:t>
            </a:r>
          </a:p>
        </p:txBody>
      </p:sp>
      <p:sp>
        <p:nvSpPr>
          <p:cNvPr id="226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7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한계</a:t>
            </a:r>
          </a:p>
        </p:txBody>
      </p:sp>
      <p:sp>
        <p:nvSpPr>
          <p:cNvPr id="228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논문은 2005년의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SCIP 0.79a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기준이고, 지금 구현은 다를 수 있습니다. 후속 연구는 Witzig, Berthold, Heinz의 ZIB Report 16-63이 있지만 이 자료에서는 읽지 않았습니다.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실험의 시간 결과는 feasible 인스턴스에서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불리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합니다. "conflict analysis는 항상 이득"으로 읽으면 안 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 와 합산 부등식의 계산 검증은 제가 직접 한 것이고, 논문에는 최종 결론만 나옵니다.</a:t>
            </a:r>
          </a:p>
        </p:txBody>
      </p:sp>
      <p:sp>
        <p:nvSpPr>
          <p:cNvPr id="229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0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기법을 한 줄로</a:t>
            </a:r>
          </a:p>
        </p:txBody>
      </p:sp>
      <p:sp>
        <p:nvSpPr>
          <p:cNvPr id="231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비실현이나 상한 초과로 버려지는 노드를 쌍대 증명으로 분석해, 원인이 된 경계 변경의 조합을 제약으로 학습한다.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효과는 막다른 길이 많은 문제에서 크고, 일반 문제에서는 노드는 줄지만 관리 비용 때문에 시간은 늘 수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기법은 SAT 솔버에서 가져온 아이디어이며, MIP에서는 "LP 비실현의 원인 찾기"가 핵심 난관이었습니다.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문제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32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만든 문제입니다. 풀이는 제가 계산한 값</a:t>
            </a:r>
          </a:p>
        </p:txBody>
      </p:sp>
      <p:sp>
        <p:nvSpPr>
          <p:cNvPr id="233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4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</a:t>
            </a:r>
          </a:p>
        </p:txBody>
      </p:sp>
      <p:sp>
        <p:nvSpPr>
          <p:cNvPr id="235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Q1.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분지 변수를 전부 쓴 컷(컷 A)이 왜 쓸모없나?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Q2.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Example 3.5에서 z₃ ≥ 3 을 z₃ ≥ 1 까지 완화하면 왜 안 되나? (−2z₁ + 3z₂ + z₃ ≤ 5 이용)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Q3.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어떤 노드의 conflict set 이 {A = 1, B = 0, C = 1} (모두 이진)이다. 학습할 제약은?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Q4.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저자가 비이진 변수가 들어가는 conflict 제약을 만들지 않기로 한 이유는?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Q5.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feasible 29개 실험에서 노드 수와 시간은 어떻게 변했나?</a:t>
            </a:r>
          </a:p>
        </p:txBody>
      </p:sp>
      <p:sp>
        <p:nvSpPr>
          <p:cNvPr id="236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7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정답과 해설</a:t>
            </a:r>
          </a:p>
        </p:txBody>
      </p:sp>
      <p:sp>
        <p:nvSpPr>
          <p:cNvPr id="238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A1.</a:t>
            </a: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현재 부분 문제의 분지 값 </a:t>
            </a: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그대로</a:t>
            </a: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를 금지할 뿐이라, 다른 곳에서는 다시 나타나지 않는 규칙이기 때문입니다.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A2.</a:t>
            </a: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z₃ ≥ 1 이면 좌변 최솟값이 −2 + 6 + 1 = 5 가 되어 5 ≤ 5 로 </a:t>
            </a: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모순이 사라집니다.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A3.</a:t>
            </a: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세 조건이 동시에 나타나면 충돌이므로 </a:t>
            </a: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(1 − A) + B + (1 − C) ≥ 1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A4.</a:t>
            </a: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선형으로 쓰려면 보조 이진 변수 시스템이 필요한데, 약하고 LP에 넣는 비용이 크다고 봤기 때문입니다.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A5.</a:t>
            </a:r>
            <a:r>
              <a:rPr lang="en-US" sz="16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노드 수 29,633 → 15,441 (약 50% 감소), 시간 257.2 → 297.8초 (약 15% 증가).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LP Speedup">
  <a:themeElements>
    <a:clrScheme name="MILP Speedup">
      <a:dk1>
        <a:srgbClr val="1B1F2A"/>
      </a:dk1>
      <a:lt1>
        <a:srgbClr val="FFFFFF"/>
      </a:lt1>
      <a:dk2>
        <a:srgbClr val="123C4A"/>
      </a:dk2>
      <a:lt2>
        <a:srgbClr val="EEF3F4"/>
      </a:lt2>
      <a:accent1>
        <a:srgbClr val="0F7B8A"/>
      </a:accent1>
      <a:accent2>
        <a:srgbClr val="E07A1F"/>
      </a:accent2>
      <a:accent3>
        <a:srgbClr val="5B6B7A"/>
      </a:accent3>
      <a:accent4>
        <a:srgbClr val="2E9E6B"/>
      </a:accent4>
      <a:accent5>
        <a:srgbClr val="B23A48"/>
      </a:accent5>
      <a:accent6>
        <a:srgbClr val="8A6FD1"/>
      </a:accent6>
      <a:hlink>
        <a:srgbClr val="0F7B8A"/>
      </a:hlink>
      <a:folHlink>
        <a:srgbClr val="5B6B7A"/>
      </a:folHlink>
    </a:clrScheme>
    <a:fontScheme name="MILP Speedup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2026-10-22T13:39:41Z</dcterms:created>
  <dcterms:modified xsi:type="dcterms:W3CDTF">2026-10-22T13:39:41Z</dcterms:modified>
</cp:coreProperties>
</file>